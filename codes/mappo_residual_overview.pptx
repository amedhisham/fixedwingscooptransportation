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9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1" dirty="0" smtClean="0">
                <a:solidFill>
                  <a:srgbClr val="000000"/>
                </a:solidFill>
                <a:latin typeface="Calibri"/>
              </a:rPr>
              <a:t>T</a:t>
            </a:r>
            <a:r>
              <a:rPr sz="2000" b="1" i="1" dirty="0" smtClean="0">
                <a:solidFill>
                  <a:srgbClr val="000000"/>
                </a:solidFill>
                <a:latin typeface="Calibri"/>
              </a:rPr>
              <a:t>raining </a:t>
            </a:r>
            <a:r>
              <a:rPr sz="2000" b="1" i="1" dirty="0">
                <a:solidFill>
                  <a:srgbClr val="000000"/>
                </a:solidFill>
                <a:latin typeface="Calibri"/>
              </a:rPr>
              <a:t>loop  +  environment step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366760" y="475488"/>
            <a:ext cx="0" cy="2377440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20040" y="530352"/>
            <a:ext cx="7863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 dirty="0">
                <a:solidFill>
                  <a:srgbClr val="000000"/>
                </a:solidFill>
                <a:latin typeface="Calibri"/>
              </a:rPr>
              <a:t>① </a:t>
            </a:r>
            <a:r>
              <a:rPr sz="1050" b="1" i="1" dirty="0" smtClean="0">
                <a:solidFill>
                  <a:srgbClr val="000000"/>
                </a:solidFill>
                <a:latin typeface="Calibri"/>
              </a:rPr>
              <a:t>C</a:t>
            </a:r>
            <a:r>
              <a:rPr lang="en-US" sz="1050" b="1" i="1" dirty="0" smtClean="0">
                <a:solidFill>
                  <a:srgbClr val="000000"/>
                </a:solidFill>
                <a:latin typeface="Calibri"/>
              </a:rPr>
              <a:t>ollect</a:t>
            </a:r>
            <a:r>
              <a:rPr sz="1050" b="1" i="1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050" b="1" i="1" dirty="0" smtClean="0">
                <a:solidFill>
                  <a:srgbClr val="000000"/>
                </a:solidFill>
                <a:latin typeface="Calibri"/>
              </a:rPr>
              <a:t>experience</a:t>
            </a:r>
            <a:r>
              <a:rPr lang="en-US" sz="1050" b="1" i="1" dirty="0" smtClean="0">
                <a:solidFill>
                  <a:srgbClr val="000000"/>
                </a:solidFill>
                <a:latin typeface="Calibri"/>
              </a:rPr>
              <a:t> (multiple episodes)</a:t>
            </a:r>
            <a:endParaRPr sz="1050" b="1" i="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03920" y="530352"/>
            <a:ext cx="3566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 dirty="0">
                <a:solidFill>
                  <a:srgbClr val="000000"/>
                </a:solidFill>
                <a:latin typeface="Calibri"/>
              </a:rPr>
              <a:t>② </a:t>
            </a:r>
            <a:r>
              <a:rPr sz="1050" b="1" i="1" dirty="0" smtClean="0">
                <a:solidFill>
                  <a:srgbClr val="000000"/>
                </a:solidFill>
                <a:latin typeface="Calibri"/>
              </a:rPr>
              <a:t>U</a:t>
            </a:r>
            <a:r>
              <a:rPr lang="en-US" sz="1050" b="1" i="1" dirty="0" smtClean="0">
                <a:solidFill>
                  <a:srgbClr val="000000"/>
                </a:solidFill>
                <a:latin typeface="Calibri"/>
              </a:rPr>
              <a:t>pdate Policy</a:t>
            </a:r>
            <a:endParaRPr sz="1050" b="1" i="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23317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Calibri"/>
              </a:rPr>
              <a:t>Actor  πθ </a:t>
            </a: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decentralized</a:t>
            </a:r>
          </a:p>
          <a:p>
            <a:pPr algn="ctr"/>
            <a:r>
              <a:rPr sz="850" dirty="0" err="1" smtClean="0">
                <a:solidFill>
                  <a:srgbClr val="000000"/>
                </a:solidFill>
                <a:latin typeface="Calibri"/>
              </a:rPr>
              <a:t>obs</a:t>
            </a:r>
            <a:r>
              <a:rPr sz="850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sz="850" dirty="0">
                <a:solidFill>
                  <a:srgbClr val="000000"/>
                </a:solidFill>
                <a:latin typeface="Calibri"/>
              </a:rPr>
              <a:t>→ [dλ4, dw6]</a:t>
            </a: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sample 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97461"/>
            <a:ext cx="23317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Calibri"/>
              </a:rPr>
              <a:t>Critic  </a:t>
            </a:r>
            <a:r>
              <a:rPr sz="1200" b="1" dirty="0" err="1">
                <a:solidFill>
                  <a:srgbClr val="000000"/>
                </a:solidFill>
                <a:latin typeface="Calibri"/>
              </a:rPr>
              <a:t>Vφ</a:t>
            </a:r>
            <a:r>
              <a:rPr sz="1200" b="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privileged state (58</a:t>
            </a:r>
            <a:r>
              <a:rPr sz="850" dirty="0" smtClean="0">
                <a:solidFill>
                  <a:srgbClr val="000000"/>
                </a:solidFill>
                <a:latin typeface="Calibri"/>
              </a:rPr>
              <a:t>)</a:t>
            </a:r>
            <a:endParaRPr sz="850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→ value V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1271016"/>
            <a:ext cx="25146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1200" b="1" dirty="0" smtClean="0">
                <a:solidFill>
                  <a:srgbClr val="000000"/>
                </a:solidFill>
                <a:latin typeface="Calibri"/>
              </a:rPr>
              <a:t>Environment S</a:t>
            </a:r>
            <a:r>
              <a:rPr sz="1200" b="1" dirty="0" smtClean="0">
                <a:solidFill>
                  <a:srgbClr val="000000"/>
                </a:solidFill>
                <a:latin typeface="Calibri"/>
              </a:rPr>
              <a:t>tep</a:t>
            </a:r>
            <a:endParaRPr sz="1200" b="1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sz="900" dirty="0">
                <a:solidFill>
                  <a:srgbClr val="000000"/>
                </a:solidFill>
                <a:latin typeface="Calibri"/>
              </a:rPr>
              <a:t>per-drone internals</a:t>
            </a:r>
          </a:p>
          <a:p>
            <a:pPr algn="ctr"/>
            <a:r>
              <a:rPr sz="900" dirty="0">
                <a:solidFill>
                  <a:srgbClr val="000000"/>
                </a:solidFill>
                <a:latin typeface="Calibri"/>
              </a:rPr>
              <a:t>(expanded below)</a:t>
            </a:r>
          </a:p>
        </p:txBody>
      </p:sp>
      <p:sp>
        <p:nvSpPr>
          <p:cNvPr id="9" name="Rectangle 8"/>
          <p:cNvSpPr/>
          <p:nvPr/>
        </p:nvSpPr>
        <p:spPr>
          <a:xfrm>
            <a:off x="6926580" y="1370935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 dirty="0">
                <a:solidFill>
                  <a:srgbClr val="000000"/>
                </a:solidFill>
                <a:latin typeface="Calibri"/>
              </a:rPr>
              <a:t>Rollout </a:t>
            </a:r>
            <a:r>
              <a:rPr sz="1150" b="1" dirty="0" smtClean="0">
                <a:solidFill>
                  <a:srgbClr val="000000"/>
                </a:solidFill>
                <a:latin typeface="Calibri"/>
              </a:rPr>
              <a:t>buffer</a:t>
            </a:r>
            <a:r>
              <a:rPr lang="en-US" sz="1150" b="1" dirty="0" smtClean="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ctr"/>
            <a:r>
              <a:rPr sz="850" dirty="0" smtClean="0">
                <a:solidFill>
                  <a:srgbClr val="000000"/>
                </a:solidFill>
                <a:latin typeface="Calibri"/>
              </a:rPr>
              <a:t>obs</a:t>
            </a:r>
            <a:r>
              <a:rPr lang="en-US" sz="850" dirty="0" smtClean="0">
                <a:solidFill>
                  <a:srgbClr val="000000"/>
                </a:solidFill>
                <a:latin typeface="Calibri"/>
              </a:rPr>
              <a:t>ervation</a:t>
            </a:r>
            <a:r>
              <a:rPr sz="850" dirty="0" smtClean="0">
                <a:solidFill>
                  <a:srgbClr val="000000"/>
                </a:solidFill>
                <a:latin typeface="Calibri"/>
              </a:rPr>
              <a:t>, act</a:t>
            </a:r>
            <a:r>
              <a:rPr lang="en-US" sz="850" dirty="0" smtClean="0">
                <a:solidFill>
                  <a:srgbClr val="000000"/>
                </a:solidFill>
                <a:latin typeface="Calibri"/>
              </a:rPr>
              <a:t>ion</a:t>
            </a:r>
            <a:r>
              <a:rPr sz="850" dirty="0" smtClean="0">
                <a:solidFill>
                  <a:srgbClr val="000000"/>
                </a:solidFill>
                <a:latin typeface="Calibri"/>
              </a:rPr>
              <a:t>, </a:t>
            </a:r>
            <a:r>
              <a:rPr sz="850" dirty="0" err="1" smtClean="0">
                <a:solidFill>
                  <a:srgbClr val="000000"/>
                </a:solidFill>
                <a:latin typeface="Calibri"/>
              </a:rPr>
              <a:t>logp</a:t>
            </a:r>
            <a:r>
              <a:rPr lang="en-US" sz="850" dirty="0" smtClean="0">
                <a:solidFill>
                  <a:srgbClr val="000000"/>
                </a:solidFill>
                <a:latin typeface="Calibri"/>
              </a:rPr>
              <a:t> of action</a:t>
            </a:r>
            <a:r>
              <a:rPr sz="850" dirty="0" smtClean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850" dirty="0" smtClean="0">
                <a:solidFill>
                  <a:srgbClr val="000000"/>
                </a:solidFill>
                <a:latin typeface="Calibri"/>
              </a:rPr>
              <a:t> critic</a:t>
            </a:r>
            <a:r>
              <a:rPr sz="850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sz="850" dirty="0">
                <a:solidFill>
                  <a:srgbClr val="000000"/>
                </a:solidFill>
                <a:latin typeface="Calibri"/>
              </a:rPr>
              <a:t>state, value, </a:t>
            </a:r>
            <a:r>
              <a:rPr sz="850" dirty="0" smtClean="0">
                <a:solidFill>
                  <a:srgbClr val="000000"/>
                </a:solidFill>
                <a:latin typeface="Calibri"/>
              </a:rPr>
              <a:t>reward</a:t>
            </a:r>
            <a:endParaRPr sz="85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03920" y="2445517"/>
            <a:ext cx="164592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Calibri"/>
              </a:rPr>
              <a:t>GAE</a:t>
            </a:r>
          </a:p>
          <a:p>
            <a:pPr algn="ctr"/>
            <a:r>
              <a:rPr sz="800" dirty="0">
                <a:solidFill>
                  <a:srgbClr val="000000"/>
                </a:solidFill>
                <a:latin typeface="Calibri"/>
              </a:rPr>
              <a:t>per-drone </a:t>
            </a:r>
            <a:r>
              <a:rPr sz="800" dirty="0" smtClean="0">
                <a:solidFill>
                  <a:srgbClr val="000000"/>
                </a:solidFill>
                <a:latin typeface="Calibri"/>
              </a:rPr>
              <a:t>adv</a:t>
            </a:r>
            <a:r>
              <a:rPr lang="en-US" sz="800" dirty="0" smtClean="0">
                <a:solidFill>
                  <a:srgbClr val="000000"/>
                </a:solidFill>
                <a:latin typeface="Calibri"/>
              </a:rPr>
              <a:t>antages</a:t>
            </a:r>
            <a:endParaRPr sz="800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sz="800" dirty="0">
                <a:solidFill>
                  <a:srgbClr val="000000"/>
                </a:solidFill>
                <a:latin typeface="Calibri"/>
              </a:rPr>
              <a:t>+ </a:t>
            </a:r>
            <a:r>
              <a:rPr sz="800" dirty="0" smtClean="0">
                <a:solidFill>
                  <a:srgbClr val="000000"/>
                </a:solidFill>
                <a:latin typeface="Calibri"/>
              </a:rPr>
              <a:t>returns</a:t>
            </a:r>
            <a:r>
              <a:rPr lang="en-US" sz="800" dirty="0" smtClean="0">
                <a:solidFill>
                  <a:srgbClr val="000000"/>
                </a:solidFill>
                <a:latin typeface="Calibri"/>
              </a:rPr>
              <a:t> (returns averaged across drones for critic target)</a:t>
            </a:r>
            <a:endParaRPr sz="80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287000" y="2445517"/>
            <a:ext cx="160020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Calibri"/>
              </a:rPr>
              <a:t>PPO update</a:t>
            </a:r>
          </a:p>
          <a:p>
            <a:pPr algn="ctr"/>
            <a:r>
              <a:rPr lang="en-US" sz="800" dirty="0">
                <a:solidFill>
                  <a:srgbClr val="000000"/>
                </a:solidFill>
                <a:latin typeface="Calibri"/>
              </a:rPr>
              <a:t>8</a:t>
            </a:r>
            <a:r>
              <a:rPr sz="800" dirty="0" smtClean="0">
                <a:solidFill>
                  <a:srgbClr val="000000"/>
                </a:solidFill>
                <a:latin typeface="Calibri"/>
              </a:rPr>
              <a:t> epochs</a:t>
            </a:r>
            <a:endParaRPr lang="en-US" sz="800" dirty="0" smtClean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lang="en-US" sz="800" dirty="0" smtClean="0">
                <a:solidFill>
                  <a:srgbClr val="000000"/>
                </a:solidFill>
                <a:latin typeface="Calibri"/>
              </a:rPr>
              <a:t>r = 0.2</a:t>
            </a:r>
            <a:endParaRPr sz="800" dirty="0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12" name="Connector 11"/>
          <p:cNvCxnSpPr>
            <a:endCxn id="6" idx="3"/>
          </p:cNvCxnSpPr>
          <p:nvPr/>
        </p:nvCxnSpPr>
        <p:spPr>
          <a:xfrm flipH="1">
            <a:off x="2697480" y="1344168"/>
            <a:ext cx="896113" cy="457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05901" y="941606"/>
            <a:ext cx="9784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i="1" dirty="0" smtClean="0">
                <a:solidFill>
                  <a:srgbClr val="000000"/>
                </a:solidFill>
                <a:latin typeface="Calibri"/>
              </a:rPr>
              <a:t>Per carrier observation</a:t>
            </a:r>
            <a:endParaRPr sz="800" b="0" i="1" dirty="0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2705901" y="1593228"/>
            <a:ext cx="905979" cy="697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28042" y="1407762"/>
            <a:ext cx="10058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000000"/>
                </a:solidFill>
                <a:latin typeface="Calibri"/>
              </a:rPr>
              <a:t>A</a:t>
            </a:r>
            <a:r>
              <a:rPr sz="800" b="0" i="1" dirty="0" smtClean="0">
                <a:solidFill>
                  <a:srgbClr val="000000"/>
                </a:solidFill>
                <a:latin typeface="Calibri"/>
              </a:rPr>
              <a:t>ction</a:t>
            </a:r>
            <a:endParaRPr sz="800" b="0" i="1" dirty="0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16" name="Connector 15"/>
          <p:cNvCxnSpPr/>
          <p:nvPr/>
        </p:nvCxnSpPr>
        <p:spPr>
          <a:xfrm flipH="1">
            <a:off x="2697480" y="2571184"/>
            <a:ext cx="2191391" cy="824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9122" y="2361323"/>
            <a:ext cx="10515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0" i="1" dirty="0" smtClean="0">
                <a:solidFill>
                  <a:srgbClr val="000000"/>
                </a:solidFill>
                <a:latin typeface="Calibri"/>
              </a:rPr>
              <a:t>Critic </a:t>
            </a:r>
            <a:r>
              <a:rPr sz="800" b="0" i="1" dirty="0" smtClean="0">
                <a:solidFill>
                  <a:srgbClr val="000000"/>
                </a:solidFill>
                <a:latin typeface="Calibri"/>
              </a:rPr>
              <a:t>state</a:t>
            </a:r>
            <a:endParaRPr sz="800" b="0" i="1" dirty="0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18" name="Connector 17"/>
          <p:cNvCxnSpPr>
            <a:endCxn id="9" idx="1"/>
          </p:cNvCxnSpPr>
          <p:nvPr/>
        </p:nvCxnSpPr>
        <p:spPr>
          <a:xfrm flipV="1">
            <a:off x="6126480" y="1745839"/>
            <a:ext cx="800100" cy="584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326880" y="2120743"/>
            <a:ext cx="0" cy="324774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03720" y="2244349"/>
            <a:ext cx="228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sz="800" b="0" i="1" dirty="0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10149840" y="2866141"/>
            <a:ext cx="13716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738265" y="3610522"/>
            <a:ext cx="9348835" cy="364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65760" y="4039475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1" dirty="0" smtClean="0">
                <a:solidFill>
                  <a:srgbClr val="000000"/>
                </a:solidFill>
                <a:latin typeface="Calibri"/>
              </a:rPr>
              <a:t>Environment </a:t>
            </a:r>
            <a:r>
              <a:rPr sz="1100" b="1" i="1" dirty="0" smtClean="0">
                <a:solidFill>
                  <a:srgbClr val="000000"/>
                </a:solidFill>
                <a:latin typeface="Calibri"/>
              </a:rPr>
              <a:t>step</a:t>
            </a:r>
            <a:endParaRPr sz="1100" b="1" i="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65760" y="4441811"/>
            <a:ext cx="16916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1100" b="1" dirty="0">
                <a:solidFill>
                  <a:srgbClr val="000000"/>
                </a:solidFill>
                <a:latin typeface="Calibri"/>
              </a:rPr>
              <a:t>B</a:t>
            </a:r>
            <a:r>
              <a:rPr sz="1100" b="1" dirty="0" smtClean="0">
                <a:solidFill>
                  <a:srgbClr val="000000"/>
                </a:solidFill>
                <a:latin typeface="Calibri"/>
              </a:rPr>
              <a:t>ase </a:t>
            </a:r>
            <a:r>
              <a:rPr sz="1100" b="1" dirty="0">
                <a:solidFill>
                  <a:srgbClr val="000000"/>
                </a:solidFill>
                <a:latin typeface="Calibri"/>
              </a:rPr>
              <a:t>controller</a:t>
            </a:r>
          </a:p>
          <a:p>
            <a:pPr algn="ctr"/>
            <a:r>
              <a:rPr sz="850" dirty="0" smtClean="0">
                <a:solidFill>
                  <a:srgbClr val="000000"/>
                </a:solidFill>
                <a:latin typeface="Calibri"/>
              </a:rPr>
              <a:t>→ 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λ_base</a:t>
            </a:r>
            <a:r>
              <a:rPr sz="850" dirty="0">
                <a:solidFill>
                  <a:srgbClr val="000000"/>
                </a:solidFill>
                <a:latin typeface="Calibri"/>
              </a:rPr>
              <a:t>, 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w_d</a:t>
            </a:r>
            <a:endParaRPr sz="85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318918" y="4441811"/>
            <a:ext cx="16916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dirty="0">
                <a:solidFill>
                  <a:srgbClr val="000000"/>
                </a:solidFill>
                <a:latin typeface="Calibri"/>
              </a:rPr>
              <a:t>Add </a:t>
            </a:r>
            <a:r>
              <a:rPr sz="1100" b="1" dirty="0" smtClean="0">
                <a:solidFill>
                  <a:srgbClr val="000000"/>
                </a:solidFill>
                <a:latin typeface="Calibri"/>
              </a:rPr>
              <a:t>residual</a:t>
            </a:r>
            <a:r>
              <a:rPr lang="en-US" sz="1100" b="1" dirty="0" smtClean="0">
                <a:solidFill>
                  <a:srgbClr val="000000"/>
                </a:solidFill>
                <a:latin typeface="Calibri"/>
              </a:rPr>
              <a:t>/policy action</a:t>
            </a:r>
            <a:r>
              <a:rPr sz="1100" b="1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alibri"/>
              </a:rPr>
              <a:t>+ clip</a:t>
            </a: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‖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dλ</a:t>
            </a:r>
            <a:r>
              <a:rPr sz="850" dirty="0">
                <a:solidFill>
                  <a:srgbClr val="000000"/>
                </a:solidFill>
                <a:latin typeface="Calibri"/>
              </a:rPr>
              <a:t>‖ ≤ 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cap_lam</a:t>
            </a:r>
            <a:r>
              <a:rPr sz="850" dirty="0">
                <a:solidFill>
                  <a:srgbClr val="000000"/>
                </a:solidFill>
                <a:latin typeface="Calibri"/>
              </a:rPr>
              <a:t>·‖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λ_base</a:t>
            </a:r>
            <a:r>
              <a:rPr sz="850" dirty="0">
                <a:solidFill>
                  <a:srgbClr val="000000"/>
                </a:solidFill>
                <a:latin typeface="Calibri"/>
              </a:rPr>
              <a:t>‖</a:t>
            </a: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‖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dw</a:t>
            </a:r>
            <a:r>
              <a:rPr sz="850" dirty="0">
                <a:solidFill>
                  <a:srgbClr val="000000"/>
                </a:solidFill>
                <a:latin typeface="Calibri"/>
              </a:rPr>
              <a:t>‖ ≤ 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cap_w</a:t>
            </a:r>
            <a:r>
              <a:rPr sz="850" dirty="0">
                <a:solidFill>
                  <a:srgbClr val="000000"/>
                </a:solidFill>
                <a:latin typeface="Calibri"/>
              </a:rPr>
              <a:t>·‖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w_d</a:t>
            </a:r>
            <a:r>
              <a:rPr sz="850" dirty="0">
                <a:solidFill>
                  <a:srgbClr val="000000"/>
                </a:solidFill>
                <a:latin typeface="Calibri"/>
              </a:rPr>
              <a:t>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2076" y="4441811"/>
            <a:ext cx="16916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dirty="0">
                <a:solidFill>
                  <a:srgbClr val="000000"/>
                </a:solidFill>
                <a:latin typeface="Calibri"/>
              </a:rPr>
              <a:t>Assemble force </a:t>
            </a:r>
            <a:r>
              <a:rPr lang="en-US" sz="1100" b="1" dirty="0" smtClean="0">
                <a:solidFill>
                  <a:srgbClr val="000000"/>
                </a:solidFill>
                <a:latin typeface="Calibri"/>
              </a:rPr>
              <a:t>per carrier</a:t>
            </a:r>
            <a:r>
              <a:rPr sz="1100" b="1" dirty="0" smtClean="0">
                <a:solidFill>
                  <a:srgbClr val="000000"/>
                </a:solidFill>
                <a:latin typeface="Calibri"/>
              </a:rPr>
              <a:t> </a:t>
            </a:r>
            <a:endParaRPr sz="1100" b="1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f = 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f_base</a:t>
            </a:r>
            <a:endParaRPr sz="850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 + G⁺·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dw</a:t>
            </a:r>
            <a:r>
              <a:rPr sz="850" dirty="0">
                <a:solidFill>
                  <a:srgbClr val="000000"/>
                </a:solidFill>
                <a:latin typeface="Calibri"/>
              </a:rPr>
              <a:t>  </a:t>
            </a: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 + 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N·dλ</a:t>
            </a:r>
            <a:r>
              <a:rPr sz="850" dirty="0">
                <a:solidFill>
                  <a:srgbClr val="000000"/>
                </a:solidFill>
                <a:latin typeface="Calibri"/>
              </a:rPr>
              <a:t>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5235" y="4441811"/>
            <a:ext cx="16916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dirty="0">
                <a:solidFill>
                  <a:srgbClr val="000000"/>
                </a:solidFill>
                <a:latin typeface="Calibri"/>
              </a:rPr>
              <a:t>FMU plant step</a:t>
            </a:r>
          </a:p>
          <a:p>
            <a:pPr algn="ctr"/>
            <a:r>
              <a:rPr sz="850" dirty="0" err="1">
                <a:solidFill>
                  <a:srgbClr val="000000"/>
                </a:solidFill>
                <a:latin typeface="Calibri"/>
              </a:rPr>
              <a:t>desync</a:t>
            </a:r>
            <a:r>
              <a:rPr sz="850" dirty="0">
                <a:solidFill>
                  <a:srgbClr val="000000"/>
                </a:solidFill>
                <a:latin typeface="Calibri"/>
              </a:rPr>
              <a:t>:</a:t>
            </a: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sensor noise</a:t>
            </a: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+ </a:t>
            </a:r>
            <a:r>
              <a:rPr sz="850" dirty="0" smtClean="0">
                <a:solidFill>
                  <a:srgbClr val="000000"/>
                </a:solidFill>
                <a:latin typeface="Calibri"/>
              </a:rPr>
              <a:t>delay</a:t>
            </a:r>
            <a:endParaRPr sz="85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178393" y="4441811"/>
            <a:ext cx="16916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dirty="0" smtClean="0">
                <a:solidFill>
                  <a:srgbClr val="000000"/>
                </a:solidFill>
                <a:latin typeface="Calibri"/>
              </a:rPr>
              <a:t>Reward</a:t>
            </a:r>
            <a:endParaRPr sz="1100" b="1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manifold + stall + load</a:t>
            </a: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+ </a:t>
            </a:r>
            <a:r>
              <a:rPr sz="850" dirty="0" err="1">
                <a:solidFill>
                  <a:srgbClr val="000000"/>
                </a:solidFill>
                <a:latin typeface="Calibri"/>
              </a:rPr>
              <a:t>overspeed</a:t>
            </a:r>
            <a:endParaRPr sz="850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+ λ-overshoot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31551" y="4441811"/>
            <a:ext cx="16916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dirty="0">
                <a:solidFill>
                  <a:srgbClr val="000000"/>
                </a:solidFill>
                <a:latin typeface="Calibri"/>
              </a:rPr>
              <a:t>Next per-drone </a:t>
            </a:r>
            <a:r>
              <a:rPr sz="1100" b="1" dirty="0" smtClean="0">
                <a:solidFill>
                  <a:srgbClr val="000000"/>
                </a:solidFill>
                <a:latin typeface="Calibri"/>
              </a:rPr>
              <a:t>obs</a:t>
            </a:r>
            <a:r>
              <a:rPr lang="en-US" sz="1100" b="1" dirty="0" smtClean="0">
                <a:solidFill>
                  <a:srgbClr val="000000"/>
                </a:solidFill>
                <a:latin typeface="Calibri"/>
              </a:rPr>
              <a:t>ervations</a:t>
            </a:r>
            <a:endParaRPr sz="1100" b="1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load </a:t>
            </a:r>
            <a:r>
              <a:rPr sz="850" dirty="0" smtClean="0">
                <a:solidFill>
                  <a:srgbClr val="000000"/>
                </a:solidFill>
                <a:latin typeface="Calibri"/>
              </a:rPr>
              <a:t>est</a:t>
            </a:r>
            <a:r>
              <a:rPr lang="en-US" sz="850" dirty="0" smtClean="0">
                <a:solidFill>
                  <a:srgbClr val="000000"/>
                </a:solidFill>
                <a:latin typeface="Calibri"/>
              </a:rPr>
              <a:t>imate</a:t>
            </a:r>
            <a:r>
              <a:rPr sz="850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sz="850" dirty="0">
                <a:solidFill>
                  <a:srgbClr val="000000"/>
                </a:solidFill>
                <a:latin typeface="Calibri"/>
              </a:rPr>
              <a:t>+ own</a:t>
            </a:r>
          </a:p>
          <a:p>
            <a:pPr algn="ctr"/>
            <a:r>
              <a:rPr sz="850" dirty="0">
                <a:solidFill>
                  <a:srgbClr val="000000"/>
                </a:solidFill>
                <a:latin typeface="Calibri"/>
              </a:rPr>
              <a:t>+ base slices + clock</a:t>
            </a:r>
          </a:p>
          <a:p>
            <a:pPr algn="ctr"/>
            <a:r>
              <a:rPr sz="850" dirty="0" smtClean="0">
                <a:solidFill>
                  <a:srgbClr val="000000"/>
                </a:solidFill>
                <a:latin typeface="Calibri"/>
              </a:rPr>
              <a:t>+</a:t>
            </a:r>
            <a:r>
              <a:rPr lang="en-US" sz="850" dirty="0" smtClean="0">
                <a:solidFill>
                  <a:srgbClr val="000000"/>
                </a:solidFill>
                <a:latin typeface="Calibri"/>
              </a:rPr>
              <a:t> </a:t>
            </a:r>
            <a:r>
              <a:rPr sz="850" dirty="0" smtClean="0">
                <a:solidFill>
                  <a:srgbClr val="000000"/>
                </a:solidFill>
                <a:latin typeface="Calibri"/>
              </a:rPr>
              <a:t>history </a:t>
            </a:r>
            <a:r>
              <a:rPr sz="850" dirty="0">
                <a:solidFill>
                  <a:srgbClr val="000000"/>
                </a:solidFill>
                <a:latin typeface="Calibri"/>
              </a:rPr>
              <a:t>+ ref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057400" y="5264771"/>
            <a:ext cx="261518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010558" y="5264771"/>
            <a:ext cx="261518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963716" y="5264771"/>
            <a:ext cx="261519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916875" y="5264771"/>
            <a:ext cx="261518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870033" y="5264771"/>
            <a:ext cx="261518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615636" y="6400799"/>
            <a:ext cx="50865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52569" y="6128520"/>
            <a:ext cx="78638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1" i="1" dirty="0" smtClean="0">
                <a:solidFill>
                  <a:srgbClr val="000000"/>
                </a:solidFill>
                <a:latin typeface="Calibri"/>
              </a:rPr>
              <a:t>Do these three steps one time per each carrier then apply full force vector to the plant </a:t>
            </a:r>
            <a:endParaRPr sz="1050" b="1" i="1" dirty="0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50" name="Straight Connector 49"/>
          <p:cNvCxnSpPr/>
          <p:nvPr/>
        </p:nvCxnSpPr>
        <p:spPr>
          <a:xfrm>
            <a:off x="4867686" y="2226601"/>
            <a:ext cx="0" cy="344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0826678" y="996253"/>
            <a:ext cx="228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sz="800" b="0" i="1" dirty="0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76" name="Straight Connector 75"/>
          <p:cNvCxnSpPr>
            <a:stCxn id="11" idx="2"/>
          </p:cNvCxnSpPr>
          <p:nvPr/>
        </p:nvCxnSpPr>
        <p:spPr>
          <a:xfrm>
            <a:off x="11087100" y="3286765"/>
            <a:ext cx="0" cy="3273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224927" y="3362619"/>
            <a:ext cx="10058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i="1" dirty="0" smtClean="0">
                <a:solidFill>
                  <a:srgbClr val="000000"/>
                </a:solidFill>
                <a:latin typeface="Calibri"/>
              </a:rPr>
              <a:t>Go to next Iteration</a:t>
            </a:r>
            <a:endParaRPr sz="800" b="0" i="1" dirty="0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79" name="Straight Arrow Connector 78"/>
          <p:cNvCxnSpPr>
            <a:endCxn id="5" idx="1"/>
          </p:cNvCxnSpPr>
          <p:nvPr/>
        </p:nvCxnSpPr>
        <p:spPr>
          <a:xfrm flipV="1">
            <a:off x="2830313" y="657310"/>
            <a:ext cx="5673607" cy="6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201</Words>
  <Application>Microsoft Office PowerPoint</Application>
  <PresentationFormat>Widescreen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ahmed aboulenien</dc:creator>
  <cp:keywords/>
  <dc:description>generated using python-pptx</dc:description>
  <cp:lastModifiedBy>Microsoft account</cp:lastModifiedBy>
  <cp:revision>7</cp:revision>
  <dcterms:created xsi:type="dcterms:W3CDTF">2013-01-27T09:14:16Z</dcterms:created>
  <dcterms:modified xsi:type="dcterms:W3CDTF">2026-09-03T10:57:00Z</dcterms:modified>
  <cp:category/>
</cp:coreProperties>
</file>