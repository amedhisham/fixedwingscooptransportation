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13" r:id="rId3"/>
    <p:sldId id="314" r:id="rId4"/>
    <p:sldId id="315" r:id="rId5"/>
    <p:sldId id="273" r:id="rId6"/>
    <p:sldId id="299" r:id="rId7"/>
    <p:sldId id="300" r:id="rId8"/>
    <p:sldId id="310" r:id="rId9"/>
    <p:sldId id="301" r:id="rId10"/>
    <p:sldId id="302" r:id="rId11"/>
    <p:sldId id="303" r:id="rId12"/>
    <p:sldId id="319" r:id="rId13"/>
    <p:sldId id="304" r:id="rId14"/>
    <p:sldId id="312" r:id="rId15"/>
    <p:sldId id="280" r:id="rId16"/>
    <p:sldId id="305" r:id="rId17"/>
    <p:sldId id="306" r:id="rId18"/>
    <p:sldId id="307" r:id="rId19"/>
    <p:sldId id="308" r:id="rId20"/>
    <p:sldId id="309" r:id="rId21"/>
    <p:sldId id="316" r:id="rId22"/>
    <p:sldId id="317" r:id="rId23"/>
    <p:sldId id="318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e1wWgYMlsTmwPP8JtiEZSoLZ/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9EECCA-3B2E-439E-A9FE-AE0BB2C482AD}">
  <a:tblStyle styleId="{B49EECCA-3B2E-439E-A9FE-AE0BB2C482A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4606" autoAdjust="0"/>
  </p:normalViewPr>
  <p:slideViewPr>
    <p:cSldViewPr snapToGrid="0">
      <p:cViewPr varScale="1">
        <p:scale>
          <a:sx n="75" d="100"/>
          <a:sy n="75" d="100"/>
        </p:scale>
        <p:origin x="83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125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482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802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3117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5700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089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4106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187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6146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1787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4482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665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7390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849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1641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0808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9511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813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5661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62171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1164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it-IT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2494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8012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007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olo e testo verticale">
  <p:cSld name="2_Titolo e testo vertica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41397" y="1159933"/>
            <a:ext cx="4709206" cy="21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47593" y="3285951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2935526" y="4741032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olo e testo verticale">
  <p:cSld name="3_Titolo e testo vertica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/>
          <p:nvPr/>
        </p:nvSpPr>
        <p:spPr>
          <a:xfrm>
            <a:off x="-1" y="0"/>
            <a:ext cx="12192001" cy="1138767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72000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6000" y="1153221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6179127" y="2592996"/>
            <a:ext cx="5663346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2"/>
          </p:nvPr>
        </p:nvSpPr>
        <p:spPr>
          <a:xfrm>
            <a:off x="1215640" y="2592996"/>
            <a:ext cx="3781233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3"/>
          </p:nvPr>
        </p:nvSpPr>
        <p:spPr>
          <a:xfrm>
            <a:off x="1215640" y="4777396"/>
            <a:ext cx="3781234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6000" y="147563"/>
            <a:ext cx="1885998" cy="84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">
  <p:cSld name="Layout personalizzat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1547591" y="3665329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b="1" dirty="0" smtClean="0"/>
              <a:t>RL Cooperative Transportation using fixed-wings drones</a:t>
            </a:r>
            <a:endParaRPr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1"/>
          </p:nvPr>
        </p:nvSpPr>
        <p:spPr>
          <a:xfrm>
            <a:off x="2935525" y="5295508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 dirty="0" smtClean="0"/>
              <a:t>RL Project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 dirty="0" smtClean="0"/>
              <a:t>Part of thesis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MARL: Problem Definition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78768"/>
            <a:ext cx="7310305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Four non-stopping carriers cooperatively carrying a load</a:t>
            </a:r>
          </a:p>
          <a:p>
            <a:pPr indent="-457200">
              <a:buSzPts val="3200"/>
            </a:pPr>
            <a:r>
              <a:rPr lang="en-US" dirty="0" smtClean="0"/>
              <a:t>Centralized controller already exists</a:t>
            </a:r>
          </a:p>
          <a:p>
            <a:pPr lvl="1" indent="-457200">
              <a:buSzPts val="3200"/>
            </a:pPr>
            <a:r>
              <a:rPr lang="en-US" dirty="0"/>
              <a:t>It calculates </a:t>
            </a:r>
            <a:r>
              <a:rPr lang="en-US" dirty="0" smtClean="0"/>
              <a:t>𝑓(</a:t>
            </a:r>
            <a:r>
              <a:rPr lang="en-US" dirty="0"/>
              <a:t>𝑡) = 𝑓</a:t>
            </a:r>
            <a:r>
              <a:rPr lang="en-US" baseline="-25000" dirty="0"/>
              <a:t>𝑔</a:t>
            </a:r>
            <a:r>
              <a:rPr lang="en-US" dirty="0"/>
              <a:t>(𝑡)+ 𝑓</a:t>
            </a:r>
            <a:r>
              <a:rPr lang="en-US" baseline="-25000" dirty="0"/>
              <a:t>𝜆</a:t>
            </a:r>
            <a:r>
              <a:rPr lang="en-US" dirty="0"/>
              <a:t>(𝑡</a:t>
            </a:r>
            <a:r>
              <a:rPr lang="en-US" dirty="0" smtClean="0"/>
              <a:t>)</a:t>
            </a:r>
            <a:r>
              <a:rPr lang="en-US" dirty="0"/>
              <a:t> ∈ </a:t>
            </a:r>
            <a:r>
              <a:rPr lang="en-US" dirty="0" smtClean="0"/>
              <a:t>R</a:t>
            </a:r>
            <a:r>
              <a:rPr lang="en-US" baseline="30000" dirty="0" smtClean="0"/>
              <a:t>12</a:t>
            </a:r>
          </a:p>
          <a:p>
            <a:pPr lvl="1" indent="-457200">
              <a:buSzPts val="3200"/>
            </a:pPr>
            <a:r>
              <a:rPr lang="en-US" dirty="0" smtClean="0"/>
              <a:t> 𝑓</a:t>
            </a:r>
            <a:r>
              <a:rPr lang="en-US" baseline="-25000" dirty="0" smtClean="0"/>
              <a:t>𝑔</a:t>
            </a:r>
            <a:r>
              <a:rPr lang="en-US" dirty="0"/>
              <a:t>(𝑡</a:t>
            </a:r>
            <a:r>
              <a:rPr lang="en-US" dirty="0" smtClean="0"/>
              <a:t>) forces applied on load</a:t>
            </a:r>
          </a:p>
          <a:p>
            <a:pPr lvl="1" indent="-457200">
              <a:buSzPts val="3200"/>
            </a:pPr>
            <a:r>
              <a:rPr lang="en-US" dirty="0"/>
              <a:t>𝑓</a:t>
            </a:r>
            <a:r>
              <a:rPr lang="en-US" baseline="-25000" dirty="0"/>
              <a:t>𝜆</a:t>
            </a:r>
            <a:r>
              <a:rPr lang="en-US" dirty="0"/>
              <a:t>(𝑡</a:t>
            </a:r>
            <a:r>
              <a:rPr lang="en-US" dirty="0" smtClean="0"/>
              <a:t>) internal forces cancelled between the carriers (hence, they need to be coordinated). Their purpose is to keep the carriers moving to prevent stall</a:t>
            </a:r>
          </a:p>
          <a:p>
            <a:pPr lvl="1" indent="-457200">
              <a:buSzPts val="3200"/>
            </a:pPr>
            <a:r>
              <a:rPr lang="en-US" dirty="0" smtClean="0"/>
              <a:t>Eac</a:t>
            </a:r>
            <a:r>
              <a:rPr lang="en-US" dirty="0" smtClean="0"/>
              <a:t>h carrier calculates its reference position and velocity from the assigned force slice 𝑓</a:t>
            </a:r>
            <a:r>
              <a:rPr lang="en-US" baseline="-25000" dirty="0" err="1" smtClean="0"/>
              <a:t>i</a:t>
            </a:r>
            <a:r>
              <a:rPr lang="en-US" dirty="0" smtClean="0"/>
              <a:t>(</a:t>
            </a:r>
            <a:r>
              <a:rPr lang="en-US" dirty="0"/>
              <a:t>𝑡</a:t>
            </a:r>
            <a:r>
              <a:rPr lang="en-US" dirty="0" smtClean="0"/>
              <a:t>) using kinematic equations </a:t>
            </a: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304" y="2561500"/>
            <a:ext cx="4266303" cy="187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7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MARL: Problem Definition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8" y="2178768"/>
            <a:ext cx="11489567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Our goal is to make this system decentralized</a:t>
            </a:r>
          </a:p>
          <a:p>
            <a:pPr indent="-457200">
              <a:buSzPts val="3200"/>
            </a:pPr>
            <a:r>
              <a:rPr lang="en-US" dirty="0" smtClean="0"/>
              <a:t>The centralized controller uses global information on all the carriers</a:t>
            </a:r>
          </a:p>
          <a:p>
            <a:pPr indent="-457200">
              <a:buSzPts val="3200"/>
            </a:pPr>
            <a:r>
              <a:rPr lang="en-US" dirty="0" smtClean="0"/>
              <a:t>Global carrier information is reconstructed using load state and the total applied force 𝑓(𝑡)</a:t>
            </a:r>
            <a:endParaRPr lang="en-US" dirty="0"/>
          </a:p>
          <a:p>
            <a:pPr indent="-457200">
              <a:buSzPts val="3200"/>
            </a:pPr>
            <a:r>
              <a:rPr lang="en-US" dirty="0" smtClean="0"/>
              <a:t>We can deploy the same controller on each carrier separately, each carrier can calculate the full force </a:t>
            </a:r>
            <a:r>
              <a:rPr lang="en-US" dirty="0"/>
              <a:t>𝑓(𝑡</a:t>
            </a:r>
            <a:r>
              <a:rPr lang="en-US" dirty="0" smtClean="0"/>
              <a:t>)</a:t>
            </a:r>
            <a:r>
              <a:rPr lang="en-US" dirty="0"/>
              <a:t> </a:t>
            </a:r>
            <a:r>
              <a:rPr lang="en-US" dirty="0" smtClean="0"/>
              <a:t>and apply its part </a:t>
            </a:r>
            <a:r>
              <a:rPr lang="en-US" dirty="0"/>
              <a:t>𝑓</a:t>
            </a:r>
            <a:r>
              <a:rPr lang="en-US" baseline="-25000" dirty="0" err="1"/>
              <a:t>i</a:t>
            </a:r>
            <a:r>
              <a:rPr lang="en-US" dirty="0"/>
              <a:t>(𝑡</a:t>
            </a:r>
            <a:r>
              <a:rPr lang="en-US" dirty="0" smtClean="0"/>
              <a:t>).</a:t>
            </a:r>
          </a:p>
          <a:p>
            <a:pPr indent="-457200">
              <a:buSzPts val="3200"/>
            </a:pPr>
            <a:r>
              <a:rPr lang="en-US" dirty="0" smtClean="0"/>
              <a:t>However, once we have disagreements on the load state and the applied force (due to noise and delays/</a:t>
            </a:r>
            <a:r>
              <a:rPr lang="en-US" dirty="0" err="1" smtClean="0"/>
              <a:t>desynchronization</a:t>
            </a:r>
            <a:r>
              <a:rPr lang="en-US" dirty="0" smtClean="0"/>
              <a:t>), the reconstructed global information becomes completely corrupted and unreliable.</a:t>
            </a:r>
          </a:p>
        </p:txBody>
      </p:sp>
    </p:spTree>
    <p:extLst>
      <p:ext uri="{BB962C8B-B14F-4D97-AF65-F5344CB8AC3E}">
        <p14:creationId xmlns:p14="http://schemas.microsoft.com/office/powerpoint/2010/main" val="257433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MARL: Proposed Solution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8" y="2178768"/>
            <a:ext cx="11489567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SzPts val="3200"/>
            </a:pPr>
            <a:r>
              <a:rPr lang="en-US" dirty="0" smtClean="0"/>
              <a:t>Train a residual policy that corrects the controller action</a:t>
            </a:r>
          </a:p>
          <a:p>
            <a:pPr marL="0" indent="0">
              <a:buSzPts val="3200"/>
              <a:buNone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The goal is to find a policy that can still maintain reasonable load tracking and coordinated carrier trajectories despite:</a:t>
            </a:r>
          </a:p>
          <a:p>
            <a:pPr lvl="1" indent="-457200">
              <a:buSzPts val="3200"/>
            </a:pPr>
            <a:r>
              <a:rPr lang="en-US" dirty="0" smtClean="0"/>
              <a:t>Noisy and asynchronous load state measurements</a:t>
            </a:r>
          </a:p>
          <a:p>
            <a:pPr lvl="1" indent="-457200">
              <a:buSzPts val="3200"/>
            </a:pPr>
            <a:r>
              <a:rPr lang="en-US" dirty="0" smtClean="0"/>
              <a:t>Unreliable estimates of global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91883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78768"/>
            <a:ext cx="11385933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Action Space: </a:t>
            </a:r>
            <a:r>
              <a:rPr lang="el-GR" dirty="0" smtClean="0"/>
              <a:t>δ</a:t>
            </a:r>
            <a:r>
              <a:rPr lang="en-US" dirty="0"/>
              <a:t>𝑓</a:t>
            </a:r>
            <a:r>
              <a:rPr lang="en-US" dirty="0" smtClean="0"/>
              <a:t> </a:t>
            </a:r>
            <a:r>
              <a:rPr lang="en-US" dirty="0"/>
              <a:t>∈ </a:t>
            </a:r>
            <a:r>
              <a:rPr lang="en-US" dirty="0" smtClean="0"/>
              <a:t>R</a:t>
            </a:r>
            <a:r>
              <a:rPr lang="en-US" baseline="30000" dirty="0" smtClean="0"/>
              <a:t>12</a:t>
            </a:r>
            <a:r>
              <a:rPr lang="en-US" dirty="0" smtClean="0"/>
              <a:t> </a:t>
            </a:r>
            <a:endParaRPr lang="en-US" dirty="0" smtClean="0"/>
          </a:p>
          <a:p>
            <a:pPr lvl="1" indent="-457200">
              <a:buSzPts val="3200"/>
            </a:pPr>
            <a:r>
              <a:rPr lang="en-US" dirty="0" smtClean="0"/>
              <a:t>Keep wrench controller and optimizer. Run decentralized</a:t>
            </a:r>
          </a:p>
          <a:p>
            <a:pPr marL="457200" lvl="1" indent="0">
              <a:buSzPts val="3200"/>
              <a:buNone/>
            </a:pPr>
            <a:r>
              <a:rPr lang="en-US" dirty="0" smtClean="0"/>
              <a:t>				</a:t>
            </a:r>
            <a:r>
              <a:rPr lang="en-US" dirty="0"/>
              <a:t>𝑓 (𝑡) = 𝑓</a:t>
            </a:r>
            <a:r>
              <a:rPr lang="en-US" baseline="-25000" dirty="0"/>
              <a:t>𝑔</a:t>
            </a:r>
            <a:r>
              <a:rPr lang="en-US" dirty="0"/>
              <a:t>(𝑡)+ 𝑓</a:t>
            </a:r>
            <a:r>
              <a:rPr lang="en-US" baseline="-25000" dirty="0"/>
              <a:t>𝜆</a:t>
            </a:r>
            <a:r>
              <a:rPr lang="en-US" dirty="0"/>
              <a:t>(𝑡</a:t>
            </a:r>
            <a:r>
              <a:rPr lang="en-US" dirty="0" smtClean="0"/>
              <a:t>) + </a:t>
            </a:r>
            <a:r>
              <a:rPr lang="el-GR" u="sng" dirty="0" smtClean="0"/>
              <a:t>δ</a:t>
            </a:r>
            <a:r>
              <a:rPr lang="en-US" u="sng" dirty="0" smtClean="0"/>
              <a:t>𝑓(t)</a:t>
            </a:r>
          </a:p>
          <a:p>
            <a:pPr marL="457200" lvl="1" indent="0">
              <a:buSzPts val="3200"/>
              <a:buNone/>
            </a:pPr>
            <a:endParaRPr lang="en-US" u="sng" dirty="0" smtClean="0"/>
          </a:p>
          <a:p>
            <a:pPr marL="457200" lvl="1" indent="0">
              <a:buSzPts val="3200"/>
              <a:buNone/>
            </a:pPr>
            <a:endParaRPr lang="en-US" u="sng" dirty="0" smtClean="0"/>
          </a:p>
          <a:p>
            <a:pPr lvl="1" indent="-457200">
              <a:buSzPts val="3200"/>
            </a:pPr>
            <a:r>
              <a:rPr lang="en-US" dirty="0"/>
              <a:t>B</a:t>
            </a:r>
            <a:r>
              <a:rPr lang="en-US" dirty="0" smtClean="0"/>
              <a:t>etter learning when decomposed</a:t>
            </a:r>
            <a:endParaRPr lang="en-US" dirty="0"/>
          </a:p>
          <a:p>
            <a:pPr marL="457200" lvl="1" indent="0">
              <a:buSzPts val="3200"/>
              <a:buNone/>
            </a:pPr>
            <a:r>
              <a:rPr lang="en-US" dirty="0"/>
              <a:t>			</a:t>
            </a:r>
            <a:r>
              <a:rPr lang="en-US" dirty="0" smtClean="0"/>
              <a:t>𝑓 </a:t>
            </a:r>
            <a:r>
              <a:rPr lang="en-US" dirty="0"/>
              <a:t>(𝑡)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G(t)</a:t>
            </a:r>
            <a:r>
              <a:rPr lang="en-US" baseline="30000" dirty="0" smtClean="0"/>
              <a:t>† </a:t>
            </a:r>
            <a:r>
              <a:rPr lang="en-US" dirty="0" smtClean="0"/>
              <a:t>· (w</a:t>
            </a:r>
            <a:r>
              <a:rPr lang="en-US" baseline="-25000" dirty="0" smtClean="0"/>
              <a:t>d</a:t>
            </a:r>
            <a:r>
              <a:rPr lang="en-US" dirty="0" smtClean="0"/>
              <a:t>(t) + </a:t>
            </a:r>
            <a:r>
              <a:rPr lang="el-GR" u="sng" dirty="0" smtClean="0"/>
              <a:t>δ</a:t>
            </a:r>
            <a:r>
              <a:rPr lang="en-US" u="sng" dirty="0" smtClean="0"/>
              <a:t>w(t)</a:t>
            </a:r>
            <a:r>
              <a:rPr lang="en-US" dirty="0" smtClean="0"/>
              <a:t>)  + N(t) </a:t>
            </a:r>
            <a:r>
              <a:rPr lang="en-US" dirty="0"/>
              <a:t>· </a:t>
            </a:r>
            <a:r>
              <a:rPr lang="en-US" dirty="0" smtClean="0"/>
              <a:t>(</a:t>
            </a:r>
            <a:r>
              <a:rPr lang="el-GR" dirty="0" smtClean="0"/>
              <a:t>λ(</a:t>
            </a:r>
            <a:r>
              <a:rPr lang="en-US" dirty="0"/>
              <a:t>t</a:t>
            </a:r>
            <a:r>
              <a:rPr lang="en-US" dirty="0" smtClean="0"/>
              <a:t>) + </a:t>
            </a:r>
            <a:r>
              <a:rPr lang="el-GR" u="sng" dirty="0" smtClean="0"/>
              <a:t>δλ</a:t>
            </a:r>
            <a:r>
              <a:rPr lang="en-US" u="sng" dirty="0" smtClean="0"/>
              <a:t>(t)</a:t>
            </a:r>
            <a:r>
              <a:rPr lang="en-US" dirty="0" smtClean="0"/>
              <a:t>)</a:t>
            </a:r>
            <a:endParaRPr lang="ar-EG" dirty="0"/>
          </a:p>
          <a:p>
            <a:pPr marL="457200" lvl="1" indent="0">
              <a:buSzPts val="3200"/>
              <a:buNone/>
            </a:pPr>
            <a:r>
              <a:rPr lang="el-GR" dirty="0" smtClean="0"/>
              <a:t>δ</a:t>
            </a:r>
            <a:r>
              <a:rPr lang="en-US" dirty="0" smtClean="0"/>
              <a:t>w</a:t>
            </a:r>
            <a:r>
              <a:rPr lang="ar-EG" dirty="0" smtClean="0"/>
              <a:t> </a:t>
            </a:r>
            <a:r>
              <a:rPr lang="en-US" dirty="0" smtClean="0"/>
              <a:t>∈ R</a:t>
            </a:r>
            <a:r>
              <a:rPr lang="ar-EG" baseline="30000" dirty="0" smtClean="0"/>
              <a:t>6</a:t>
            </a:r>
            <a:r>
              <a:rPr lang="en-US" baseline="30000" dirty="0"/>
              <a:t> </a:t>
            </a:r>
            <a:r>
              <a:rPr lang="en-US" dirty="0" smtClean="0"/>
              <a:t>, </a:t>
            </a:r>
            <a:r>
              <a:rPr lang="el-GR" dirty="0" smtClean="0"/>
              <a:t>δλ</a:t>
            </a:r>
            <a:r>
              <a:rPr lang="en-US" dirty="0" smtClean="0"/>
              <a:t> </a:t>
            </a:r>
            <a:r>
              <a:rPr lang="en-US" dirty="0"/>
              <a:t>∈ </a:t>
            </a:r>
            <a:r>
              <a:rPr lang="en-US" dirty="0" smtClean="0"/>
              <a:t>R</a:t>
            </a:r>
            <a:r>
              <a:rPr lang="en-US" baseline="30000" dirty="0" smtClean="0"/>
              <a:t>4</a:t>
            </a:r>
            <a:r>
              <a:rPr lang="en-US" dirty="0" smtClean="0"/>
              <a:t> </a:t>
            </a:r>
          </a:p>
          <a:p>
            <a:pPr marL="457200" lvl="1" indent="0">
              <a:buSzPts val="3200"/>
              <a:buNone/>
            </a:pPr>
            <a:r>
              <a:rPr lang="en-US" sz="1800" dirty="0" smtClean="0"/>
              <a:t>where </a:t>
            </a:r>
            <a:r>
              <a:rPr lang="en-US" sz="1800" dirty="0"/>
              <a:t>G(t</a:t>
            </a:r>
            <a:r>
              <a:rPr lang="en-US" sz="1800" dirty="0" smtClean="0"/>
              <a:t>) is the Grasp matrix, </a:t>
            </a:r>
            <a:r>
              <a:rPr lang="en-US" sz="1800" baseline="30000" dirty="0" smtClean="0"/>
              <a:t>†</a:t>
            </a:r>
            <a:r>
              <a:rPr lang="en-US" sz="1800" dirty="0"/>
              <a:t> </a:t>
            </a:r>
            <a:r>
              <a:rPr lang="en-US" sz="1800" dirty="0" smtClean="0"/>
              <a:t>denotes its pseudo-inverse.</a:t>
            </a:r>
          </a:p>
          <a:p>
            <a:pPr marL="457200" lvl="1" indent="0">
              <a:buSzPts val="3200"/>
              <a:buNone/>
            </a:pPr>
            <a:r>
              <a:rPr lang="en-US" sz="1800" dirty="0" smtClean="0"/>
              <a:t>N(t) is in the</a:t>
            </a:r>
            <a:r>
              <a:rPr lang="en-US" sz="1800" dirty="0"/>
              <a:t> </a:t>
            </a:r>
            <a:r>
              <a:rPr lang="en-US" sz="1800" dirty="0" smtClean="0"/>
              <a:t>Null space of </a:t>
            </a:r>
            <a:r>
              <a:rPr lang="en-US" sz="1800" dirty="0"/>
              <a:t>G(t</a:t>
            </a:r>
            <a:r>
              <a:rPr lang="en-US" sz="1800" dirty="0" smtClean="0"/>
              <a:t>) and </a:t>
            </a:r>
            <a:r>
              <a:rPr lang="el-GR" sz="1800" dirty="0"/>
              <a:t>λ(</a:t>
            </a:r>
            <a:r>
              <a:rPr lang="en-US" sz="1800" dirty="0"/>
              <a:t>t) </a:t>
            </a:r>
            <a:r>
              <a:rPr lang="en-US" sz="1800" dirty="0" smtClean="0"/>
              <a:t>is a function that is designed to shape the internal forces </a:t>
            </a:r>
            <a:r>
              <a:rPr lang="en-US" sz="1800" dirty="0"/>
              <a:t>that redistribute cable tensions without affecting the load </a:t>
            </a:r>
            <a:r>
              <a:rPr lang="en-US" sz="1800" dirty="0" smtClean="0"/>
              <a:t>wrench.</a:t>
            </a:r>
          </a:p>
          <a:p>
            <a:pPr marL="457200" lvl="1" indent="0">
              <a:buSzPts val="3200"/>
              <a:buNone/>
            </a:pPr>
            <a:r>
              <a:rPr lang="en-US" sz="1800" dirty="0" smtClean="0"/>
              <a:t>All these variables are part of the centralized controller that we don’t touch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647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5999" y="2178768"/>
                <a:ext cx="11385933" cy="4520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Observation</a:t>
                </a:r>
                <a:r>
                  <a:rPr lang="en-US" dirty="0" smtClean="0"/>
                  <a:t> Space (Original)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44</a:t>
                </a:r>
                <a:r>
                  <a:rPr lang="en-US" dirty="0" smtClean="0"/>
                  <a:t> </a:t>
                </a:r>
                <a:r>
                  <a:rPr lang="en-US" dirty="0" smtClean="0"/>
                  <a:t>: 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Measured load state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18</a:t>
                </a:r>
                <a:r>
                  <a:rPr lang="en-US" dirty="0" smtClean="0"/>
                  <a:t> 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[</a:t>
                </a:r>
                <a:r>
                  <a:rPr lang="en-US" dirty="0" err="1" smtClean="0"/>
                  <a:t>p</a:t>
                </a:r>
                <a:r>
                  <a:rPr lang="en-US" baseline="-25000" dirty="0" err="1" smtClean="0"/>
                  <a:t>L</a:t>
                </a:r>
                <a:r>
                  <a:rPr lang="en-US" dirty="0" smtClean="0"/>
                  <a:t>(t</a:t>
                </a:r>
                <a:r>
                  <a:rPr lang="en-US" dirty="0"/>
                  <a:t>), </a:t>
                </a:r>
                <a:r>
                  <a:rPr lang="en-US" dirty="0" smtClean="0"/>
                  <a:t>R</a:t>
                </a:r>
                <a:r>
                  <a:rPr lang="en-US" baseline="-25000" dirty="0" smtClean="0"/>
                  <a:t>L</a:t>
                </a:r>
                <a:r>
                  <a:rPr lang="en-US" dirty="0" smtClean="0"/>
                  <a:t>(t</a:t>
                </a:r>
                <a:r>
                  <a:rPr lang="en-US" dirty="0"/>
                  <a:t>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 smtClean="0"/>
                  <a:t>L</a:t>
                </a:r>
                <a:r>
                  <a:rPr lang="en-US" dirty="0" smtClean="0"/>
                  <a:t>(t</a:t>
                </a:r>
                <a:r>
                  <a:rPr lang="en-US" dirty="0"/>
                  <a:t>),  </a:t>
                </a:r>
                <a:r>
                  <a:rPr lang="en-US" dirty="0" err="1" smtClean="0"/>
                  <a:t>ω</a:t>
                </a:r>
                <a:r>
                  <a:rPr lang="en-US" baseline="-25000" dirty="0" err="1" smtClean="0"/>
                  <a:t>L</a:t>
                </a:r>
                <a:r>
                  <a:rPr lang="en-US" dirty="0" smtClean="0"/>
                  <a:t>(t)]</a:t>
                </a:r>
                <a:endParaRPr lang="en-US" baseline="-25000" dirty="0" smtClean="0"/>
              </a:p>
              <a:p>
                <a:pPr lvl="1" indent="-457200">
                  <a:buSzPts val="3200"/>
                </a:pPr>
                <a:r>
                  <a:rPr lang="en-US" dirty="0" smtClean="0"/>
                  <a:t>Own carrier position and velocity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/>
                  <a:t>6</a:t>
                </a:r>
                <a:r>
                  <a:rPr lang="en-US" dirty="0" smtClean="0"/>
                  <a:t> 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:r>
                  <a:rPr lang="en-US" dirty="0"/>
                  <a:t>	</a:t>
                </a:r>
                <a:r>
                  <a:rPr lang="en-US" dirty="0" smtClean="0"/>
                  <a:t>[</a:t>
                </a:r>
                <a:r>
                  <a:rPr lang="en-US" dirty="0" err="1" smtClean="0"/>
                  <a:t>p</a:t>
                </a:r>
                <a:r>
                  <a:rPr lang="en-US" baseline="-25000" dirty="0" err="1" smtClean="0"/>
                  <a:t>R</a:t>
                </a:r>
                <a:r>
                  <a:rPr lang="en-US" dirty="0" smtClean="0"/>
                  <a:t>(t</a:t>
                </a:r>
                <a:r>
                  <a:rPr lang="en-US" dirty="0"/>
                  <a:t>)</a:t>
                </a:r>
                <a:r>
                  <a:rPr lang="en-US" dirty="0" smtClean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="0" i="0" baseline="-25000" smtClean="0"/>
                      <m:t>R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 smtClean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Base force components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[</a:t>
                </a:r>
                <a:r>
                  <a:rPr lang="en-US" dirty="0"/>
                  <a:t>𝑓</a:t>
                </a:r>
                <a:r>
                  <a:rPr lang="en-US" baseline="-25000" dirty="0"/>
                  <a:t>𝑔</a:t>
                </a:r>
                <a:r>
                  <a:rPr lang="en-US" dirty="0"/>
                  <a:t>(𝑡</a:t>
                </a:r>
                <a:r>
                  <a:rPr lang="en-US" dirty="0" smtClean="0"/>
                  <a:t>), </a:t>
                </a:r>
                <a:r>
                  <a:rPr lang="en-US" dirty="0"/>
                  <a:t>𝑓</a:t>
                </a:r>
                <a:r>
                  <a:rPr lang="en-US" baseline="-25000" dirty="0"/>
                  <a:t>𝜆</a:t>
                </a:r>
                <a:r>
                  <a:rPr lang="en-US" dirty="0"/>
                  <a:t>(𝑡</a:t>
                </a:r>
                <a:r>
                  <a:rPr lang="en-US" dirty="0" smtClean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Fourier </a:t>
                </a:r>
                <a:r>
                  <a:rPr lang="en-US" dirty="0"/>
                  <a:t>time embedding/features</a:t>
                </a:r>
              </a:p>
              <a:p>
                <a:pPr marL="914400" lvl="2" indent="0">
                  <a:buSzPts val="3200"/>
                  <a:buNone/>
                </a:pPr>
                <a:r>
                  <a:rPr lang="en-US" sz="2400" dirty="0"/>
                  <a:t>	ϕ(t)  = [sin(ω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​t),</a:t>
                </a:r>
                <a:r>
                  <a:rPr lang="en-US" sz="2400" dirty="0" err="1"/>
                  <a:t>cos</a:t>
                </a:r>
                <a:r>
                  <a:rPr lang="en-US" sz="2400" dirty="0"/>
                  <a:t>(ω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​t),sin(ω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​t),</a:t>
                </a:r>
                <a:r>
                  <a:rPr lang="en-US" sz="2400" dirty="0" err="1"/>
                  <a:t>cos</a:t>
                </a:r>
                <a:r>
                  <a:rPr lang="en-US" sz="2400" dirty="0"/>
                  <a:t>(ω</a:t>
                </a:r>
                <a:r>
                  <a:rPr lang="en-US" sz="2400" baseline="-25000" dirty="0"/>
                  <a:t>2​</a:t>
                </a:r>
                <a:r>
                  <a:rPr lang="en-US" sz="2400" dirty="0"/>
                  <a:t>t),… sin(</a:t>
                </a:r>
                <a:r>
                  <a:rPr lang="en-US" sz="2400" dirty="0" err="1"/>
                  <a:t>ω</a:t>
                </a:r>
                <a:r>
                  <a:rPr lang="en-US" sz="2400" baseline="-25000" dirty="0" err="1"/>
                  <a:t>k</a:t>
                </a:r>
                <a:r>
                  <a:rPr lang="en-US" sz="2400" dirty="0" err="1"/>
                  <a:t>t</a:t>
                </a:r>
                <a:r>
                  <a:rPr lang="en-US" sz="2400" dirty="0"/>
                  <a:t>), </a:t>
                </a:r>
                <a:r>
                  <a:rPr lang="en-US" sz="2400" dirty="0" err="1"/>
                  <a:t>cos</a:t>
                </a:r>
                <a:r>
                  <a:rPr lang="en-US" sz="2400" dirty="0"/>
                  <a:t>(</a:t>
                </a:r>
                <a:r>
                  <a:rPr lang="en-US" sz="2400" dirty="0" err="1"/>
                  <a:t>ω</a:t>
                </a:r>
                <a:r>
                  <a:rPr lang="en-US" sz="2400" baseline="-25000" dirty="0" err="1"/>
                  <a:t>k</a:t>
                </a:r>
                <a:r>
                  <a:rPr lang="en-US" sz="2400" dirty="0" err="1"/>
                  <a:t>t</a:t>
                </a:r>
                <a:r>
                  <a:rPr lang="en-US" sz="2400" dirty="0" smtClean="0"/>
                  <a:t>)]</a:t>
                </a:r>
                <a:endParaRPr lang="en-US" u="sng" dirty="0" smtClean="0"/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5999" y="2178768"/>
                <a:ext cx="11385933" cy="4520796"/>
              </a:xfrm>
              <a:prstGeom prst="rect">
                <a:avLst/>
              </a:prstGeom>
              <a:blipFill rotWithShape="0">
                <a:blip r:embed="rId3"/>
                <a:stretch>
                  <a:fillRect l="-1231" t="-1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2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2013397"/>
                <a:ext cx="11385933" cy="4844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Observation</a:t>
                </a:r>
                <a:r>
                  <a:rPr lang="en-US" dirty="0" smtClean="0"/>
                  <a:t> Space (Augmented)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98</a:t>
                </a:r>
                <a:r>
                  <a:rPr lang="en-US" dirty="0" smtClean="0"/>
                  <a:t> </a:t>
                </a:r>
                <a:r>
                  <a:rPr lang="en-US" dirty="0" smtClean="0"/>
                  <a:t>:</a:t>
                </a:r>
              </a:p>
              <a:p>
                <a:pPr indent="-457200">
                  <a:buSzPts val="3200"/>
                </a:pPr>
                <a:r>
                  <a:rPr lang="en-US" sz="2400" dirty="0"/>
                  <a:t>Original Observation Space in addition to: </a:t>
                </a:r>
              </a:p>
              <a:p>
                <a:pPr lvl="1" indent="-457200">
                  <a:buSzPts val="3200"/>
                </a:pPr>
                <a:r>
                  <a:rPr lang="en-US" dirty="0"/>
                  <a:t>The last two measured load states </a:t>
                </a:r>
                <a:r>
                  <a:rPr lang="en-US" dirty="0"/>
                  <a:t>∈ </a:t>
                </a:r>
                <a:r>
                  <a:rPr lang="en-US" dirty="0"/>
                  <a:t>R</a:t>
                </a:r>
                <a:r>
                  <a:rPr lang="en-US" baseline="30000" dirty="0"/>
                  <a:t>24</a:t>
                </a:r>
                <a:endParaRPr lang="en-US" baseline="-25000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L</a:t>
                </a:r>
                <a:r>
                  <a:rPr lang="en-US" dirty="0"/>
                  <a:t>(t-1), R</a:t>
                </a:r>
                <a:r>
                  <a:rPr lang="en-US" baseline="-25000" dirty="0"/>
                  <a:t>L</a:t>
                </a:r>
                <a:r>
                  <a:rPr lang="en-US" dirty="0"/>
                  <a:t>(t-1),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/>
                  <a:t>L</a:t>
                </a:r>
                <a:r>
                  <a:rPr lang="en-US" dirty="0"/>
                  <a:t>(t-1),  </a:t>
                </a:r>
                <a:r>
                  <a:rPr lang="en-US" dirty="0" err="1"/>
                  <a:t>ω</a:t>
                </a:r>
                <a:r>
                  <a:rPr lang="en-US" baseline="-25000" dirty="0" err="1"/>
                  <a:t>L</a:t>
                </a:r>
                <a:r>
                  <a:rPr lang="en-US" dirty="0"/>
                  <a:t>(t-1)]</a:t>
                </a:r>
                <a:endParaRPr lang="en-US" baseline="-25000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L</a:t>
                </a:r>
                <a:r>
                  <a:rPr lang="en-US" dirty="0"/>
                  <a:t>(t-2), R</a:t>
                </a:r>
                <a:r>
                  <a:rPr lang="en-US" baseline="-25000" dirty="0"/>
                  <a:t>L</a:t>
                </a:r>
                <a:r>
                  <a:rPr lang="en-US" dirty="0"/>
                  <a:t>(t-2),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/>
                  <a:t>L</a:t>
                </a:r>
                <a:r>
                  <a:rPr lang="en-US" dirty="0"/>
                  <a:t>(t-2),  </a:t>
                </a:r>
                <a:r>
                  <a:rPr lang="en-US" dirty="0" err="1"/>
                  <a:t>ω</a:t>
                </a:r>
                <a:r>
                  <a:rPr lang="en-US" baseline="-25000" dirty="0" err="1"/>
                  <a:t>L</a:t>
                </a:r>
                <a:r>
                  <a:rPr lang="en-US" dirty="0"/>
                  <a:t>(t-2)]</a:t>
                </a:r>
              </a:p>
              <a:p>
                <a:pPr lvl="1" indent="-457200">
                  <a:buSzPts val="3200"/>
                </a:pPr>
                <a:r>
                  <a:rPr lang="en-US" dirty="0"/>
                  <a:t>The last two own carrier position and velocity ∈ R</a:t>
                </a:r>
                <a:r>
                  <a:rPr lang="en-US" baseline="30000" dirty="0"/>
                  <a:t>12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	  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R</a:t>
                </a:r>
                <a:r>
                  <a:rPr lang="en-US" dirty="0"/>
                  <a:t>(t-1),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-1)]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	  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R</a:t>
                </a:r>
                <a:r>
                  <a:rPr lang="en-US" dirty="0"/>
                  <a:t>(t-2),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-2</a:t>
                </a:r>
                <a:r>
                  <a:rPr lang="en-US" dirty="0"/>
                  <a:t>)]</a:t>
                </a:r>
                <a:endParaRPr lang="en-US" dirty="0"/>
              </a:p>
              <a:p>
                <a:pPr lvl="1" indent="-457200">
                  <a:buSzPts val="3200"/>
                </a:pPr>
                <a:r>
                  <a:rPr lang="en-US" dirty="0"/>
                  <a:t>Reference load state at current time </a:t>
                </a:r>
                <a:r>
                  <a:rPr lang="en-US" dirty="0"/>
                  <a:t>∈ R</a:t>
                </a:r>
                <a:r>
                  <a:rPr lang="en-US" baseline="30000" dirty="0"/>
                  <a:t>18</a:t>
                </a:r>
                <a:r>
                  <a:rPr lang="en-US" dirty="0"/>
                  <a:t> 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</a:t>
                </a:r>
                <a:r>
                  <a:rPr lang="en-US" dirty="0"/>
                  <a:t>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Ld</a:t>
                </a:r>
                <a:r>
                  <a:rPr lang="en-US" dirty="0"/>
                  <a:t>(t),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Ld</a:t>
                </a:r>
                <a:r>
                  <a:rPr lang="en-US" dirty="0"/>
                  <a:t>(t),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 err="1"/>
                  <a:t>Ld</a:t>
                </a:r>
                <a:r>
                  <a:rPr lang="en-US" dirty="0"/>
                  <a:t>(t),  </a:t>
                </a:r>
                <a:r>
                  <a:rPr lang="en-US" dirty="0" err="1"/>
                  <a:t>ω</a:t>
                </a:r>
                <a:r>
                  <a:rPr lang="en-US" baseline="-25000" dirty="0" err="1"/>
                  <a:t>Ld</a:t>
                </a:r>
                <a:r>
                  <a:rPr lang="en-US" dirty="0"/>
                  <a:t>(t</a:t>
                </a:r>
                <a:r>
                  <a:rPr lang="en-US" dirty="0" smtClean="0"/>
                  <a:t>)]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endParaRPr lang="en-US" sz="2400" dirty="0"/>
              </a:p>
              <a:p>
                <a:pPr indent="-457200">
                  <a:lnSpc>
                    <a:spcPct val="120000"/>
                  </a:lnSpc>
                  <a:buSzPts val="3200"/>
                </a:pPr>
                <a:r>
                  <a:rPr lang="en-US" sz="2400" dirty="0" smtClean="0"/>
                  <a:t>Did not lead to an improvement. History doesn’t help hints that the policy is not trying to estimate “more correct” global information. This suggests that the policy </a:t>
                </a:r>
                <a:r>
                  <a:rPr lang="en-US" sz="2400" dirty="0"/>
                  <a:t>is finding control actions that work despite loss of information. </a:t>
                </a:r>
                <a:endParaRPr lang="en-US" sz="2400" dirty="0" smtClean="0"/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2013397"/>
                <a:ext cx="11385933" cy="4844603"/>
              </a:xfrm>
              <a:prstGeom prst="rect">
                <a:avLst/>
              </a:prstGeom>
              <a:blipFill rotWithShape="0">
                <a:blip r:embed="rId3"/>
                <a:stretch>
                  <a:fillRect l="-1231" t="-21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70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r>
              <a:rPr lang="ar-EG" dirty="0" smtClean="0"/>
              <a:t>:</a:t>
            </a:r>
            <a:r>
              <a:rPr lang="en-US" dirty="0" smtClean="0"/>
              <a:t> Implementation Details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6000" y="2013398"/>
            <a:ext cx="11385933" cy="484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/>
            <a:r>
              <a:rPr lang="en-US" dirty="0" smtClean="0"/>
              <a:t>Multi-Agent </a:t>
            </a:r>
            <a:r>
              <a:rPr lang="en-US" dirty="0"/>
              <a:t>Proximal Policy Optimization (MAPPO) </a:t>
            </a:r>
          </a:p>
          <a:p>
            <a:pPr indent="-457200"/>
            <a:r>
              <a:rPr lang="en-US" dirty="0"/>
              <a:t>Implemented MARL environment using </a:t>
            </a:r>
            <a:r>
              <a:rPr lang="en-US" dirty="0" err="1" smtClean="0"/>
              <a:t>PettingZoo</a:t>
            </a:r>
            <a:endParaRPr lang="en-US" dirty="0"/>
          </a:p>
          <a:p>
            <a:pPr indent="-457200"/>
            <a:r>
              <a:rPr lang="en-US" dirty="0"/>
              <a:t>Centralized Training Decentralized Execution (CTDE</a:t>
            </a:r>
            <a:r>
              <a:rPr lang="en-US" dirty="0" smtClean="0"/>
              <a:t>)</a:t>
            </a:r>
            <a:endParaRPr lang="en-US" dirty="0"/>
          </a:p>
          <a:p>
            <a:pPr indent="-457200"/>
            <a:r>
              <a:rPr lang="en-US" dirty="0"/>
              <a:t>Shared/Centralized critic with access to global state with a Parameter-Shared decentralized </a:t>
            </a:r>
            <a:r>
              <a:rPr lang="en-US" dirty="0" smtClean="0"/>
              <a:t>Actor</a:t>
            </a:r>
            <a:endParaRPr lang="ar-EG" dirty="0" smtClean="0"/>
          </a:p>
          <a:p>
            <a:pPr indent="-457200"/>
            <a:r>
              <a:rPr lang="en-US" dirty="0" smtClean="0"/>
              <a:t>Wrapped </a:t>
            </a:r>
            <a:r>
              <a:rPr lang="en-US" dirty="0"/>
              <a:t>FMU generated by Simulink of the system model inside Gymnasium environment </a:t>
            </a:r>
            <a:endParaRPr lang="ar-E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55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Critic state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58</a:t>
                </a:r>
                <a:endParaRPr lang="en-US" dirty="0" smtClean="0"/>
              </a:p>
              <a:p>
                <a:pPr lvl="1" indent="-457200">
                  <a:buSzPts val="3200"/>
                </a:pPr>
                <a:r>
                  <a:rPr lang="en-US" dirty="0" smtClean="0"/>
                  <a:t>True </a:t>
                </a:r>
                <a:r>
                  <a:rPr lang="en-US" dirty="0"/>
                  <a:t>load state </a:t>
                </a:r>
                <a:r>
                  <a:rPr lang="en-US" dirty="0"/>
                  <a:t>∈ </a:t>
                </a:r>
                <a:r>
                  <a:rPr lang="en-US" dirty="0"/>
                  <a:t>R</a:t>
                </a:r>
                <a:r>
                  <a:rPr lang="en-US" baseline="30000" dirty="0"/>
                  <a:t>18</a:t>
                </a:r>
                <a:r>
                  <a:rPr lang="en-US" dirty="0"/>
                  <a:t> 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/>
                  <a:t>			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L</a:t>
                </a:r>
                <a:r>
                  <a:rPr lang="en-US" dirty="0"/>
                  <a:t>(t</a:t>
                </a:r>
                <a:r>
                  <a:rPr lang="en-US" dirty="0"/>
                  <a:t>), </a:t>
                </a:r>
                <a:r>
                  <a:rPr lang="en-US" dirty="0"/>
                  <a:t>R</a:t>
                </a:r>
                <a:r>
                  <a:rPr lang="en-US" baseline="-25000" dirty="0"/>
                  <a:t>L</a:t>
                </a:r>
                <a:r>
                  <a:rPr lang="en-US" dirty="0"/>
                  <a:t>(t</a:t>
                </a:r>
                <a:r>
                  <a:rPr lang="en-US" dirty="0"/>
                  <a:t>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/>
                  <a:t>L</a:t>
                </a:r>
                <a:r>
                  <a:rPr lang="en-US" dirty="0"/>
                  <a:t>(t</a:t>
                </a:r>
                <a:r>
                  <a:rPr lang="en-US" dirty="0"/>
                  <a:t>),  </a:t>
                </a:r>
                <a:r>
                  <a:rPr lang="en-US" dirty="0" err="1"/>
                  <a:t>ω</a:t>
                </a:r>
                <a:r>
                  <a:rPr lang="en-US" baseline="-25000" dirty="0" err="1"/>
                  <a:t>L</a:t>
                </a:r>
                <a:r>
                  <a:rPr lang="en-US" dirty="0"/>
                  <a:t>(t)]</a:t>
                </a:r>
                <a:endParaRPr lang="en-US" baseline="-25000" dirty="0"/>
              </a:p>
              <a:p>
                <a:pPr lvl="1" indent="-457200">
                  <a:buSzPts val="3200"/>
                </a:pPr>
                <a:r>
                  <a:rPr lang="en-US" dirty="0"/>
                  <a:t>All carriers’ positions ∈ R</a:t>
                </a:r>
                <a:r>
                  <a:rPr lang="en-US" baseline="30000" dirty="0"/>
                  <a:t>12</a:t>
                </a:r>
                <a:r>
                  <a:rPr lang="en-US" dirty="0"/>
                  <a:t> 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 [p</a:t>
                </a:r>
                <a:r>
                  <a:rPr lang="en-US" baseline="-25000" dirty="0"/>
                  <a:t>R1</a:t>
                </a:r>
                <a:r>
                  <a:rPr lang="en-US" dirty="0"/>
                  <a:t>(t), p</a:t>
                </a:r>
                <a:r>
                  <a:rPr lang="en-US" baseline="-25000" dirty="0"/>
                  <a:t>R2</a:t>
                </a:r>
                <a:r>
                  <a:rPr lang="en-US" dirty="0"/>
                  <a:t>(t), p</a:t>
                </a:r>
                <a:r>
                  <a:rPr lang="en-US" baseline="-25000" dirty="0"/>
                  <a:t>R3</a:t>
                </a:r>
                <a:r>
                  <a:rPr lang="en-US" dirty="0"/>
                  <a:t>(t), p</a:t>
                </a:r>
                <a:r>
                  <a:rPr lang="en-US" baseline="-25000" dirty="0"/>
                  <a:t>R4</a:t>
                </a:r>
                <a:r>
                  <a:rPr lang="en-US" dirty="0"/>
                  <a:t>(t</a:t>
                </a:r>
                <a:r>
                  <a:rPr lang="en-US" dirty="0" smtClean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/>
                  <a:t>All carriers’ velocities </a:t>
                </a:r>
                <a:r>
                  <a:rPr lang="en-US" dirty="0"/>
                  <a:t>∈ </a:t>
                </a:r>
                <a:r>
                  <a:rPr lang="en-US" dirty="0"/>
                  <a:t>R</a:t>
                </a:r>
                <a:r>
                  <a:rPr lang="en-US" baseline="30000" dirty="0"/>
                  <a:t>12</a:t>
                </a:r>
                <a:r>
                  <a:rPr lang="en-US" dirty="0"/>
                  <a:t> 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</a:t>
                </a:r>
                <a:r>
                  <a:rPr lang="en-US" dirty="0"/>
                  <a:t> 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  <m:r>
                      <m:rPr>
                        <m:nor/>
                      </m:rPr>
                      <a:rPr lang="en-US" baseline="-25000"/>
                      <m:t>1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  <m:r>
                      <m:rPr>
                        <m:nor/>
                      </m:rPr>
                      <a:rPr lang="en-US" baseline="-25000"/>
                      <m:t>2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),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  <m:r>
                      <m:rPr>
                        <m:nor/>
                      </m:rPr>
                      <a:rPr lang="en-US" baseline="-25000"/>
                      <m:t>3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),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  <m:r>
                      <m:rPr>
                        <m:nor/>
                      </m:rPr>
                      <a:rPr lang="en-US" baseline="-25000"/>
                      <m:t>4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 smtClean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Expert-generated carrier position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12</a:t>
                </a:r>
                <a:r>
                  <a:rPr lang="en-US" dirty="0" smtClean="0"/>
                  <a:t> 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</a:t>
                </a:r>
                <a:r>
                  <a:rPr lang="en-US" dirty="0"/>
                  <a:t>[</a:t>
                </a:r>
                <a:r>
                  <a:rPr lang="en-US" dirty="0" smtClean="0"/>
                  <a:t>p</a:t>
                </a:r>
                <a:r>
                  <a:rPr lang="en-US" baseline="-25000" dirty="0" smtClean="0"/>
                  <a:t>Re1</a:t>
                </a:r>
                <a:r>
                  <a:rPr lang="en-US" dirty="0" smtClean="0"/>
                  <a:t>(t</a:t>
                </a:r>
                <a:r>
                  <a:rPr lang="en-US" dirty="0"/>
                  <a:t>), </a:t>
                </a:r>
                <a:r>
                  <a:rPr lang="en-US" dirty="0" smtClean="0"/>
                  <a:t>p</a:t>
                </a:r>
                <a:r>
                  <a:rPr lang="en-US" baseline="-25000" dirty="0" smtClean="0"/>
                  <a:t>Re2</a:t>
                </a:r>
                <a:r>
                  <a:rPr lang="en-US" dirty="0" smtClean="0"/>
                  <a:t>(t</a:t>
                </a:r>
                <a:r>
                  <a:rPr lang="en-US" dirty="0"/>
                  <a:t>), </a:t>
                </a:r>
                <a:r>
                  <a:rPr lang="en-US" dirty="0" smtClean="0"/>
                  <a:t>p</a:t>
                </a:r>
                <a:r>
                  <a:rPr lang="en-US" baseline="-25000" dirty="0" smtClean="0"/>
                  <a:t>Re3</a:t>
                </a:r>
                <a:r>
                  <a:rPr lang="en-US" dirty="0" smtClean="0"/>
                  <a:t>(t</a:t>
                </a:r>
                <a:r>
                  <a:rPr lang="en-US" dirty="0"/>
                  <a:t>), </a:t>
                </a:r>
                <a:r>
                  <a:rPr lang="en-US" dirty="0" smtClean="0"/>
                  <a:t>p</a:t>
                </a:r>
                <a:r>
                  <a:rPr lang="en-US" baseline="-25000" dirty="0" smtClean="0"/>
                  <a:t>Re4</a:t>
                </a:r>
                <a:r>
                  <a:rPr lang="en-US" dirty="0" smtClean="0"/>
                  <a:t>(t</a:t>
                </a:r>
                <a:r>
                  <a:rPr lang="en-US" dirty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Delay of each carrier load measurement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/>
                  <a:t>4</a:t>
                </a:r>
                <a:endParaRPr lang="en-US" dirty="0" smtClean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[d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,d</a:t>
                </a:r>
                <a:r>
                  <a:rPr lang="en-US" baseline="-25000" dirty="0" smtClean="0"/>
                  <a:t>2</a:t>
                </a:r>
                <a:r>
                  <a:rPr lang="en-US" dirty="0" smtClean="0"/>
                  <a:t>,d</a:t>
                </a:r>
                <a:r>
                  <a:rPr lang="en-US" baseline="-25000" dirty="0" smtClean="0"/>
                  <a:t>3</a:t>
                </a:r>
                <a:r>
                  <a:rPr lang="en-US" dirty="0" smtClean="0"/>
                  <a:t>,d</a:t>
                </a:r>
                <a:r>
                  <a:rPr lang="en-US" baseline="-25000" dirty="0" smtClean="0"/>
                  <a:t>4</a:t>
                </a:r>
                <a:r>
                  <a:rPr lang="en-US" dirty="0" smtClean="0"/>
                  <a:t>]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r>
                  <a:rPr lang="en-US" dirty="0" smtClean="0"/>
                  <a:t>Delays are added to critic state </a:t>
                </a:r>
                <a:r>
                  <a:rPr lang="en-US" dirty="0"/>
                  <a:t>since they can make the </a:t>
                </a:r>
                <a:r>
                  <a:rPr lang="en-US" dirty="0" smtClean="0"/>
                  <a:t>state </a:t>
                </a:r>
                <a:r>
                  <a:rPr lang="en-US" dirty="0"/>
                  <a:t>harder or easier, thus changing the expected reward, giving it to the critic helps making the advantage function more </a:t>
                </a:r>
                <a:r>
                  <a:rPr lang="en-US" dirty="0" smtClean="0"/>
                  <a:t>accurate</a:t>
                </a:r>
                <a:r>
                  <a:rPr lang="en-US" dirty="0"/>
                  <a:t>.</a:t>
                </a:r>
                <a:endParaRPr lang="en-US" dirty="0">
                  <a:effectLst/>
                </a:endParaRPr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blipFill rotWithShape="0">
                <a:blip r:embed="rId3"/>
                <a:stretch>
                  <a:fillRect l="-1231" t="-1384" b="-1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34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Reward function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Design Methodology: Start simple and add terms by observing failure modes</a:t>
                </a:r>
              </a:p>
              <a:p>
                <a:pPr lvl="1" indent="-457200">
                  <a:buSzPts val="3200"/>
                </a:pPr>
                <a:r>
                  <a:rPr lang="en-US" dirty="0"/>
                  <a:t>Per drone reward is:</a:t>
                </a:r>
              </a:p>
              <a:p>
                <a:pPr lvl="1" indent="-457200">
                  <a:buSzPts val="3200"/>
                </a:pPr>
                <a:endParaRPr lang="en-US" dirty="0"/>
              </a:p>
              <a:p>
                <a:pPr marL="457200" lvl="1" indent="0"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𝑚𝑎𝑛𝑖𝑓𝑜𝑙𝑑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𝑠𝑡𝑎𝑙𝑙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𝑠𝑡𝑎𝑙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𝑜𝑣𝑒𝑟𝑠𝑝𝑒𝑒𝑑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𝑜𝑣𝑒𝑟𝑠𝑝𝑒𝑒</m:t>
                          </m:r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𝑜𝑣𝑒𝑟𝑠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𝑜𝑜𝑡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𝑜𝑣𝑒𝑟𝑠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𝑜𝑜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 indent="-457200">
                  <a:buSzPts val="3200"/>
                </a:pPr>
                <a:endParaRPr lang="en-US" dirty="0" smtClean="0"/>
              </a:p>
              <a:p>
                <a:pPr lvl="1" indent="-457200">
                  <a:buSzPts val="3200"/>
                </a:pPr>
                <a:r>
                  <a:rPr lang="en-US" dirty="0" smtClean="0"/>
                  <a:t>Team reward:</a:t>
                </a:r>
              </a:p>
              <a:p>
                <a:pPr lvl="1" indent="-457200">
                  <a:buSzPts val="3200"/>
                </a:pPr>
                <a:endParaRPr lang="en-US" dirty="0" smtClean="0"/>
              </a:p>
              <a:p>
                <a:pPr marL="508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/>
                          </m:ctrlPr>
                        </m:sSubPr>
                        <m:e>
                          <m:r>
                            <a:rPr lang="en-US" sz="2000" i="1"/>
                            <m:t>𝑅</m:t>
                          </m:r>
                        </m:e>
                        <m:sub>
                          <m:r>
                            <a:rPr lang="en-US" sz="2000" i="1"/>
                            <m:t>𝑡𝑒𝑎𝑚</m:t>
                          </m:r>
                        </m:sub>
                      </m:sSub>
                      <m:r>
                        <a:rPr lang="en-US" sz="2000" i="1"/>
                        <m:t>= </m:t>
                      </m:r>
                      <m:nary>
                        <m:naryPr>
                          <m:chr m:val="∑"/>
                          <m:ctrlPr>
                            <a:rPr lang="en-US" sz="2000" i="1"/>
                          </m:ctrlPr>
                        </m:naryPr>
                        <m:sub>
                          <m:r>
                            <a:rPr lang="en-US" sz="2000" i="1"/>
                            <m:t>𝑖</m:t>
                          </m:r>
                          <m:r>
                            <a:rPr lang="en-US" sz="2000" i="1"/>
                            <m:t>=</m:t>
                          </m:r>
                          <m:r>
                            <a:rPr lang="en-US" sz="2000" i="1"/>
                            <m:t>1</m:t>
                          </m:r>
                        </m:sub>
                        <m:sup>
                          <m:r>
                            <a:rPr lang="en-US" sz="2000" i="1"/>
                            <m:t>𝑁</m:t>
                          </m:r>
                        </m:sup>
                        <m:e>
                          <m:r>
                            <a:rPr lang="en-US" sz="2000" i="1"/>
                            <m:t>𝑟𝑖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blipFill rotWithShape="0">
                <a:blip r:embed="rId3"/>
                <a:stretch>
                  <a:fillRect l="-1231" t="-1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21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1886938"/>
                <a:ext cx="11385933" cy="4971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SzPts val="3200"/>
                </a:pPr>
                <a:r>
                  <a:rPr lang="en-US" sz="1800" dirty="0" smtClean="0"/>
                  <a:t>Reward function terms breakdown:</a:t>
                </a:r>
                <a:endParaRPr lang="en-US" sz="800" dirty="0"/>
              </a:p>
              <a:p>
                <a:pPr marL="457200" lvl="1" indent="0"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𝑚𝑎𝑛𝑖𝑓𝑜𝑙𝑑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𝑠𝑡𝑎𝑙𝑙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𝑠𝑡𝑎𝑙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𝑜𝑣𝑒𝑟𝑠𝑝𝑒𝑒𝑑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𝑜𝑣𝑒𝑟𝑠𝑝𝑒𝑒</m:t>
                          </m:r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𝑜𝑣𝑒𝑟𝑠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𝑜𝑜𝑡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𝑜𝑣𝑒𝑟𝑠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𝑜𝑜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r>
                  <a:rPr lang="en-US" sz="1400" b="1" dirty="0" smtClean="0">
                    <a:solidFill>
                      <a:srgbClr val="C00000"/>
                    </a:solidFill>
                    <a:latin typeface="Calibri"/>
                  </a:rPr>
                  <a:t>Truncation </a:t>
                </a:r>
                <a:r>
                  <a:rPr lang="en-US" sz="1400" b="1" dirty="0">
                    <a:solidFill>
                      <a:srgbClr val="C00000"/>
                    </a:solidFill>
                    <a:latin typeface="Calibri"/>
                  </a:rPr>
                  <a:t>Condition: </a:t>
                </a:r>
                <a:r>
                  <a:rPr lang="en-US" sz="1400" dirty="0">
                    <a:solidFill>
                      <a:srgbClr val="262626"/>
                    </a:solidFill>
                    <a:latin typeface="Calibri"/>
                  </a:rPr>
                  <a:t>A one-shot penalty of −100 is triggered on a guard-truncated step if speed exceeds </a:t>
                </a:r>
                <a:r>
                  <a:rPr lang="en-US" sz="1400" dirty="0" err="1" smtClean="0">
                    <a:solidFill>
                      <a:srgbClr val="262626"/>
                    </a:solidFill>
                    <a:latin typeface="Calibri"/>
                  </a:rPr>
                  <a:t>v</a:t>
                </a:r>
                <a:r>
                  <a:rPr lang="en-US" sz="1400" baseline="-25000" dirty="0" err="1" smtClean="0">
                    <a:solidFill>
                      <a:srgbClr val="262626"/>
                    </a:solidFill>
                    <a:latin typeface="Calibri"/>
                  </a:rPr>
                  <a:t>blowup</a:t>
                </a:r>
                <a:r>
                  <a:rPr lang="en-US" sz="1400" dirty="0" smtClean="0">
                    <a:solidFill>
                      <a:srgbClr val="262626"/>
                    </a:solidFill>
                    <a:latin typeface="Calibri"/>
                  </a:rPr>
                  <a:t> </a:t>
                </a:r>
                <a:r>
                  <a:rPr lang="en-US" sz="1400" dirty="0">
                    <a:solidFill>
                      <a:srgbClr val="262626"/>
                    </a:solidFill>
                    <a:latin typeface="Calibri"/>
                  </a:rPr>
                  <a:t>= 100</a:t>
                </a:r>
                <a:r>
                  <a:rPr lang="en-US" sz="1400" dirty="0" smtClean="0">
                    <a:solidFill>
                      <a:srgbClr val="262626"/>
                    </a:solidFill>
                    <a:latin typeface="Calibri"/>
                  </a:rPr>
                  <a:t>.</a:t>
                </a: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1886938"/>
                <a:ext cx="11385933" cy="4971062"/>
              </a:xfrm>
              <a:prstGeom prst="rect">
                <a:avLst/>
              </a:prstGeom>
              <a:blipFill rotWithShape="0">
                <a:blip r:embed="rId3"/>
                <a:stretch>
                  <a:fillRect l="-1231" t="-24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9282043"/>
                  </p:ext>
                </p:extLst>
              </p:nvPr>
            </p:nvGraphicFramePr>
            <p:xfrm>
              <a:off x="614788" y="2733473"/>
              <a:ext cx="10728655" cy="369261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86000"/>
                    <a:gridCol w="4572000"/>
                    <a:gridCol w="3870655"/>
                  </a:tblGrid>
                  <a:tr h="282102"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sz="1400" dirty="0">
                              <a:solidFill>
                                <a:schemeClr val="tx1"/>
                              </a:solidFill>
                            </a:rPr>
                            <a:t>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sz="1400" dirty="0">
                              <a:solidFill>
                                <a:schemeClr val="tx1"/>
                              </a:solidFill>
                            </a:rPr>
                            <a:t>Expression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>
                              <a:solidFill>
                                <a:schemeClr val="tx1"/>
                              </a:solidFill>
                            </a:rPr>
                            <a:t>Role</a:t>
                          </a:r>
                        </a:p>
                      </a:txBody>
                      <a:tcPr/>
                    </a:tc>
                  </a:tr>
                  <a:tr h="379379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manifold (</a:t>
                          </a:r>
                          <a:r>
                            <a:rPr sz="1400" dirty="0" smtClean="0"/>
                            <a:t>d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sz="1400" baseline="30000" dirty="0" smtClean="0"/>
                            <a:t>2</a:t>
                          </a:r>
                          <a:r>
                            <a:rPr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‖</a:t>
                          </a:r>
                          <a:r>
                            <a:rPr sz="1400" dirty="0" err="1" smtClean="0"/>
                            <a:t>p</a:t>
                          </a:r>
                          <a:r>
                            <a:rPr sz="1400" baseline="-25000" dirty="0" err="1" smtClean="0"/>
                            <a:t>expert,i</a:t>
                          </a:r>
                          <a:r>
                            <a:rPr sz="1400" dirty="0" smtClean="0"/>
                            <a:t>(t</a:t>
                          </a:r>
                          <a:r>
                            <a:rPr sz="1400" dirty="0"/>
                            <a:t>) − </a:t>
                          </a:r>
                          <a:r>
                            <a:rPr sz="1400" dirty="0" smtClean="0"/>
                            <a:t>p</a:t>
                          </a:r>
                          <a:r>
                            <a:rPr sz="1400" baseline="-25000" dirty="0" smtClean="0"/>
                            <a:t>i</a:t>
                          </a:r>
                          <a:r>
                            <a:rPr lang="en-US" sz="1400" baseline="0" dirty="0" smtClean="0"/>
                            <a:t>(t)</a:t>
                          </a:r>
                          <a:r>
                            <a:rPr sz="1400" dirty="0" smtClean="0"/>
                            <a:t>‖²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Stay on the expert loiter </a:t>
                          </a:r>
                          <a:r>
                            <a:rPr sz="1400" dirty="0" smtClean="0"/>
                            <a:t>loop</a:t>
                          </a:r>
                          <a:r>
                            <a:rPr lang="en-US" sz="1400" dirty="0" smtClean="0"/>
                            <a:t> (generated</a:t>
                          </a:r>
                          <a:r>
                            <a:rPr lang="en-US" sz="1400" baseline="0" dirty="0" smtClean="0"/>
                            <a:t> from ground truth states</a:t>
                          </a:r>
                          <a:r>
                            <a:rPr lang="en-US" sz="1400" dirty="0" smtClean="0"/>
                            <a:t>). The goal</a:t>
                          </a:r>
                          <a:r>
                            <a:rPr lang="en-US" sz="1400" baseline="0" dirty="0" smtClean="0"/>
                            <a:t> is not to follow it exactly, but to learn the underlying orbiting behavior in general.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44749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err="1" smtClean="0"/>
                            <a:t>stall</a:t>
                          </a:r>
                          <a:r>
                            <a:rPr lang="en-US" sz="1400" i="1" baseline="-25000" dirty="0" err="1" smtClean="0"/>
                            <a:t>i</a:t>
                          </a:r>
                          <a:endParaRPr sz="1400" i="1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Graced hinge below cruise floor: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d² + 1.0 · d, where d = max(0, (ε + margin) − ‖</a:t>
                          </a:r>
                          <a:r>
                            <a:rPr sz="1400" dirty="0" smtClean="0"/>
                            <a:t>v</a:t>
                          </a:r>
                          <a:r>
                            <a:rPr sz="1400" baseline="-25000" dirty="0" smtClean="0"/>
                            <a:t>i</a:t>
                          </a:r>
                          <a:r>
                            <a:rPr sz="1400" dirty="0" smtClean="0"/>
                            <a:t>‖)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Fixed-wing stall floor (prevents airspeed drop)</a:t>
                          </a:r>
                        </a:p>
                      </a:txBody>
                      <a:tcPr/>
                    </a:tc>
                  </a:tr>
                  <a:tr h="379379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load </a:t>
                          </a:r>
                          <a:r>
                            <a:rPr sz="1400" dirty="0" smtClean="0"/>
                            <a:t>track</a:t>
                          </a:r>
                          <a:r>
                            <a:rPr lang="en-US" sz="1400" dirty="0" smtClean="0"/>
                            <a:t>ing</a:t>
                          </a:r>
                          <a:r>
                            <a:rPr lang="en-US" sz="140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‖</a:t>
                          </a:r>
                          <a:r>
                            <a:rPr sz="1400" dirty="0" smtClean="0"/>
                            <a:t>e</a:t>
                          </a:r>
                          <a:r>
                            <a:rPr lang="en-US" sz="1400" baseline="-25000" dirty="0" smtClean="0"/>
                            <a:t>L</a:t>
                          </a:r>
                          <a:r>
                            <a:rPr sz="1400" dirty="0" smtClean="0"/>
                            <a:t>‖²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Keep the load on </a:t>
                          </a:r>
                          <a:r>
                            <a:rPr sz="1400" dirty="0" smtClean="0"/>
                            <a:t>reference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73931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smtClean="0"/>
                            <a:t>overspeed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lang="en-US" sz="1400" baseline="30000" dirty="0" smtClean="0"/>
                            <a:t>2</a:t>
                          </a:r>
                          <a:endParaRPr sz="14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smtClean="0"/>
                            <a:t>min(over² </a:t>
                          </a:r>
                          <a:r>
                            <a:rPr sz="1400" dirty="0"/>
                            <a:t>+ 2 · over, 75</a:t>
                          </a:r>
                          <a:r>
                            <a:rPr sz="1400" dirty="0" smtClean="0"/>
                            <a:t>)</a:t>
                          </a:r>
                          <a:endParaRPr lang="en-US" sz="1400" dirty="0" smtClean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where over = max(0.0, v</a:t>
                          </a:r>
                          <a:r>
                            <a:rPr lang="en-US" sz="1400" baseline="-25000" dirty="0" smtClean="0"/>
                            <a:t>i </a:t>
                          </a:r>
                          <a:r>
                            <a:rPr lang="en-US" sz="1400" dirty="0" smtClean="0"/>
                            <a:t>− </a:t>
                          </a:r>
                          <a:r>
                            <a:rPr lang="en-US" sz="1400" dirty="0" err="1" smtClean="0"/>
                            <a:t>overspeed_v</a:t>
                          </a:r>
                          <a:r>
                            <a:rPr lang="en-US" sz="1400" dirty="0" smtClean="0"/>
                            <a:t>)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Prevent carrier from speeding up unnecessarily.</a:t>
                          </a:r>
                          <a:r>
                            <a:rPr lang="en-US" sz="1400" baseline="0" dirty="0" smtClean="0"/>
                            <a:t> </a:t>
                          </a:r>
                          <a:r>
                            <a:rPr lang="en-US" sz="1400" dirty="0" smtClean="0"/>
                            <a:t>B</a:t>
                          </a:r>
                          <a:r>
                            <a:rPr sz="1400" dirty="0" smtClean="0"/>
                            <a:t>lowup guardrail</a:t>
                          </a:r>
                          <a:r>
                            <a:rPr lang="en-US" sz="1400" dirty="0" smtClean="0"/>
                            <a:t>.</a:t>
                          </a:r>
                          <a:r>
                            <a:rPr lang="en-US" sz="1400" baseline="0" dirty="0" smtClean="0"/>
                            <a:t> 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62258">
                    <a:tc>
                      <a:txBody>
                        <a:bodyPr/>
                        <a:lstStyle/>
                        <a:p>
                          <a:pPr rtl="0"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err="1" smtClean="0"/>
                            <a:t>overshoot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endParaRPr sz="14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min(over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lang="en-US" sz="1400" dirty="0" smtClean="0"/>
                            <a:t>² + 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,9)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where 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= max(0, sat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− 1)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and sat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= ‖</a:t>
                          </a:r>
                          <a:r>
                            <a:rPr lang="el-GR" sz="1400" u="none" dirty="0" smtClean="0"/>
                            <a:t>δ</a:t>
                          </a:r>
                          <a:r>
                            <a:rPr lang="el-GR" sz="1400" dirty="0" smtClean="0"/>
                            <a:t>λ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dirty="0" smtClean="0"/>
                            <a:t>‖₂ / (</a:t>
                          </a:r>
                          <a:r>
                            <a:rPr lang="el-GR" sz="1400" dirty="0" smtClean="0"/>
                            <a:t>κ</a:t>
                          </a:r>
                          <a:r>
                            <a:rPr lang="el-GR" sz="1400" baseline="-25000" dirty="0" smtClean="0"/>
                            <a:t>λ</a:t>
                          </a:r>
                          <a:r>
                            <a:rPr lang="el-GR" sz="1400" dirty="0" smtClean="0"/>
                            <a:t> · ‖λ</a:t>
                          </a:r>
                          <a:r>
                            <a:rPr lang="en-US" sz="1400" baseline="-25000" dirty="0" err="1" smtClean="0"/>
                            <a:t>i,base</a:t>
                          </a:r>
                          <a:r>
                            <a:rPr lang="en-US" sz="1400" dirty="0" smtClean="0"/>
                            <a:t>‖₂) 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l-GR" sz="1400" dirty="0" smtClean="0"/>
                            <a:t>κ</a:t>
                          </a:r>
                          <a:r>
                            <a:rPr lang="el-GR" sz="1400" baseline="-25000" dirty="0" smtClean="0"/>
                            <a:t>λ</a:t>
                          </a:r>
                          <a:r>
                            <a:rPr lang="en-US" sz="1400" dirty="0" smtClean="0"/>
                            <a:t>:</a:t>
                          </a:r>
                          <a:r>
                            <a:rPr lang="en-US" sz="1400" baseline="0" dirty="0" smtClean="0"/>
                            <a:t> the allowable fraction of the base controller magnitude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Prevents the policy</a:t>
                          </a:r>
                          <a:r>
                            <a:rPr lang="en-US" sz="1400" baseline="0" dirty="0" smtClean="0"/>
                            <a:t> from taking actions above the allowed </a:t>
                          </a:r>
                          <a:r>
                            <a:rPr lang="en-US" sz="1400" baseline="0" dirty="0" smtClean="0"/>
                            <a:t>fraction of the base controller magnitude (dead gradient, no learning). The cap prevents the policy from taking overly aggressive actions.</a:t>
                          </a:r>
                          <a:endParaRPr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9282043"/>
                  </p:ext>
                </p:extLst>
              </p:nvPr>
            </p:nvGraphicFramePr>
            <p:xfrm>
              <a:off x="614788" y="2733473"/>
              <a:ext cx="10728655" cy="369261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86000"/>
                    <a:gridCol w="4572000"/>
                    <a:gridCol w="3870655"/>
                  </a:tblGrid>
                  <a:tr h="304800"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sz="1400" dirty="0">
                              <a:solidFill>
                                <a:schemeClr val="tx1"/>
                              </a:solidFill>
                            </a:rPr>
                            <a:t>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sz="1400" dirty="0">
                              <a:solidFill>
                                <a:schemeClr val="tx1"/>
                              </a:solidFill>
                            </a:rPr>
                            <a:t>Expression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>
                              <a:solidFill>
                                <a:schemeClr val="tx1"/>
                              </a:solidFill>
                            </a:rPr>
                            <a:t>Role</a:t>
                          </a:r>
                        </a:p>
                      </a:txBody>
                      <a:tcPr/>
                    </a:tc>
                  </a:tr>
                  <a:tr h="944880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manifold (</a:t>
                          </a:r>
                          <a:r>
                            <a:rPr sz="1400" dirty="0" smtClean="0"/>
                            <a:t>d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sz="1400" baseline="30000" dirty="0" smtClean="0"/>
                            <a:t>2</a:t>
                          </a:r>
                          <a:r>
                            <a:rPr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‖</a:t>
                          </a:r>
                          <a:r>
                            <a:rPr sz="1400" dirty="0" err="1" smtClean="0"/>
                            <a:t>p</a:t>
                          </a:r>
                          <a:r>
                            <a:rPr sz="1400" baseline="-25000" dirty="0" err="1" smtClean="0"/>
                            <a:t>expert,i</a:t>
                          </a:r>
                          <a:r>
                            <a:rPr sz="1400" dirty="0" smtClean="0"/>
                            <a:t>(t</a:t>
                          </a:r>
                          <a:r>
                            <a:rPr sz="1400" dirty="0"/>
                            <a:t>) − </a:t>
                          </a:r>
                          <a:r>
                            <a:rPr sz="1400" dirty="0" smtClean="0"/>
                            <a:t>p</a:t>
                          </a:r>
                          <a:r>
                            <a:rPr sz="1400" baseline="-25000" dirty="0" smtClean="0"/>
                            <a:t>i</a:t>
                          </a:r>
                          <a:r>
                            <a:rPr lang="en-US" sz="1400" baseline="0" dirty="0" smtClean="0"/>
                            <a:t>(t)</a:t>
                          </a:r>
                          <a:r>
                            <a:rPr sz="1400" dirty="0" smtClean="0"/>
                            <a:t>‖²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Stay on the expert loiter </a:t>
                          </a:r>
                          <a:r>
                            <a:rPr sz="1400" dirty="0" smtClean="0"/>
                            <a:t>loop</a:t>
                          </a:r>
                          <a:r>
                            <a:rPr lang="en-US" sz="1400" dirty="0" smtClean="0"/>
                            <a:t> (generated</a:t>
                          </a:r>
                          <a:r>
                            <a:rPr lang="en-US" sz="1400" baseline="0" dirty="0" smtClean="0"/>
                            <a:t> from ground truth states</a:t>
                          </a:r>
                          <a:r>
                            <a:rPr lang="en-US" sz="1400" dirty="0" smtClean="0"/>
                            <a:t>). The goal</a:t>
                          </a:r>
                          <a:r>
                            <a:rPr lang="en-US" sz="1400" baseline="0" dirty="0" smtClean="0"/>
                            <a:t> is not to follow it exactly, but to learn the underlying orbiting behavior in general.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44749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err="1" smtClean="0"/>
                            <a:t>stall</a:t>
                          </a:r>
                          <a:r>
                            <a:rPr lang="en-US" sz="1400" i="1" baseline="-25000" dirty="0" err="1" smtClean="0"/>
                            <a:t>i</a:t>
                          </a:r>
                          <a:endParaRPr sz="1400" i="1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Graced hinge below cruise floor: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d² + 1.0 · d, where d = max(0, (ε + margin) − ‖</a:t>
                          </a:r>
                          <a:r>
                            <a:rPr sz="1400" dirty="0" smtClean="0"/>
                            <a:t>v</a:t>
                          </a:r>
                          <a:r>
                            <a:rPr sz="1400" baseline="-25000" dirty="0" smtClean="0"/>
                            <a:t>i</a:t>
                          </a:r>
                          <a:r>
                            <a:rPr sz="1400" dirty="0" smtClean="0"/>
                            <a:t>‖)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Fixed-wing stall floor (prevents airspeed drop)</a:t>
                          </a:r>
                        </a:p>
                      </a:txBody>
                      <a:tcPr/>
                    </a:tc>
                  </a:tr>
                  <a:tr h="3793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67" t="-477419" r="-370133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‖</a:t>
                          </a:r>
                          <a:r>
                            <a:rPr sz="1400" dirty="0" smtClean="0"/>
                            <a:t>e</a:t>
                          </a:r>
                          <a:r>
                            <a:rPr lang="en-US" sz="1400" baseline="-25000" dirty="0" smtClean="0"/>
                            <a:t>L</a:t>
                          </a:r>
                          <a:r>
                            <a:rPr sz="1400" dirty="0" smtClean="0"/>
                            <a:t>‖²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Keep the load on </a:t>
                          </a:r>
                          <a:r>
                            <a:rPr sz="1400" dirty="0" smtClean="0"/>
                            <a:t>reference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73931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smtClean="0"/>
                            <a:t>overspeed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lang="en-US" sz="1400" baseline="30000" dirty="0" smtClean="0"/>
                            <a:t>2</a:t>
                          </a:r>
                          <a:endParaRPr sz="14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smtClean="0"/>
                            <a:t>min(over² </a:t>
                          </a:r>
                          <a:r>
                            <a:rPr sz="1400" dirty="0"/>
                            <a:t>+ 2 · over, 75</a:t>
                          </a:r>
                          <a:r>
                            <a:rPr sz="1400" dirty="0" smtClean="0"/>
                            <a:t>)</a:t>
                          </a:r>
                          <a:endParaRPr lang="en-US" sz="1400" dirty="0" smtClean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where over = max(0.0, v</a:t>
                          </a:r>
                          <a:r>
                            <a:rPr lang="en-US" sz="1400" baseline="-25000" dirty="0" smtClean="0"/>
                            <a:t>i </a:t>
                          </a:r>
                          <a:r>
                            <a:rPr lang="en-US" sz="1400" dirty="0" smtClean="0"/>
                            <a:t>− </a:t>
                          </a:r>
                          <a:r>
                            <a:rPr lang="en-US" sz="1400" dirty="0" err="1" smtClean="0"/>
                            <a:t>overspeed_v</a:t>
                          </a:r>
                          <a:r>
                            <a:rPr lang="en-US" sz="1400" dirty="0" smtClean="0"/>
                            <a:t>)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Prevent carrier from speeding up unnecessarily.</a:t>
                          </a:r>
                          <a:r>
                            <a:rPr lang="en-US" sz="1400" baseline="0" dirty="0" smtClean="0"/>
                            <a:t> </a:t>
                          </a:r>
                          <a:r>
                            <a:rPr lang="en-US" sz="1400" dirty="0" smtClean="0"/>
                            <a:t>B</a:t>
                          </a:r>
                          <a:r>
                            <a:rPr sz="1400" dirty="0" smtClean="0"/>
                            <a:t>lowup guardrail</a:t>
                          </a:r>
                          <a:r>
                            <a:rPr lang="en-US" sz="1400" dirty="0" smtClean="0"/>
                            <a:t>.</a:t>
                          </a:r>
                          <a:r>
                            <a:rPr lang="en-US" sz="1400" baseline="0" dirty="0" smtClean="0"/>
                            <a:t> 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944880">
                    <a:tc>
                      <a:txBody>
                        <a:bodyPr/>
                        <a:lstStyle/>
                        <a:p>
                          <a:pPr rtl="0"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err="1" smtClean="0"/>
                            <a:t>overshoot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endParaRPr sz="14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min(over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lang="en-US" sz="1400" dirty="0" smtClean="0"/>
                            <a:t>² + 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,9)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where 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= max(0, sat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− 1)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and sat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= ‖</a:t>
                          </a:r>
                          <a:r>
                            <a:rPr lang="el-GR" sz="1400" u="none" dirty="0" smtClean="0"/>
                            <a:t>δ</a:t>
                          </a:r>
                          <a:r>
                            <a:rPr lang="el-GR" sz="1400" dirty="0" smtClean="0"/>
                            <a:t>λ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dirty="0" smtClean="0"/>
                            <a:t>‖₂ / (</a:t>
                          </a:r>
                          <a:r>
                            <a:rPr lang="el-GR" sz="1400" dirty="0" smtClean="0"/>
                            <a:t>κ</a:t>
                          </a:r>
                          <a:r>
                            <a:rPr lang="el-GR" sz="1400" baseline="-25000" dirty="0" smtClean="0"/>
                            <a:t>λ</a:t>
                          </a:r>
                          <a:r>
                            <a:rPr lang="el-GR" sz="1400" dirty="0" smtClean="0"/>
                            <a:t> · ‖λ</a:t>
                          </a:r>
                          <a:r>
                            <a:rPr lang="en-US" sz="1400" baseline="-25000" dirty="0" err="1" smtClean="0"/>
                            <a:t>i,base</a:t>
                          </a:r>
                          <a:r>
                            <a:rPr lang="en-US" sz="1400" dirty="0" smtClean="0"/>
                            <a:t>‖₂) 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l-GR" sz="1400" dirty="0" smtClean="0"/>
                            <a:t>κ</a:t>
                          </a:r>
                          <a:r>
                            <a:rPr lang="el-GR" sz="1400" baseline="-25000" dirty="0" smtClean="0"/>
                            <a:t>λ</a:t>
                          </a:r>
                          <a:r>
                            <a:rPr lang="en-US" sz="1400" dirty="0" smtClean="0"/>
                            <a:t>:</a:t>
                          </a:r>
                          <a:r>
                            <a:rPr lang="en-US" sz="1400" baseline="0" dirty="0" smtClean="0"/>
                            <a:t> the allowable fraction of the base controller magnitude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Prevents the policy</a:t>
                          </a:r>
                          <a:r>
                            <a:rPr lang="en-US" sz="1400" baseline="0" dirty="0" smtClean="0"/>
                            <a:t> from taking actions above the allowed </a:t>
                          </a:r>
                          <a:r>
                            <a:rPr lang="en-US" sz="1400" baseline="0" dirty="0" smtClean="0"/>
                            <a:t>fraction of the base controller magnitude (dead gradient, no learning). The cap prevents the policy from taking overly aggressive actions.</a:t>
                          </a:r>
                          <a:endParaRPr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187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or 2"/>
          <p:cNvCxnSpPr/>
          <p:nvPr/>
        </p:nvCxnSpPr>
        <p:spPr>
          <a:xfrm>
            <a:off x="8285480" y="1715008"/>
            <a:ext cx="0" cy="237744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8760" y="1647952"/>
            <a:ext cx="7863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 dirty="0">
                <a:solidFill>
                  <a:srgbClr val="000000"/>
                </a:solidFill>
                <a:latin typeface="Calibri"/>
              </a:rPr>
              <a:t>① </a:t>
            </a:r>
            <a:r>
              <a:rPr sz="1050" b="1" i="1" dirty="0" smtClean="0">
                <a:solidFill>
                  <a:srgbClr val="000000"/>
                </a:solidFill>
                <a:latin typeface="Calibri"/>
              </a:rPr>
              <a:t>C</a:t>
            </a:r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ollect</a:t>
            </a:r>
            <a:r>
              <a:rPr sz="1050" b="1" i="1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experience</a:t>
            </a:r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 (multiple episodes)</a:t>
            </a:r>
            <a:endParaRPr sz="1050" b="1" i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22640" y="1668272"/>
            <a:ext cx="3566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 dirty="0">
                <a:solidFill>
                  <a:srgbClr val="000000"/>
                </a:solidFill>
                <a:latin typeface="Calibri"/>
              </a:rPr>
              <a:t>② </a:t>
            </a:r>
            <a:r>
              <a:rPr sz="1050" b="1" i="1" dirty="0" smtClean="0">
                <a:solidFill>
                  <a:srgbClr val="000000"/>
                </a:solidFill>
                <a:latin typeface="Calibri"/>
              </a:rPr>
              <a:t>U</a:t>
            </a:r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pdate Policy</a:t>
            </a:r>
            <a:endParaRPr sz="1050" b="1" i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4480" y="1905000"/>
            <a:ext cx="23317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Calibri"/>
              </a:rPr>
              <a:t>Actor  πθ 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decentralized</a:t>
            </a:r>
          </a:p>
          <a:p>
            <a:pPr algn="ctr"/>
            <a:r>
              <a:rPr sz="850" smtClean="0">
                <a:solidFill>
                  <a:srgbClr val="000000"/>
                </a:solidFill>
                <a:latin typeface="Calibri"/>
              </a:rPr>
              <a:t>obs</a:t>
            </a:r>
            <a:r>
              <a:rPr lang="en-US" sz="850" smtClean="0">
                <a:solidFill>
                  <a:srgbClr val="000000"/>
                </a:solidFill>
                <a:latin typeface="Calibri"/>
              </a:rPr>
              <a:t>ervation</a:t>
            </a:r>
            <a:r>
              <a:rPr sz="85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>
                <a:solidFill>
                  <a:srgbClr val="000000"/>
                </a:solidFill>
                <a:latin typeface="Calibri"/>
              </a:rPr>
              <a:t>→ [dλ4, dw6]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sample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480" y="3042341"/>
            <a:ext cx="23317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Calibri"/>
              </a:rPr>
              <a:t>Critic  </a:t>
            </a:r>
            <a:r>
              <a:rPr sz="1200" b="1" dirty="0" err="1">
                <a:solidFill>
                  <a:srgbClr val="000000"/>
                </a:solidFill>
                <a:latin typeface="Calibri"/>
              </a:rPr>
              <a:t>Vφ</a:t>
            </a:r>
            <a:r>
              <a:rPr sz="1200" b="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privileged state (58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)</a:t>
            </a:r>
            <a:endParaRPr sz="85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→ value 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0600" y="2215896"/>
            <a:ext cx="2514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Calibri"/>
              </a:rPr>
              <a:t>Environment S</a:t>
            </a:r>
            <a:r>
              <a:rPr sz="1200" b="1" dirty="0" smtClean="0">
                <a:solidFill>
                  <a:srgbClr val="000000"/>
                </a:solidFill>
                <a:latin typeface="Calibri"/>
              </a:rPr>
              <a:t>tep</a:t>
            </a:r>
            <a:endParaRPr sz="12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900" dirty="0">
                <a:solidFill>
                  <a:srgbClr val="000000"/>
                </a:solidFill>
                <a:latin typeface="Calibri"/>
              </a:rPr>
              <a:t>per-drone internals</a:t>
            </a:r>
          </a:p>
          <a:p>
            <a:pPr algn="ctr"/>
            <a:r>
              <a:rPr sz="900" dirty="0">
                <a:solidFill>
                  <a:srgbClr val="000000"/>
                </a:solidFill>
                <a:latin typeface="Calibri"/>
              </a:rPr>
              <a:t>(expanded below)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5300" y="2315815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dirty="0">
                <a:solidFill>
                  <a:srgbClr val="000000"/>
                </a:solidFill>
                <a:latin typeface="Calibri"/>
              </a:rPr>
              <a:t>Rollout </a:t>
            </a:r>
            <a:r>
              <a:rPr sz="1150" b="1" dirty="0" smtClean="0">
                <a:solidFill>
                  <a:srgbClr val="000000"/>
                </a:solidFill>
                <a:latin typeface="Calibri"/>
              </a:rPr>
              <a:t>buffer</a:t>
            </a:r>
            <a:r>
              <a:rPr lang="en-US" sz="1150" b="1" dirty="0" smtClean="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ctr"/>
            <a:r>
              <a:rPr sz="850" dirty="0" smtClean="0">
                <a:solidFill>
                  <a:srgbClr val="000000"/>
                </a:solidFill>
                <a:latin typeface="Calibri"/>
              </a:rPr>
              <a:t>obs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ervation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, act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ion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, </a:t>
            </a:r>
            <a:r>
              <a:rPr sz="850" dirty="0" err="1" smtClean="0">
                <a:solidFill>
                  <a:srgbClr val="000000"/>
                </a:solidFill>
                <a:latin typeface="Calibri"/>
              </a:rPr>
              <a:t>logp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 of action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 critic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>
                <a:solidFill>
                  <a:srgbClr val="000000"/>
                </a:solidFill>
                <a:latin typeface="Calibri"/>
              </a:rPr>
              <a:t>state, value,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reward</a:t>
            </a:r>
            <a:endParaRPr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22640" y="3390397"/>
            <a:ext cx="16459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Calibri"/>
              </a:rPr>
              <a:t>GAE</a:t>
            </a:r>
          </a:p>
          <a:p>
            <a:pPr algn="ctr"/>
            <a:r>
              <a:rPr sz="800" dirty="0">
                <a:solidFill>
                  <a:srgbClr val="000000"/>
                </a:solidFill>
                <a:latin typeface="Calibri"/>
              </a:rPr>
              <a:t>per-drone </a:t>
            </a:r>
            <a:r>
              <a:rPr sz="800" dirty="0" smtClean="0">
                <a:solidFill>
                  <a:srgbClr val="000000"/>
                </a:solidFill>
                <a:latin typeface="Calibri"/>
              </a:rPr>
              <a:t>adv</a:t>
            </a:r>
            <a:r>
              <a:rPr lang="en-US" sz="800" dirty="0" smtClean="0">
                <a:solidFill>
                  <a:srgbClr val="000000"/>
                </a:solidFill>
                <a:latin typeface="Calibri"/>
              </a:rPr>
              <a:t>antages</a:t>
            </a:r>
            <a:endParaRPr sz="80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00" dirty="0">
                <a:solidFill>
                  <a:srgbClr val="000000"/>
                </a:solidFill>
                <a:latin typeface="Calibri"/>
              </a:rPr>
              <a:t>+ </a:t>
            </a:r>
            <a:r>
              <a:rPr sz="800" dirty="0" smtClean="0">
                <a:solidFill>
                  <a:srgbClr val="000000"/>
                </a:solidFill>
                <a:latin typeface="Calibri"/>
              </a:rPr>
              <a:t>returns</a:t>
            </a:r>
            <a:r>
              <a:rPr lang="en-US" sz="800" dirty="0" smtClean="0">
                <a:solidFill>
                  <a:srgbClr val="000000"/>
                </a:solidFill>
                <a:latin typeface="Calibri"/>
              </a:rPr>
              <a:t> (returns averaged across drones for critic target)</a:t>
            </a:r>
            <a:endParaRPr sz="80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205720" y="3390397"/>
            <a:ext cx="1600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Calibri"/>
              </a:rPr>
              <a:t>PPO update</a:t>
            </a:r>
          </a:p>
          <a:p>
            <a:pPr algn="ctr"/>
            <a:r>
              <a:rPr lang="en-US" sz="800" dirty="0">
                <a:solidFill>
                  <a:srgbClr val="000000"/>
                </a:solidFill>
                <a:latin typeface="Calibri"/>
              </a:rPr>
              <a:t>8</a:t>
            </a:r>
            <a:r>
              <a:rPr sz="800" dirty="0" smtClean="0">
                <a:solidFill>
                  <a:srgbClr val="000000"/>
                </a:solidFill>
                <a:latin typeface="Calibri"/>
              </a:rPr>
              <a:t> epochs</a:t>
            </a:r>
            <a:endParaRPr lang="en-US" sz="800" dirty="0" smtClean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lang="en-US" sz="800" dirty="0" smtClean="0">
                <a:solidFill>
                  <a:srgbClr val="000000"/>
                </a:solidFill>
                <a:latin typeface="Calibri"/>
              </a:rPr>
              <a:t>r = 0.2</a:t>
            </a:r>
            <a:endParaRPr sz="800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5" name="Connector 11"/>
          <p:cNvCxnSpPr>
            <a:endCxn id="9" idx="3"/>
          </p:cNvCxnSpPr>
          <p:nvPr/>
        </p:nvCxnSpPr>
        <p:spPr>
          <a:xfrm flipH="1">
            <a:off x="2616200" y="2289048"/>
            <a:ext cx="896113" cy="457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24621" y="1886486"/>
            <a:ext cx="978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i="1" dirty="0" smtClean="0">
                <a:solidFill>
                  <a:srgbClr val="000000"/>
                </a:solidFill>
                <a:latin typeface="Calibri"/>
              </a:rPr>
              <a:t>Per carrier observation</a:t>
            </a:r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7" name="Connector 13"/>
          <p:cNvCxnSpPr/>
          <p:nvPr/>
        </p:nvCxnSpPr>
        <p:spPr>
          <a:xfrm>
            <a:off x="2624621" y="2538108"/>
            <a:ext cx="905979" cy="697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46762" y="2352642"/>
            <a:ext cx="1005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000000"/>
                </a:solidFill>
                <a:latin typeface="Calibri"/>
              </a:rPr>
              <a:t>A</a:t>
            </a:r>
            <a:r>
              <a:rPr sz="800" b="0" i="1" dirty="0" smtClean="0">
                <a:solidFill>
                  <a:srgbClr val="000000"/>
                </a:solidFill>
                <a:latin typeface="Calibri"/>
              </a:rPr>
              <a:t>ction</a:t>
            </a:r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9" name="Connector 15"/>
          <p:cNvCxnSpPr/>
          <p:nvPr/>
        </p:nvCxnSpPr>
        <p:spPr>
          <a:xfrm flipH="1">
            <a:off x="2616200" y="3516064"/>
            <a:ext cx="2191391" cy="824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47842" y="3306203"/>
            <a:ext cx="1051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1" dirty="0" smtClean="0">
                <a:solidFill>
                  <a:srgbClr val="000000"/>
                </a:solidFill>
                <a:latin typeface="Calibri"/>
              </a:rPr>
              <a:t>Critic </a:t>
            </a:r>
            <a:r>
              <a:rPr sz="800" b="0" i="1" dirty="0" smtClean="0">
                <a:solidFill>
                  <a:srgbClr val="000000"/>
                </a:solidFill>
                <a:latin typeface="Calibri"/>
              </a:rPr>
              <a:t>state</a:t>
            </a:r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21" name="Connector 17"/>
          <p:cNvCxnSpPr>
            <a:endCxn id="12" idx="1"/>
          </p:cNvCxnSpPr>
          <p:nvPr/>
        </p:nvCxnSpPr>
        <p:spPr>
          <a:xfrm flipV="1">
            <a:off x="6045200" y="2690719"/>
            <a:ext cx="800100" cy="584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9"/>
          <p:cNvCxnSpPr/>
          <p:nvPr/>
        </p:nvCxnSpPr>
        <p:spPr>
          <a:xfrm>
            <a:off x="9245600" y="3065623"/>
            <a:ext cx="0" cy="324774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22440" y="3189229"/>
            <a:ext cx="228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24" name="Connector 21"/>
          <p:cNvCxnSpPr/>
          <p:nvPr/>
        </p:nvCxnSpPr>
        <p:spPr>
          <a:xfrm>
            <a:off x="10068560" y="3811021"/>
            <a:ext cx="1371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656985" y="4392842"/>
            <a:ext cx="9348835" cy="364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3360" y="4506835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1" dirty="0" smtClean="0">
                <a:solidFill>
                  <a:srgbClr val="000000"/>
                </a:solidFill>
                <a:latin typeface="Calibri"/>
              </a:rPr>
              <a:t>Environment </a:t>
            </a:r>
            <a:r>
              <a:rPr sz="1100" b="1" i="1" dirty="0" smtClean="0">
                <a:solidFill>
                  <a:srgbClr val="000000"/>
                </a:solidFill>
                <a:latin typeface="Calibri"/>
              </a:rPr>
              <a:t>step</a:t>
            </a:r>
            <a:endParaRPr sz="1100" b="1" i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3360" y="476693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Calibri"/>
              </a:rPr>
              <a:t>B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ase </a:t>
            </a:r>
            <a:r>
              <a:rPr sz="1100" b="1" dirty="0">
                <a:solidFill>
                  <a:srgbClr val="000000"/>
                </a:solidFill>
                <a:latin typeface="Calibri"/>
              </a:rPr>
              <a:t>controller</a:t>
            </a:r>
          </a:p>
          <a:p>
            <a:pPr algn="ctr"/>
            <a:r>
              <a:rPr sz="850" dirty="0" smtClean="0">
                <a:solidFill>
                  <a:srgbClr val="000000"/>
                </a:solidFill>
                <a:latin typeface="Calibri"/>
              </a:rPr>
              <a:t>→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λ_base</a:t>
            </a:r>
            <a:r>
              <a:rPr sz="850" dirty="0">
                <a:solidFill>
                  <a:srgbClr val="000000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w_d</a:t>
            </a:r>
            <a:endParaRPr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66518" y="476693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Add 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residual</a:t>
            </a:r>
            <a:r>
              <a:rPr lang="en-US" sz="1100" b="1" dirty="0" smtClean="0">
                <a:solidFill>
                  <a:srgbClr val="000000"/>
                </a:solidFill>
                <a:latin typeface="Calibri"/>
              </a:rPr>
              <a:t>/policy action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alibri"/>
              </a:rPr>
              <a:t>+ clip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‖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dλ</a:t>
            </a:r>
            <a:r>
              <a:rPr sz="850" dirty="0">
                <a:solidFill>
                  <a:srgbClr val="000000"/>
                </a:solidFill>
                <a:latin typeface="Calibri"/>
              </a:rPr>
              <a:t>‖ ≤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cap_lam</a:t>
            </a:r>
            <a:r>
              <a:rPr sz="850" dirty="0">
                <a:solidFill>
                  <a:srgbClr val="000000"/>
                </a:solidFill>
                <a:latin typeface="Calibri"/>
              </a:rPr>
              <a:t>·‖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λ_base</a:t>
            </a:r>
            <a:r>
              <a:rPr sz="850" dirty="0">
                <a:solidFill>
                  <a:srgbClr val="000000"/>
                </a:solidFill>
                <a:latin typeface="Calibri"/>
              </a:rPr>
              <a:t>‖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‖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dw</a:t>
            </a:r>
            <a:r>
              <a:rPr sz="850" dirty="0">
                <a:solidFill>
                  <a:srgbClr val="000000"/>
                </a:solidFill>
                <a:latin typeface="Calibri"/>
              </a:rPr>
              <a:t>‖ ≤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cap_w</a:t>
            </a:r>
            <a:r>
              <a:rPr sz="850" dirty="0">
                <a:solidFill>
                  <a:srgbClr val="000000"/>
                </a:solidFill>
                <a:latin typeface="Calibri"/>
              </a:rPr>
              <a:t>·‖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w_d</a:t>
            </a:r>
            <a:r>
              <a:rPr sz="850" dirty="0">
                <a:solidFill>
                  <a:srgbClr val="000000"/>
                </a:solidFill>
                <a:latin typeface="Calibri"/>
              </a:rPr>
              <a:t>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9676" y="476693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Assemble force </a:t>
            </a:r>
            <a:r>
              <a:rPr lang="en-US" sz="1100" b="1" dirty="0" smtClean="0">
                <a:solidFill>
                  <a:srgbClr val="000000"/>
                </a:solidFill>
                <a:latin typeface="Calibri"/>
              </a:rPr>
              <a:t>per carrier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 </a:t>
            </a:r>
            <a:endParaRPr sz="11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f =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f_base</a:t>
            </a:r>
            <a:endParaRPr sz="85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 + G⁺·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dw</a:t>
            </a:r>
            <a:r>
              <a:rPr sz="850" dirty="0">
                <a:solidFill>
                  <a:srgbClr val="000000"/>
                </a:solidFill>
                <a:latin typeface="Calibri"/>
              </a:rPr>
              <a:t>  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 +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N·dλ</a:t>
            </a:r>
            <a:r>
              <a:rPr sz="850" dirty="0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2835" y="476693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FMU plant step</a:t>
            </a:r>
          </a:p>
          <a:p>
            <a:pPr algn="ctr"/>
            <a:r>
              <a:rPr sz="850" dirty="0" err="1">
                <a:solidFill>
                  <a:srgbClr val="000000"/>
                </a:solidFill>
                <a:latin typeface="Calibri"/>
              </a:rPr>
              <a:t>desync</a:t>
            </a:r>
            <a:r>
              <a:rPr sz="850" dirty="0">
                <a:solidFill>
                  <a:srgbClr val="000000"/>
                </a:solidFill>
                <a:latin typeface="Calibri"/>
              </a:rPr>
              <a:t>: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sensor noise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+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delay</a:t>
            </a:r>
            <a:endParaRPr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25993" y="476693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 smtClean="0">
                <a:solidFill>
                  <a:srgbClr val="000000"/>
                </a:solidFill>
                <a:latin typeface="Calibri"/>
              </a:rPr>
              <a:t>Reward</a:t>
            </a:r>
            <a:endParaRPr sz="11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manifold + stall + load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+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overspeed</a:t>
            </a:r>
            <a:endParaRPr sz="85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+ λ-overshoot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79151" y="476693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Next per-drone 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obs</a:t>
            </a:r>
            <a:r>
              <a:rPr lang="en-US" sz="1100" b="1" dirty="0" smtClean="0">
                <a:solidFill>
                  <a:srgbClr val="000000"/>
                </a:solidFill>
                <a:latin typeface="Calibri"/>
              </a:rPr>
              <a:t>ervations</a:t>
            </a:r>
            <a:endParaRPr sz="11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load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est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imate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>
                <a:solidFill>
                  <a:srgbClr val="000000"/>
                </a:solidFill>
                <a:latin typeface="Calibri"/>
              </a:rPr>
              <a:t>+ 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own 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carrier state</a:t>
            </a:r>
            <a:endParaRPr sz="85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+ base 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forces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>
                <a:solidFill>
                  <a:srgbClr val="000000"/>
                </a:solidFill>
                <a:latin typeface="Calibri"/>
              </a:rPr>
              <a:t>+ 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Fourier time </a:t>
            </a:r>
            <a:r>
              <a:rPr lang="en-US" sz="850" dirty="0" err="1" smtClean="0">
                <a:solidFill>
                  <a:srgbClr val="000000"/>
                </a:solidFill>
                <a:latin typeface="Calibri"/>
              </a:rPr>
              <a:t>embeddings</a:t>
            </a:r>
            <a:endParaRPr sz="85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 smtClean="0">
                <a:solidFill>
                  <a:srgbClr val="000000"/>
                </a:solidFill>
                <a:latin typeface="Calibri"/>
              </a:rPr>
              <a:t>+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history </a:t>
            </a:r>
            <a:r>
              <a:rPr sz="850" dirty="0">
                <a:solidFill>
                  <a:srgbClr val="000000"/>
                </a:solidFill>
                <a:latin typeface="Calibri"/>
              </a:rPr>
              <a:t>+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ref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erence</a:t>
            </a:r>
            <a:endParaRPr sz="850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33" name="Connector 34"/>
          <p:cNvCxnSpPr/>
          <p:nvPr/>
        </p:nvCxnSpPr>
        <p:spPr>
          <a:xfrm>
            <a:off x="1905000" y="5589891"/>
            <a:ext cx="261518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5"/>
          <p:cNvCxnSpPr/>
          <p:nvPr/>
        </p:nvCxnSpPr>
        <p:spPr>
          <a:xfrm>
            <a:off x="3858158" y="5589891"/>
            <a:ext cx="261518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6"/>
          <p:cNvCxnSpPr/>
          <p:nvPr/>
        </p:nvCxnSpPr>
        <p:spPr>
          <a:xfrm>
            <a:off x="5811316" y="5589891"/>
            <a:ext cx="261519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7"/>
          <p:cNvCxnSpPr/>
          <p:nvPr/>
        </p:nvCxnSpPr>
        <p:spPr>
          <a:xfrm>
            <a:off x="7764475" y="5589891"/>
            <a:ext cx="261518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8"/>
          <p:cNvCxnSpPr/>
          <p:nvPr/>
        </p:nvCxnSpPr>
        <p:spPr>
          <a:xfrm>
            <a:off x="9717633" y="5589891"/>
            <a:ext cx="261518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63236" y="6725919"/>
            <a:ext cx="5086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0169" y="6453640"/>
            <a:ext cx="7863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Do these three steps one time per each carrier then apply full force vector to the plant </a:t>
            </a:r>
            <a:endParaRPr sz="1050" b="1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4786406" y="3171481"/>
            <a:ext cx="0" cy="344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4" idx="2"/>
          </p:cNvCxnSpPr>
          <p:nvPr/>
        </p:nvCxnSpPr>
        <p:spPr>
          <a:xfrm>
            <a:off x="11005820" y="4231645"/>
            <a:ext cx="0" cy="1611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43647" y="4216059"/>
            <a:ext cx="1005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i="1" dirty="0" smtClean="0">
                <a:solidFill>
                  <a:srgbClr val="000000"/>
                </a:solidFill>
                <a:latin typeface="Calibri"/>
              </a:rPr>
              <a:t>Go to next Iteration</a:t>
            </a:r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2749033" y="1795230"/>
            <a:ext cx="5673607" cy="6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Google Shape;104;p2"/>
          <p:cNvSpPr txBox="1">
            <a:spLocks noGrp="1"/>
          </p:cNvSpPr>
          <p:nvPr>
            <p:ph type="title"/>
          </p:nvPr>
        </p:nvSpPr>
        <p:spPr>
          <a:xfrm>
            <a:off x="177200" y="1069124"/>
            <a:ext cx="11736000" cy="62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800" dirty="0" smtClean="0"/>
              <a:t>Training Loop + Environment Step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13370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242844" y="1294032"/>
            <a:ext cx="11736000" cy="62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Sample Results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175" y="1606087"/>
            <a:ext cx="7292510" cy="4900477"/>
          </a:xfrm>
          <a:prstGeom prst="rect">
            <a:avLst/>
          </a:prstGeom>
        </p:spPr>
      </p:pic>
      <p:sp>
        <p:nvSpPr>
          <p:cNvPr id="8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242844" y="1846957"/>
            <a:ext cx="3910867" cy="474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>
              <a:buSzPts val="3200"/>
            </a:pPr>
            <a:r>
              <a:rPr lang="en-US" dirty="0" smtClean="0"/>
              <a:t>Mean loop distance refers to the average distance between the carrier position and the expert noise free position (Term 1 in the reward).</a:t>
            </a:r>
          </a:p>
          <a:p>
            <a:pPr indent="-457200">
              <a:buSzPts val="3200"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It is the most affected/degraded metric and is usually a good indicator on the overall health of the system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7048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242844" y="1294032"/>
            <a:ext cx="11736000" cy="62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Sample Results: Trajectory 1: From training data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949" y="2134133"/>
            <a:ext cx="6404895" cy="48036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0126"/>
            <a:ext cx="5904689" cy="4371687"/>
          </a:xfrm>
          <a:prstGeom prst="rect">
            <a:avLst/>
          </a:prstGeom>
        </p:spPr>
      </p:pic>
      <p:sp>
        <p:nvSpPr>
          <p:cNvPr id="6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242844" y="1846957"/>
            <a:ext cx="11385933" cy="72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SzPts val="3200"/>
            </a:pPr>
            <a:r>
              <a:rPr lang="en-US" dirty="0" smtClean="0"/>
              <a:t>With learned policy residual(left) vs. Base (no residual, right)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4332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68" y="1158505"/>
            <a:ext cx="11273053" cy="559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0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238" y="1420238"/>
            <a:ext cx="11736360" cy="5340485"/>
          </a:xfrm>
          <a:prstGeom prst="rect">
            <a:avLst/>
          </a:prstGeom>
        </p:spPr>
      </p:pic>
      <p:sp>
        <p:nvSpPr>
          <p:cNvPr id="4" name="Google Shape;104;p2"/>
          <p:cNvSpPr txBox="1">
            <a:spLocks noGrp="1"/>
          </p:cNvSpPr>
          <p:nvPr>
            <p:ph type="title"/>
          </p:nvPr>
        </p:nvSpPr>
        <p:spPr>
          <a:xfrm>
            <a:off x="242844" y="1294032"/>
            <a:ext cx="11736000" cy="62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Trajectory 2: Unseen during training</a:t>
            </a:r>
            <a:endParaRPr dirty="0"/>
          </a:p>
        </p:txBody>
      </p:sp>
      <p:sp>
        <p:nvSpPr>
          <p:cNvPr id="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242844" y="1846957"/>
            <a:ext cx="3910867" cy="196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Magnitude: 7 meters</a:t>
            </a:r>
          </a:p>
          <a:p>
            <a:pPr indent="-457200">
              <a:buSzPts val="3200"/>
            </a:pPr>
            <a:r>
              <a:rPr lang="en-US" dirty="0" smtClean="0"/>
              <a:t>Episode length: 27s</a:t>
            </a:r>
          </a:p>
          <a:p>
            <a:pPr indent="-457200">
              <a:buSzPts val="3200"/>
            </a:pPr>
            <a:r>
              <a:rPr lang="en-US" dirty="0" smtClean="0"/>
              <a:t>Direction:</a:t>
            </a:r>
          </a:p>
          <a:p>
            <a:pPr marL="0" indent="0">
              <a:buSzPts val="3200"/>
              <a:buNone/>
            </a:pPr>
            <a:r>
              <a:rPr lang="en-US" dirty="0" smtClean="0"/>
              <a:t> [1.0, -1.0,0.3]</a:t>
            </a:r>
          </a:p>
        </p:txBody>
      </p:sp>
    </p:spTree>
    <p:extLst>
      <p:ext uri="{BB962C8B-B14F-4D97-AF65-F5344CB8AC3E}">
        <p14:creationId xmlns:p14="http://schemas.microsoft.com/office/powerpoint/2010/main" val="321633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178481"/>
            <a:ext cx="7827533" cy="608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25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660" y="1705749"/>
            <a:ext cx="6104425" cy="45783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47860"/>
            <a:ext cx="6181611" cy="463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7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4" y="1332132"/>
            <a:ext cx="10518843" cy="52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6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7" y="1427332"/>
            <a:ext cx="10946859" cy="543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9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chemeClr val="tx1"/>
                </a:solidFill>
                <a:latin typeface="Google Sans Text"/>
              </a:rPr>
              <a:t>Load and Expert* </a:t>
            </a:r>
            <a:r>
              <a:rPr lang="en-US" dirty="0">
                <a:solidFill>
                  <a:schemeClr val="tx1"/>
                </a:solidFill>
                <a:latin typeface="Google Sans Text"/>
              </a:rPr>
              <a:t>Tracking </a:t>
            </a:r>
            <a:r>
              <a:rPr lang="en-US" dirty="0" smtClean="0">
                <a:solidFill>
                  <a:schemeClr val="tx1"/>
                </a:solidFill>
                <a:latin typeface="Google Sans Text"/>
              </a:rPr>
              <a:t>Performance</a:t>
            </a:r>
            <a:r>
              <a:rPr lang="en-US" b="0" dirty="0" smtClean="0">
                <a:solidFill>
                  <a:schemeClr val="tx1"/>
                </a:solidFill>
                <a:latin typeface="Arial" panose="020B0604020202020204" pitchFamily="34" charset="0"/>
              </a:rPr>
              <a:t>: Trajectory 2</a:t>
            </a:r>
            <a:endParaRPr 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696618"/>
              </p:ext>
            </p:extLst>
          </p:nvPr>
        </p:nvGraphicFramePr>
        <p:xfrm>
          <a:off x="838200" y="2995454"/>
          <a:ext cx="10515600" cy="100584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Metric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effectLst/>
                          <a:latin typeface="Google Sans Text"/>
                        </a:rPr>
                        <a:t>Policy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effectLst/>
                          <a:latin typeface="Google Sans Text"/>
                        </a:rPr>
                        <a:t>Base</a:t>
                      </a:r>
                      <a:r>
                        <a:rPr lang="en-US" b="1" baseline="0" dirty="0" smtClean="0">
                          <a:effectLst/>
                          <a:latin typeface="Google Sans Text"/>
                        </a:rPr>
                        <a:t> (No residual)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smtClean="0">
                          <a:effectLst/>
                          <a:latin typeface="Google Sans Text"/>
                        </a:rPr>
                        <a:t>Expert loop MSE (m²)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  <a:latin typeface="Google Sans Text"/>
                        </a:rPr>
                        <a:t>~0.1740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  <a:latin typeface="Google Sans Text"/>
                        </a:rPr>
                        <a:t>~3.0715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Load Track MSE (m²)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  <a:latin typeface="Google Sans Text"/>
                        </a:rPr>
                        <a:t>~0.0083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  <a:latin typeface="Google Sans Text"/>
                        </a:rPr>
                        <a:t>~0.3058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267283" y="5836152"/>
            <a:ext cx="11385933" cy="84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SzPts val="3200"/>
              <a:buNone/>
            </a:pPr>
            <a:r>
              <a:rPr lang="en-US" sz="2000" dirty="0" smtClean="0"/>
              <a:t>*</a:t>
            </a:r>
            <a:r>
              <a:rPr lang="en-US" sz="1700" dirty="0" smtClean="0"/>
              <a:t>Expert tracking is not supposed to reach an MSE of zero, but it is just used as qualitative proxy for smooth orbiting behavior</a:t>
            </a:r>
            <a:endParaRPr lang="en-US" sz="1700" dirty="0" smtClean="0"/>
          </a:p>
        </p:txBody>
      </p:sp>
    </p:spTree>
    <p:extLst>
      <p:ext uri="{BB962C8B-B14F-4D97-AF65-F5344CB8AC3E}">
        <p14:creationId xmlns:p14="http://schemas.microsoft.com/office/powerpoint/2010/main" val="1911066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MARL: Status and Challenges remaining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8" y="2178768"/>
            <a:ext cx="11489567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SzPts val="3200"/>
            </a:pPr>
            <a:r>
              <a:rPr lang="en-US" dirty="0" smtClean="0"/>
              <a:t>The policy is showing acceptable generalization results across:</a:t>
            </a:r>
          </a:p>
          <a:p>
            <a:pPr lvl="1" indent="-457200">
              <a:buSzPts val="3200"/>
            </a:pPr>
            <a:r>
              <a:rPr lang="en-US" dirty="0" smtClean="0"/>
              <a:t>Different episode lengths</a:t>
            </a:r>
          </a:p>
          <a:p>
            <a:pPr lvl="1" indent="-457200">
              <a:buSzPts val="3200"/>
            </a:pPr>
            <a:r>
              <a:rPr lang="en-US" dirty="0" smtClean="0"/>
              <a:t>Different movement magnitudes</a:t>
            </a:r>
          </a:p>
          <a:p>
            <a:pPr lvl="1" indent="-457200">
              <a:buSzPts val="3200"/>
            </a:pPr>
            <a:r>
              <a:rPr lang="en-US" dirty="0" smtClean="0"/>
              <a:t>Generally better than the base controller alone</a:t>
            </a:r>
          </a:p>
          <a:p>
            <a:pPr marL="0" indent="0">
              <a:buSzPts val="3200"/>
              <a:buNone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The policy is struggling to generalize well across various movement directions</a:t>
            </a:r>
          </a:p>
          <a:p>
            <a:pPr lvl="1" indent="-457200">
              <a:buSzPts val="3200"/>
            </a:pPr>
            <a:r>
              <a:rPr lang="en-US" dirty="0" smtClean="0"/>
              <a:t>Some directions exhibit significantly worse performance than others, even though they are all represented roughly equally in the training data. </a:t>
            </a:r>
          </a:p>
        </p:txBody>
      </p:sp>
    </p:spTree>
    <p:extLst>
      <p:ext uri="{BB962C8B-B14F-4D97-AF65-F5344CB8AC3E}">
        <p14:creationId xmlns:p14="http://schemas.microsoft.com/office/powerpoint/2010/main" val="87938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MARL: Status and Challenges remaining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8" y="2178768"/>
            <a:ext cx="11489567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Training </a:t>
            </a:r>
            <a:r>
              <a:rPr lang="en-US" dirty="0"/>
              <a:t>the policy specifically on these directions yields improvements, but at the cost of the other directions. </a:t>
            </a:r>
          </a:p>
          <a:p>
            <a:pPr marL="0" indent="0">
              <a:buSzPts val="3200"/>
              <a:buNone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Training on a wide combination of trajectories makes the reward extremely high variance making learning practically impossible.</a:t>
            </a:r>
          </a:p>
          <a:p>
            <a:pPr marL="0" indent="0">
              <a:buSzPts val="3200"/>
              <a:buNone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I was able to distill a combination of two policies using Behavioral Cloning in one net of the same size. Therefore, the issue is likely that MAPPO is not able to find a good generalizing strategy, but it does exist (at least something better that what it finds currently exists). </a:t>
            </a:r>
          </a:p>
        </p:txBody>
      </p:sp>
    </p:spTree>
    <p:extLst>
      <p:ext uri="{BB962C8B-B14F-4D97-AF65-F5344CB8AC3E}">
        <p14:creationId xmlns:p14="http://schemas.microsoft.com/office/powerpoint/2010/main" val="117002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18957</TotalTime>
  <Words>1718</Words>
  <Application>Microsoft Office PowerPoint</Application>
  <PresentationFormat>Widescreen</PresentationFormat>
  <Paragraphs>274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Google Sans Text</vt:lpstr>
      <vt:lpstr>Tema di Office</vt:lpstr>
      <vt:lpstr>RL Cooperative Transportation using fixed-wings drones</vt:lpstr>
      <vt:lpstr>Residual MARL: Problem Definition</vt:lpstr>
      <vt:lpstr>Residual MARL: Problem Definition</vt:lpstr>
      <vt:lpstr>Residual MARL: Proposed Solution</vt:lpstr>
      <vt:lpstr>Residual MARL</vt:lpstr>
      <vt:lpstr>Residual MARL</vt:lpstr>
      <vt:lpstr>Residual MARL</vt:lpstr>
      <vt:lpstr>Residual MARL: Implementation Details</vt:lpstr>
      <vt:lpstr>Residual MARL</vt:lpstr>
      <vt:lpstr>Residual MARL</vt:lpstr>
      <vt:lpstr>Residual MARL</vt:lpstr>
      <vt:lpstr>Training Loop + Environment Step</vt:lpstr>
      <vt:lpstr>Sample Results</vt:lpstr>
      <vt:lpstr>Sample Results: Trajectory 1: From training data</vt:lpstr>
      <vt:lpstr>PowerPoint Presentation</vt:lpstr>
      <vt:lpstr>Trajectory 2: Unseen during training</vt:lpstr>
      <vt:lpstr>PowerPoint Presentation</vt:lpstr>
      <vt:lpstr>PowerPoint Presentation</vt:lpstr>
      <vt:lpstr>PowerPoint Presentation</vt:lpstr>
      <vt:lpstr>PowerPoint Presentation</vt:lpstr>
      <vt:lpstr>Load and Expert* Tracking Performance: Trajectory 2</vt:lpstr>
      <vt:lpstr>Residual MARL: Status and Challenges remaining</vt:lpstr>
      <vt:lpstr>Residual MARL: Status and Challenges remaining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Cooperative Transportation using fixed-wings drones</dc:title>
  <dc:creator>Bocchi Giuliano</dc:creator>
  <cp:lastModifiedBy>Microsoft account</cp:lastModifiedBy>
  <cp:revision>132</cp:revision>
  <dcterms:created xsi:type="dcterms:W3CDTF">2022-07-26T10:43:33Z</dcterms:created>
  <dcterms:modified xsi:type="dcterms:W3CDTF">2026-09-03T11:03:11Z</dcterms:modified>
</cp:coreProperties>
</file>