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2" r:id="rId3"/>
    <p:sldId id="273" r:id="rId4"/>
    <p:sldId id="271" r:id="rId5"/>
    <p:sldId id="275" r:id="rId6"/>
    <p:sldId id="277" r:id="rId7"/>
    <p:sldId id="278" r:id="rId8"/>
    <p:sldId id="274" r:id="rId9"/>
    <p:sldId id="281" r:id="rId10"/>
    <p:sldId id="276" r:id="rId11"/>
    <p:sldId id="279" r:id="rId12"/>
    <p:sldId id="280" r:id="rId13"/>
    <p:sldId id="267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he1wWgYMlsTmwPP8JtiEZSoLZ/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49EECCA-3B2E-439E-A9FE-AE0BB2C482AD}">
  <a:tblStyle styleId="{B49EECCA-3B2E-439E-A9FE-AE0BB2C482AD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515" autoAdjust="0"/>
  </p:normalViewPr>
  <p:slideViewPr>
    <p:cSldViewPr snapToGrid="0">
      <p:cViewPr varScale="1">
        <p:scale>
          <a:sx n="78" d="100"/>
          <a:sy n="78" d="100"/>
        </p:scale>
        <p:origin x="821" y="38"/>
      </p:cViewPr>
      <p:guideLst/>
    </p:cSldViewPr>
  </p:slideViewPr>
  <p:notesTextViewPr>
    <p:cViewPr>
      <p:scale>
        <a:sx n="1" d="1"/>
        <a:sy n="1" d="1"/>
      </p:scale>
      <p:origin x="0" y="-533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1252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24824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03040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Preferire un carattere sans serif come Arial, Helvetica o Verdana. Font consigliabile da 30 a 40 pt.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Allineare i testi a sinistra, non giustificarli.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Utilizzare non più di tre blocchi di informazione di massimo 2/3 righe ciascuno.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evidenziare titoli o parole chiave, prediligere l’uso del grassetto a corsivo o colori.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Prediligere testo nero su sfondo bianco.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Evitare ombre, sfumature e gradazioni di grigio.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Secondo le linee guida sull’accessibilità, prestare attenzione ai contrasti tra i colori di sfondo e il testo.</a:t>
            </a:r>
            <a:endParaRPr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20898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Currently</a:t>
            </a:r>
            <a:r>
              <a:rPr lang="en-US" baseline="0" dirty="0" smtClean="0"/>
              <a:t> I calculate it purely analytically during training (on clean states) and use a filter at deployment, this combination provided the best results, training on noise actually doesn’t make it noise resistant but makes it output more jitter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dirty="0" smtClean="0"/>
              <a:t>I also experimented with multiple inputs/outputs here :  first I tried to output only my lambda based on measured drone state and load state. The main problem is my lambda is not enough to calculate my force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dirty="0" smtClean="0"/>
              <a:t>I also tried without constructing the </a:t>
            </a:r>
            <a:r>
              <a:rPr lang="en-US" baseline="0" dirty="0" err="1" smtClean="0"/>
              <a:t>Vr</a:t>
            </a:r>
            <a:r>
              <a:rPr lang="en-US" baseline="0" dirty="0" smtClean="0"/>
              <a:t> outside, without the clock features(just supply wrench for example)</a:t>
            </a:r>
            <a:endParaRPr lang="ar-EG" baseline="0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dirty="0" smtClean="0"/>
              <a:t>The inputs and outputs that I chose in the end I think reflect the “true information” inputs and outputs of the optimizer while helping the network by doing all the analytical math outside instead of making it learn it</a:t>
            </a:r>
            <a:endParaRPr dirty="0"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08096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Currently</a:t>
            </a:r>
            <a:r>
              <a:rPr lang="en-US" baseline="0" dirty="0" smtClean="0"/>
              <a:t> I calculate it purely analytically during training (on clean states) and use a filter at deployment, this combination provided the best results, training on noise actually doesn’t make it noise resistant but makes it output more jitter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dirty="0" smtClean="0"/>
              <a:t>I also experimented with multiple inputs/outputs here :  first I tried to output only my lambda based on measured drone state and load state. The main problem is my lambda is not enough to calculate my force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dirty="0" smtClean="0"/>
              <a:t>I also tried without constructing the </a:t>
            </a:r>
            <a:r>
              <a:rPr lang="en-US" baseline="0" dirty="0" err="1" smtClean="0"/>
              <a:t>Vr</a:t>
            </a:r>
            <a:r>
              <a:rPr lang="en-US" baseline="0" dirty="0" smtClean="0"/>
              <a:t> outside, without the clock features(just supply wrench for example)</a:t>
            </a:r>
            <a:endParaRPr lang="ar-EG" baseline="0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dirty="0" smtClean="0"/>
              <a:t>The inputs and outputs that I chose in the end I think reflect the “true information” inputs and outputs of the optimizer while helping the network by doing all the analytical math outside instead of making it learn it</a:t>
            </a:r>
            <a:endParaRPr dirty="0"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57383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Currently</a:t>
            </a:r>
            <a:r>
              <a:rPr lang="en-US" baseline="0" dirty="0" smtClean="0"/>
              <a:t> I calculate it purely analytically during training (on clean states) and use a filter at deployment, this combination provided the best results, training on noise actually doesn’t make it noise resistant but makes it output more jitter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dirty="0" smtClean="0"/>
              <a:t>I also experimented with multiple inputs/outputs here :  first I tried to output only my lambda based on measured drone state and load state. The main problem is my lambda is not enough to calculate my force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dirty="0" smtClean="0"/>
              <a:t>I also tried without constructing the </a:t>
            </a:r>
            <a:r>
              <a:rPr lang="en-US" baseline="0" dirty="0" err="1" smtClean="0"/>
              <a:t>Vr</a:t>
            </a:r>
            <a:r>
              <a:rPr lang="en-US" baseline="0" dirty="0" smtClean="0"/>
              <a:t> outside, without the clock features(just supply wrench for example)</a:t>
            </a:r>
            <a:endParaRPr lang="ar-EG" baseline="0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dirty="0" smtClean="0"/>
              <a:t>The inputs and outputs that I chose in the end I think reflect the “true information” inputs and outputs of the optimizer while helping the network by doing all the analytical math outside instead of making it learn it</a:t>
            </a:r>
            <a:endParaRPr dirty="0"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60567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Currently</a:t>
            </a:r>
            <a:r>
              <a:rPr lang="en-US" baseline="0" dirty="0" smtClean="0"/>
              <a:t> I calculate it purely analytically during training (on clean states) and use a filter at deployment, this combination provided the best results, training on noise actually doesn’t make it noise resistant but makes it output more jitter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dirty="0" smtClean="0"/>
              <a:t>I also experimented with multiple inputs/outputs here :  first I tried to output only my lambda based on measured drone state and load state. The main problem is my lambda is not enough to calculate my force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dirty="0" smtClean="0"/>
              <a:t>I also tried without constructing the </a:t>
            </a:r>
            <a:r>
              <a:rPr lang="en-US" baseline="0" dirty="0" err="1" smtClean="0"/>
              <a:t>Vr</a:t>
            </a:r>
            <a:r>
              <a:rPr lang="en-US" baseline="0" dirty="0" smtClean="0"/>
              <a:t> outside, without the clock features(just supply wrench for example)</a:t>
            </a:r>
            <a:endParaRPr lang="ar-EG" baseline="0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dirty="0" smtClean="0"/>
              <a:t>The inputs and outputs that I chose in the end I think reflect the “true information” inputs and outputs of the optimizer while helping the network by doing all the analytical math outside instead of making it learn it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aseline="0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dirty="0" smtClean="0"/>
              <a:t>*From looking at the behavior of the network so far</a:t>
            </a:r>
            <a:endParaRPr dirty="0"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53400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Currently</a:t>
            </a:r>
            <a:r>
              <a:rPr lang="en-US" baseline="0" dirty="0" smtClean="0"/>
              <a:t> I calculate it purely analytically during training (on clean states) and use a filter at deployment, this combination provided the best results, training on noise actually doesn’t make it noise resistant but makes it output more jitter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dirty="0" smtClean="0"/>
              <a:t>I also experimented with multiple inputs/outputs here :  first I tried to output only my lambda based on measured drone state and load state. The main problem is my lambda is not enough to calculate my force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dirty="0" smtClean="0"/>
              <a:t>I also tried without constructing the </a:t>
            </a:r>
            <a:r>
              <a:rPr lang="en-US" baseline="0" dirty="0" err="1" smtClean="0"/>
              <a:t>Vr</a:t>
            </a:r>
            <a:r>
              <a:rPr lang="en-US" baseline="0" dirty="0" smtClean="0"/>
              <a:t> outside, without the clock features(just supply wrench for example)</a:t>
            </a:r>
            <a:endParaRPr lang="ar-EG" baseline="0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dirty="0" smtClean="0"/>
              <a:t>The inputs and outputs that I chose in the end I think reflect the “true information” inputs and outputs of the optimizer while helping the network by doing all the analytical math outside instead of making it learn it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aseline="0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dirty="0" smtClean="0"/>
              <a:t>*From looking at the behavior of the network so far</a:t>
            </a:r>
            <a:endParaRPr dirty="0"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273833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Currently</a:t>
            </a:r>
            <a:r>
              <a:rPr lang="en-US" baseline="0" dirty="0" smtClean="0"/>
              <a:t> I calculate it purely analytically during training (on clean states) and use a filter at deployment, this combination provided the best results, training on noise actually doesn’t make it noise resistant but makes it output more jitter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dirty="0" smtClean="0"/>
              <a:t>I also experimented with multiple inputs/outputs here :  first I tried to output only my lambda based on measured drone state and load state. The main problem is my lambda is not enough to calculate my force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dirty="0" smtClean="0"/>
              <a:t>I also tried without constructing the </a:t>
            </a:r>
            <a:r>
              <a:rPr lang="en-US" baseline="0" dirty="0" err="1" smtClean="0"/>
              <a:t>Vr</a:t>
            </a:r>
            <a:r>
              <a:rPr lang="en-US" baseline="0" dirty="0" smtClean="0"/>
              <a:t> outside, without the clock features(just supply wrench for example)</a:t>
            </a:r>
            <a:endParaRPr lang="ar-EG" baseline="0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dirty="0" smtClean="0"/>
              <a:t>The inputs and outputs that I chose in the end I think reflect the “true information” inputs and outputs of the optimizer while helping the network by doing all the analytical math outside instead of making it learn it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aseline="0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dirty="0" smtClean="0"/>
              <a:t>*From looking at the behavior of the network so far</a:t>
            </a:r>
            <a:endParaRPr dirty="0"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285352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Currently</a:t>
            </a:r>
            <a:r>
              <a:rPr lang="en-US" baseline="0" dirty="0" smtClean="0"/>
              <a:t> I calculate it purely analytically during training (on clean states) and use a filter at deployment, this combination provided the best results, training on noise actually doesn’t make it noise resistant but makes it output more jitter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dirty="0" smtClean="0"/>
              <a:t>I also experimented with multiple inputs/outputs here :  first I tried to output only my lambda based on measured drone state and load state. The main problem is my lambda is not enough to calculate my force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dirty="0" smtClean="0"/>
              <a:t>I also tried without constructing the </a:t>
            </a:r>
            <a:r>
              <a:rPr lang="en-US" baseline="0" dirty="0" err="1" smtClean="0"/>
              <a:t>Vr</a:t>
            </a:r>
            <a:r>
              <a:rPr lang="en-US" baseline="0" dirty="0" smtClean="0"/>
              <a:t> outside, without the clock features(just supply wrench for example)</a:t>
            </a:r>
            <a:endParaRPr lang="ar-EG" baseline="0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dirty="0" smtClean="0"/>
              <a:t>The inputs and outputs that I chose in the end I think reflect the “true information” inputs and outputs of the optimizer while helping the network by doing all the analytical math outside instead of making it learn it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aseline="0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dirty="0" smtClean="0"/>
              <a:t>*From looking at the behavior of the network so far</a:t>
            </a:r>
            <a:endParaRPr dirty="0"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577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Currently</a:t>
            </a:r>
            <a:r>
              <a:rPr lang="en-US" baseline="0" dirty="0" smtClean="0"/>
              <a:t> I calculate it purely analytically during training (on clean states) and use a filter at deployment, this combination provided the best results, training on noise actually doesn’t make it noise resistant but makes it output more jitter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dirty="0" smtClean="0"/>
              <a:t>I also experimented with multiple inputs/outputs here :  first I tried to output only my lambda based on measured drone state and load state. The main problem is my lambda is not enough to calculate my force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dirty="0" smtClean="0"/>
              <a:t>I also tried without constructing the </a:t>
            </a:r>
            <a:r>
              <a:rPr lang="en-US" baseline="0" dirty="0" err="1" smtClean="0"/>
              <a:t>Vr</a:t>
            </a:r>
            <a:r>
              <a:rPr lang="en-US" baseline="0" dirty="0" smtClean="0"/>
              <a:t> outside, without the clock features(just supply wrench for example)</a:t>
            </a:r>
            <a:endParaRPr lang="ar-EG" baseline="0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dirty="0" smtClean="0"/>
              <a:t>The inputs and outputs that I chose in the end I think reflect the “true information” inputs and outputs of the optimizer while helping the network by doing all the analytical math outside instead of making it learn it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aseline="0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dirty="0" smtClean="0"/>
              <a:t>*From looking at the behavior of the network so far</a:t>
            </a:r>
            <a:endParaRPr dirty="0"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72713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Currently</a:t>
            </a:r>
            <a:r>
              <a:rPr lang="en-US" baseline="0" dirty="0" smtClean="0"/>
              <a:t> I calculate it purely analytically during training (on clean states) and use a filter at deployment, this combination provided the best results, training on noise actually doesn’t make it noise resistant but makes it output more jitter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dirty="0" smtClean="0"/>
              <a:t>I also experimented with multiple inputs/outputs here :  first I tried to output only my lambda based on measured drone state and load state. The main problem is my lambda is not enough to calculate my force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dirty="0" smtClean="0"/>
              <a:t>I also tried without constructing the </a:t>
            </a:r>
            <a:r>
              <a:rPr lang="en-US" baseline="0" dirty="0" err="1" smtClean="0"/>
              <a:t>Vr</a:t>
            </a:r>
            <a:r>
              <a:rPr lang="en-US" baseline="0" dirty="0" smtClean="0"/>
              <a:t> outside, without the clock features(just supply wrench for example)</a:t>
            </a:r>
            <a:endParaRPr lang="ar-EG" baseline="0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dirty="0" smtClean="0"/>
              <a:t>The inputs and outputs that I chose in the end I think reflect the “true information” inputs and outputs of the optimizer while helping the network by doing all the analytical math outside instead of making it learn it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aseline="0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dirty="0" smtClean="0"/>
              <a:t>*From looking at the behavior of the network so far</a:t>
            </a:r>
            <a:endParaRPr dirty="0"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08085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9531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olo e testo verticale">
  <p:cSld name="2_Titolo e testo vertica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A0004"/>
          </a:solidFill>
          <a:ln>
            <a:noFill/>
          </a:ln>
        </p:spPr>
        <p:txBody>
          <a:bodyPr spcFirstLastPara="1" wrap="square" lIns="91425" tIns="45700" rIns="360000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/>
          </a:p>
        </p:txBody>
      </p:sp>
      <p:pic>
        <p:nvPicPr>
          <p:cNvPr id="17" name="Google Shape;1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41397" y="1159933"/>
            <a:ext cx="4709206" cy="2105037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6"/>
          <p:cNvSpPr txBox="1">
            <a:spLocks noGrp="1"/>
          </p:cNvSpPr>
          <p:nvPr>
            <p:ph type="ctrTitle"/>
          </p:nvPr>
        </p:nvSpPr>
        <p:spPr>
          <a:xfrm>
            <a:off x="1547593" y="3285951"/>
            <a:ext cx="9096815" cy="1290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body" idx="1"/>
          </p:nvPr>
        </p:nvSpPr>
        <p:spPr>
          <a:xfrm>
            <a:off x="2935526" y="4741032"/>
            <a:ext cx="6320949" cy="75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olo e testo verticale">
  <p:cSld name="3_Titolo e testo vertica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7"/>
          <p:cNvSpPr/>
          <p:nvPr/>
        </p:nvSpPr>
        <p:spPr>
          <a:xfrm>
            <a:off x="-1" y="0"/>
            <a:ext cx="12192001" cy="1138767"/>
          </a:xfrm>
          <a:prstGeom prst="rect">
            <a:avLst/>
          </a:prstGeom>
          <a:solidFill>
            <a:srgbClr val="AA0004"/>
          </a:solidFill>
          <a:ln>
            <a:noFill/>
          </a:ln>
        </p:spPr>
        <p:txBody>
          <a:bodyPr spcFirstLastPara="1" wrap="square" lIns="72000" tIns="45700" rIns="360000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7"/>
          <p:cNvSpPr txBox="1">
            <a:spLocks noGrp="1"/>
          </p:cNvSpPr>
          <p:nvPr>
            <p:ph type="title"/>
          </p:nvPr>
        </p:nvSpPr>
        <p:spPr>
          <a:xfrm>
            <a:off x="456000" y="1153221"/>
            <a:ext cx="11736000" cy="1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body" idx="1"/>
          </p:nvPr>
        </p:nvSpPr>
        <p:spPr>
          <a:xfrm>
            <a:off x="6179127" y="2592996"/>
            <a:ext cx="5663346" cy="3859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body" idx="2"/>
          </p:nvPr>
        </p:nvSpPr>
        <p:spPr>
          <a:xfrm>
            <a:off x="1215640" y="2592996"/>
            <a:ext cx="3781233" cy="1794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3"/>
          </p:nvPr>
        </p:nvSpPr>
        <p:spPr>
          <a:xfrm>
            <a:off x="1215640" y="4777396"/>
            <a:ext cx="3781234" cy="1794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6" name="Google Shape;26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6000" y="147563"/>
            <a:ext cx="1885998" cy="843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testo verticale">
  <p:cSld name="Titolo e testo vertical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A0004"/>
          </a:solidFill>
          <a:ln>
            <a:noFill/>
          </a:ln>
        </p:spPr>
        <p:txBody>
          <a:bodyPr spcFirstLastPara="1" wrap="square" lIns="91425" tIns="45700" rIns="360000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Google Shape;29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01098" y="2269067"/>
            <a:ext cx="5189805" cy="2319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titolo" type="title">
  <p:cSld name="TITL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contenuto" type="obj">
  <p:cSld name="OBJEC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stazione sezione" type="secHead">
  <p:cSld name="SECTION_HEAD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e contenuti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ronto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titolo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uota" typ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to con didascalia" type="objTx">
  <p:cSld name="OBJECT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magine con didascalia" type="picTx">
  <p:cSld name="PICTURE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zato">
  <p:cSld name="Layout personalizzato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"/>
          <p:cNvSpPr txBox="1">
            <a:spLocks noGrp="1"/>
          </p:cNvSpPr>
          <p:nvPr>
            <p:ph type="ctrTitle"/>
          </p:nvPr>
        </p:nvSpPr>
        <p:spPr>
          <a:xfrm>
            <a:off x="1547593" y="3285951"/>
            <a:ext cx="9096815" cy="1290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/>
            <a:r>
              <a:rPr lang="en-US" b="1" smtClean="0"/>
              <a:t>RL Cooperative </a:t>
            </a:r>
            <a:r>
              <a:rPr lang="en-US" b="1" dirty="0"/>
              <a:t>Transportation using fixed-wings drones</a:t>
            </a:r>
            <a:endParaRPr dirty="0"/>
          </a:p>
        </p:txBody>
      </p:sp>
      <p:sp>
        <p:nvSpPr>
          <p:cNvPr id="98" name="Google Shape;98;p1"/>
          <p:cNvSpPr txBox="1">
            <a:spLocks noGrp="1"/>
          </p:cNvSpPr>
          <p:nvPr>
            <p:ph type="body" idx="1"/>
          </p:nvPr>
        </p:nvSpPr>
        <p:spPr>
          <a:xfrm>
            <a:off x="2935526" y="4741032"/>
            <a:ext cx="6320949" cy="75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en-US" sz="3200" dirty="0" smtClean="0"/>
              <a:t>End of July status</a:t>
            </a:r>
            <a:endParaRPr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456000" y="1142356"/>
            <a:ext cx="11736000" cy="1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dirty="0" smtClean="0"/>
              <a:t>Original Plan</a:t>
            </a:r>
            <a:r>
              <a:rPr lang="ar-EG" dirty="0"/>
              <a:t/>
            </a:r>
            <a:br>
              <a:rPr lang="ar-EG" dirty="0"/>
            </a:br>
            <a:r>
              <a:rPr lang="en-US" dirty="0" smtClean="0"/>
              <a:t>Formulation 1:</a:t>
            </a:r>
            <a:endParaRPr dirty="0"/>
          </a:p>
        </p:txBody>
      </p:sp>
      <p:sp>
        <p:nvSpPr>
          <p:cNvPr id="105" name="Google Shape;105;p2"/>
          <p:cNvSpPr txBox="1">
            <a:spLocks noGrp="1"/>
          </p:cNvSpPr>
          <p:nvPr>
            <p:ph type="body" idx="4294967295"/>
          </p:nvPr>
        </p:nvSpPr>
        <p:spPr>
          <a:xfrm>
            <a:off x="455999" y="2178768"/>
            <a:ext cx="11385933" cy="452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indent="-457200">
              <a:buSzPts val="3200"/>
            </a:pPr>
            <a:r>
              <a:rPr lang="en-US" dirty="0" smtClean="0"/>
              <a:t>Action Space: </a:t>
            </a:r>
            <a:r>
              <a:rPr lang="el-GR" dirty="0"/>
              <a:t>λ ∈ </a:t>
            </a:r>
            <a:r>
              <a:rPr lang="en-US" dirty="0" err="1" smtClean="0"/>
              <a:t>R</a:t>
            </a:r>
            <a:r>
              <a:rPr lang="en-US" baseline="30000" dirty="0" err="1" smtClean="0"/>
              <a:t>n</a:t>
            </a:r>
            <a:endParaRPr lang="en-US" baseline="30000" dirty="0" smtClean="0"/>
          </a:p>
          <a:p>
            <a:pPr lvl="1" indent="-457200">
              <a:buSzPts val="3200"/>
            </a:pPr>
            <a:r>
              <a:rPr lang="en-US" dirty="0" smtClean="0"/>
              <a:t>Keep wrench controller and </a:t>
            </a:r>
            <a:r>
              <a:rPr lang="en-US" dirty="0" err="1" smtClean="0"/>
              <a:t>nullspace</a:t>
            </a:r>
            <a:r>
              <a:rPr lang="en-US" dirty="0" smtClean="0"/>
              <a:t> matrix. Run decentralized</a:t>
            </a:r>
          </a:p>
          <a:p>
            <a:pPr marL="457200" lvl="1" indent="0">
              <a:buSzPts val="3200"/>
              <a:buNone/>
            </a:pPr>
            <a:r>
              <a:rPr lang="en-US" dirty="0" smtClean="0"/>
              <a:t>				𝑓 </a:t>
            </a:r>
            <a:r>
              <a:rPr lang="en-US" dirty="0"/>
              <a:t>(𝑡) = 𝑓</a:t>
            </a:r>
            <a:r>
              <a:rPr lang="en-US" baseline="-25000" dirty="0"/>
              <a:t>𝑔</a:t>
            </a:r>
            <a:r>
              <a:rPr lang="en-US" dirty="0"/>
              <a:t>(𝑡)+ </a:t>
            </a:r>
            <a:r>
              <a:rPr lang="en-US" u="sng" dirty="0"/>
              <a:t>𝑓</a:t>
            </a:r>
            <a:r>
              <a:rPr lang="en-US" u="sng" baseline="-25000" dirty="0"/>
              <a:t>𝜆</a:t>
            </a:r>
            <a:r>
              <a:rPr lang="en-US" u="sng" dirty="0"/>
              <a:t>(𝑡</a:t>
            </a:r>
            <a:r>
              <a:rPr lang="en-US" u="sng" dirty="0" smtClean="0"/>
              <a:t>),</a:t>
            </a:r>
          </a:p>
          <a:p>
            <a:pPr marL="457200" lvl="1" indent="0">
              <a:buSzPts val="3200"/>
              <a:buNone/>
            </a:pPr>
            <a:r>
              <a:rPr lang="en-US" dirty="0"/>
              <a:t>𝑓</a:t>
            </a:r>
            <a:r>
              <a:rPr lang="en-US" baseline="-25000" dirty="0"/>
              <a:t>𝜆</a:t>
            </a:r>
            <a:r>
              <a:rPr lang="en-US" dirty="0"/>
              <a:t>(𝑡)</a:t>
            </a:r>
            <a:r>
              <a:rPr lang="en-US" dirty="0" smtClean="0"/>
              <a:t>= </a:t>
            </a:r>
            <a:r>
              <a:rPr lang="en-US" dirty="0"/>
              <a:t>N(</a:t>
            </a:r>
            <a:r>
              <a:rPr lang="en-US" dirty="0" err="1"/>
              <a:t>H,t</a:t>
            </a:r>
            <a:r>
              <a:rPr lang="en-US" dirty="0"/>
              <a:t>) · </a:t>
            </a:r>
            <a:r>
              <a:rPr lang="el-GR" u="sng" dirty="0"/>
              <a:t>λ(</a:t>
            </a:r>
            <a:r>
              <a:rPr lang="en-US" u="sng" dirty="0"/>
              <a:t>t)</a:t>
            </a:r>
          </a:p>
          <a:p>
            <a:pPr marL="457200" lvl="1" indent="0">
              <a:buSzPts val="3200"/>
              <a:buNone/>
            </a:pPr>
            <a:endParaRPr lang="en-US" u="sng" dirty="0" smtClean="0"/>
          </a:p>
          <a:p>
            <a:pPr indent="-457200">
              <a:buSzPts val="3200"/>
            </a:pPr>
            <a:r>
              <a:rPr lang="en-US" dirty="0" smtClean="0"/>
              <a:t>Reward </a:t>
            </a:r>
            <a:r>
              <a:rPr lang="en-US" dirty="0"/>
              <a:t>function: </a:t>
            </a:r>
          </a:p>
          <a:p>
            <a:pPr lvl="1" indent="-457200">
              <a:buSzPts val="3200"/>
            </a:pPr>
            <a:r>
              <a:rPr lang="en-US" dirty="0"/>
              <a:t>Penalize ‖</a:t>
            </a:r>
            <a:r>
              <a:rPr lang="en-US" dirty="0" err="1"/>
              <a:t>ṗRi</a:t>
            </a:r>
            <a:r>
              <a:rPr lang="en-US" dirty="0"/>
              <a:t>‖ &lt; </a:t>
            </a:r>
            <a:r>
              <a:rPr lang="el-GR" dirty="0"/>
              <a:t>ε</a:t>
            </a:r>
            <a:r>
              <a:rPr lang="en-US" dirty="0" smtClean="0"/>
              <a:t> </a:t>
            </a:r>
            <a:r>
              <a:rPr lang="en-US" dirty="0"/>
              <a:t>(would be interesting to see if agent comes up with the same strategy)</a:t>
            </a:r>
          </a:p>
          <a:p>
            <a:pPr lvl="1" indent="-457200">
              <a:buSzPts val="3200"/>
            </a:pPr>
            <a:r>
              <a:rPr lang="en-US" dirty="0"/>
              <a:t>Can also warm start it with Imitation learning: reward for mimicking the optimizer </a:t>
            </a:r>
            <a:r>
              <a:rPr lang="en-US" dirty="0" smtClean="0"/>
              <a:t>output</a:t>
            </a:r>
          </a:p>
          <a:p>
            <a:pPr indent="-457200">
              <a:buSzPts val="3200"/>
            </a:pPr>
            <a:r>
              <a:rPr lang="en-US" dirty="0" smtClean="0"/>
              <a:t>Load </a:t>
            </a:r>
            <a:r>
              <a:rPr lang="en-US" dirty="0"/>
              <a:t>tracking guaranteed by construction (G·N = 0</a:t>
            </a:r>
            <a:r>
              <a:rPr lang="en-US" dirty="0" smtClean="0"/>
              <a:t>)</a:t>
            </a:r>
            <a:endParaRPr lang="ar-EG" dirty="0" smtClean="0"/>
          </a:p>
          <a:p>
            <a:pPr indent="-457200">
              <a:buSzPts val="3200"/>
            </a:pPr>
            <a:r>
              <a:rPr lang="en-US" dirty="0" smtClean="0"/>
              <a:t>Doesn’t </a:t>
            </a:r>
            <a:r>
              <a:rPr lang="en-US" dirty="0"/>
              <a:t>handle desynchronization</a:t>
            </a:r>
          </a:p>
          <a:p>
            <a:pPr indent="-457200">
              <a:buSzPts val="3200"/>
            </a:pPr>
            <a:r>
              <a:rPr lang="en-US" dirty="0" smtClean="0"/>
              <a:t>A possible extension would be adding more terms to the reward function to account for fixed-wings dynamics(e.g. minimum turning radius)</a:t>
            </a:r>
          </a:p>
        </p:txBody>
      </p:sp>
    </p:spTree>
    <p:extLst>
      <p:ext uri="{BB962C8B-B14F-4D97-AF65-F5344CB8AC3E}">
        <p14:creationId xmlns:p14="http://schemas.microsoft.com/office/powerpoint/2010/main" val="1887692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456000" y="1142356"/>
            <a:ext cx="11736000" cy="1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it-IT" dirty="0" smtClean="0"/>
              <a:t>Original Plan</a:t>
            </a:r>
            <a:r>
              <a:rPr lang="ar-EG" dirty="0"/>
              <a:t/>
            </a:r>
            <a:br>
              <a:rPr lang="ar-EG" dirty="0"/>
            </a:br>
            <a:r>
              <a:rPr lang="en-US" dirty="0" smtClean="0"/>
              <a:t>Formulation </a:t>
            </a:r>
            <a:r>
              <a:rPr lang="ar-EG" dirty="0" smtClean="0"/>
              <a:t>2</a:t>
            </a:r>
            <a:r>
              <a:rPr lang="en-US" dirty="0" smtClean="0"/>
              <a:t>:</a:t>
            </a:r>
            <a:r>
              <a:rPr lang="ar-EG" dirty="0" smtClean="0"/>
              <a:t>  </a:t>
            </a:r>
            <a:r>
              <a:rPr lang="en-US" dirty="0" smtClean="0"/>
              <a:t>Residual RL</a:t>
            </a:r>
            <a:endParaRPr dirty="0"/>
          </a:p>
        </p:txBody>
      </p:sp>
      <p:sp>
        <p:nvSpPr>
          <p:cNvPr id="105" name="Google Shape;105;p2"/>
          <p:cNvSpPr txBox="1">
            <a:spLocks noGrp="1"/>
          </p:cNvSpPr>
          <p:nvPr>
            <p:ph type="body" idx="4294967295"/>
          </p:nvPr>
        </p:nvSpPr>
        <p:spPr>
          <a:xfrm>
            <a:off x="455999" y="2178768"/>
            <a:ext cx="11385933" cy="452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indent="-457200">
              <a:buSzPts val="3200"/>
            </a:pPr>
            <a:r>
              <a:rPr lang="en-US" dirty="0" smtClean="0"/>
              <a:t>Action Space: </a:t>
            </a:r>
            <a:r>
              <a:rPr lang="el-GR" dirty="0" smtClean="0"/>
              <a:t>δ</a:t>
            </a:r>
            <a:r>
              <a:rPr lang="en-US" dirty="0"/>
              <a:t>𝑓</a:t>
            </a:r>
            <a:r>
              <a:rPr lang="en-US" dirty="0" smtClean="0"/>
              <a:t> </a:t>
            </a:r>
            <a:r>
              <a:rPr lang="en-US" dirty="0"/>
              <a:t>∈ </a:t>
            </a:r>
            <a:r>
              <a:rPr lang="en-US" dirty="0" smtClean="0"/>
              <a:t>R</a:t>
            </a:r>
            <a:r>
              <a:rPr lang="en-US" baseline="30000" dirty="0" smtClean="0"/>
              <a:t>3n</a:t>
            </a:r>
            <a:r>
              <a:rPr lang="en-US" dirty="0" smtClean="0"/>
              <a:t> </a:t>
            </a:r>
          </a:p>
          <a:p>
            <a:pPr lvl="1" indent="-457200">
              <a:buSzPts val="3200"/>
            </a:pPr>
            <a:r>
              <a:rPr lang="en-US" dirty="0" smtClean="0"/>
              <a:t>Keep wrench controller and optimizer. Run decentralized</a:t>
            </a:r>
          </a:p>
          <a:p>
            <a:pPr marL="457200" lvl="1" indent="0">
              <a:buSzPts val="3200"/>
              <a:buNone/>
            </a:pPr>
            <a:r>
              <a:rPr lang="en-US" dirty="0" smtClean="0"/>
              <a:t>				</a:t>
            </a:r>
            <a:r>
              <a:rPr lang="en-US" dirty="0"/>
              <a:t>𝑓 (𝑡) = 𝑓</a:t>
            </a:r>
            <a:r>
              <a:rPr lang="en-US" baseline="-25000" dirty="0"/>
              <a:t>𝑔</a:t>
            </a:r>
            <a:r>
              <a:rPr lang="en-US" dirty="0"/>
              <a:t>(𝑡)+ 𝑓</a:t>
            </a:r>
            <a:r>
              <a:rPr lang="en-US" baseline="-25000" dirty="0"/>
              <a:t>𝜆</a:t>
            </a:r>
            <a:r>
              <a:rPr lang="en-US" dirty="0"/>
              <a:t>(𝑡</a:t>
            </a:r>
            <a:r>
              <a:rPr lang="en-US" dirty="0" smtClean="0"/>
              <a:t>) + </a:t>
            </a:r>
            <a:r>
              <a:rPr lang="el-GR" u="sng" dirty="0" smtClean="0"/>
              <a:t>δ</a:t>
            </a:r>
            <a:r>
              <a:rPr lang="en-US" u="sng" dirty="0" smtClean="0"/>
              <a:t>𝑓(t)</a:t>
            </a:r>
          </a:p>
          <a:p>
            <a:pPr marL="457200" lvl="1" indent="0">
              <a:buSzPts val="3200"/>
              <a:buNone/>
            </a:pPr>
            <a:endParaRPr lang="en-US" u="sng" dirty="0" smtClean="0"/>
          </a:p>
          <a:p>
            <a:pPr indent="-457200">
              <a:buSzPts val="3200"/>
            </a:pPr>
            <a:r>
              <a:rPr lang="en-US" dirty="0" smtClean="0"/>
              <a:t>Reward </a:t>
            </a:r>
            <a:r>
              <a:rPr lang="en-US" dirty="0"/>
              <a:t>function: </a:t>
            </a:r>
          </a:p>
          <a:p>
            <a:pPr lvl="1" indent="-457200">
              <a:buSzPts val="3200"/>
            </a:pPr>
            <a:r>
              <a:rPr lang="en-US" dirty="0"/>
              <a:t>Penalize load tracking error + Penalize ‖</a:t>
            </a:r>
            <a:r>
              <a:rPr lang="en-US" dirty="0" err="1"/>
              <a:t>δf</a:t>
            </a:r>
            <a:r>
              <a:rPr lang="en-US" dirty="0" smtClean="0"/>
              <a:t>‖</a:t>
            </a:r>
          </a:p>
          <a:p>
            <a:pPr indent="-457200">
              <a:buSzPts val="3200"/>
            </a:pPr>
            <a:r>
              <a:rPr lang="en-US" dirty="0" smtClean="0"/>
              <a:t>Handles desynchronization</a:t>
            </a:r>
          </a:p>
          <a:p>
            <a:pPr lvl="0" indent="-457200">
              <a:buSzPts val="3200"/>
            </a:pP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Stage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1: Train formulation 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2</a:t>
            </a:r>
          </a:p>
          <a:p>
            <a:pPr lvl="0" indent="-457200">
              <a:buSzPts val="3200"/>
            </a:pP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Stage 2: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Remove optimizer 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and train formulation 1</a:t>
            </a:r>
            <a:r>
              <a:rPr lang="ar-EG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endParaRPr lang="ar-EG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indent="-457200">
              <a:buSzPts val="3200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C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ould also work the other way around(would be better for simulation time) or combined in one phase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indent="-457200">
              <a:buSzPts val="3200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986476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456000" y="1142356"/>
            <a:ext cx="11736000" cy="1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it-IT" dirty="0" smtClean="0"/>
              <a:t>Actual</a:t>
            </a:r>
            <a:endParaRPr dirty="0"/>
          </a:p>
        </p:txBody>
      </p:sp>
      <p:sp>
        <p:nvSpPr>
          <p:cNvPr id="105" name="Google Shape;105;p2"/>
          <p:cNvSpPr txBox="1">
            <a:spLocks noGrp="1"/>
          </p:cNvSpPr>
          <p:nvPr>
            <p:ph type="body" idx="4294967295"/>
          </p:nvPr>
        </p:nvSpPr>
        <p:spPr>
          <a:xfrm>
            <a:off x="456000" y="2100947"/>
            <a:ext cx="11385933" cy="4679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buSzPts val="3200"/>
            </a:pPr>
            <a:r>
              <a:rPr lang="en-US" dirty="0" smtClean="0"/>
              <a:t>Doing formulation 2 using the classical controller + optimizer(expert) takes very long </a:t>
            </a:r>
          </a:p>
          <a:p>
            <a:pPr indent="-457200">
              <a:buSzPts val="3200"/>
            </a:pPr>
            <a:endParaRPr lang="en-US" dirty="0" smtClean="0"/>
          </a:p>
          <a:p>
            <a:pPr indent="-457200">
              <a:buSzPts val="3200"/>
            </a:pPr>
            <a:r>
              <a:rPr lang="en-US" dirty="0" smtClean="0"/>
              <a:t>Because it’s decentralized the optimizer has to run 4 times per each step</a:t>
            </a:r>
          </a:p>
          <a:p>
            <a:pPr indent="-457200">
              <a:buSzPts val="3200"/>
            </a:pPr>
            <a:endParaRPr lang="en-US" dirty="0" smtClean="0"/>
          </a:p>
          <a:p>
            <a:pPr indent="-457200">
              <a:buSzPts val="3200"/>
            </a:pPr>
            <a:r>
              <a:rPr lang="en-US" dirty="0" smtClean="0"/>
              <a:t>Episode length of 25 seconds takes 1-2 minutes in actual runtime </a:t>
            </a:r>
          </a:p>
        </p:txBody>
      </p:sp>
    </p:spTree>
    <p:extLst>
      <p:ext uri="{BB962C8B-B14F-4D97-AF65-F5344CB8AC3E}">
        <p14:creationId xmlns:p14="http://schemas.microsoft.com/office/powerpoint/2010/main" val="4164796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456000" y="1142356"/>
            <a:ext cx="11736000" cy="1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it-IT" dirty="0"/>
              <a:t>Formulation 1 status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Google Shape;105;p2"/>
              <p:cNvSpPr txBox="1">
                <a:spLocks noGrp="1"/>
              </p:cNvSpPr>
              <p:nvPr>
                <p:ph type="body" idx="4294967295"/>
              </p:nvPr>
            </p:nvSpPr>
            <p:spPr>
              <a:xfrm>
                <a:off x="456000" y="2100947"/>
                <a:ext cx="11385933" cy="467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indent="-457200">
                  <a:buSzPts val="3200"/>
                </a:pPr>
                <a:r>
                  <a:rPr lang="en-US" dirty="0" smtClean="0"/>
                  <a:t>So I had to do formulation one first</a:t>
                </a:r>
                <a:endParaRPr lang="en-US" dirty="0"/>
              </a:p>
              <a:p>
                <a:pPr lvl="1" indent="-457200">
                  <a:buSzPts val="3200"/>
                </a:pPr>
                <a:r>
                  <a:rPr lang="en-US" dirty="0" smtClean="0"/>
                  <a:t>Step 1 : Imitation learning/Behavioral cloning(BC): train a NN to mimic the optimizer</a:t>
                </a:r>
                <a:endParaRPr lang="ar-EG" dirty="0" smtClean="0"/>
              </a:p>
              <a:p>
                <a:pPr lvl="2" indent="-457200">
                  <a:buSzPts val="3200"/>
                </a:pPr>
                <a:r>
                  <a:rPr lang="en-US" dirty="0" smtClean="0"/>
                  <a:t>Phase</a:t>
                </a:r>
                <a:r>
                  <a:rPr lang="ar-EG" dirty="0" smtClean="0"/>
                  <a:t> </a:t>
                </a:r>
                <a:r>
                  <a:rPr lang="en-US" dirty="0" smtClean="0"/>
                  <a:t>1 : Supervised learning : collect states and labels from expert and train</a:t>
                </a:r>
              </a:p>
              <a:p>
                <a:pPr lvl="2" indent="-457200">
                  <a:buSzPts val="3200"/>
                </a:pPr>
                <a:r>
                  <a:rPr lang="en-US" dirty="0" smtClean="0"/>
                  <a:t>Phase 2 : </a:t>
                </a:r>
                <a:r>
                  <a:rPr lang="en-US" dirty="0" err="1" smtClean="0"/>
                  <a:t>DAgger</a:t>
                </a:r>
                <a:r>
                  <a:rPr lang="en-US" dirty="0" smtClean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Action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l-GR" dirty="0"/>
                      <m:t>β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∗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𝑒𝑥𝑝𝑒𝑟𝑡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𝑎𝑐𝑡𝑖𝑜𝑛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l-GR" dirty="0"/>
                          <m:t>β</m:t>
                        </m:r>
                      </m:e>
                    </m:d>
                    <m:r>
                      <a:rPr lang="ar-EG" b="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𝑝𝑜𝑙𝑖𝑐𝑦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𝑎𝑐𝑡𝑖𝑜𝑛</m:t>
                    </m:r>
                  </m:oMath>
                </a14:m>
                <a:endParaRPr lang="en-US" b="0" dirty="0" smtClean="0"/>
              </a:p>
              <a:p>
                <a:pPr lvl="2" indent="-457200">
                  <a:buSzPts val="3200"/>
                </a:pPr>
                <a:r>
                  <a:rPr lang="en-US" dirty="0" smtClean="0"/>
                  <a:t>Slide </a:t>
                </a:r>
                <a:r>
                  <a:rPr lang="el-GR" dirty="0" smtClean="0"/>
                  <a:t>β</a:t>
                </a:r>
                <a:r>
                  <a:rPr lang="en-US" dirty="0" smtClean="0"/>
                  <a:t> from 1 to 0 and train after each iteration</a:t>
                </a:r>
                <a:endParaRPr lang="en-US" b="1" dirty="0" smtClean="0"/>
              </a:p>
              <a:p>
                <a:pPr lvl="1" indent="-457200">
                  <a:buSzPts val="3200"/>
                </a:pPr>
                <a:r>
                  <a:rPr lang="en-US" dirty="0" smtClean="0"/>
                  <a:t>Action is the full lambda vector</a:t>
                </a:r>
              </a:p>
              <a:p>
                <a:pPr lvl="1" indent="-457200">
                  <a:buSzPts val="3200"/>
                </a:pPr>
                <a:r>
                  <a:rPr lang="en-US" dirty="0" smtClean="0"/>
                  <a:t>Input to network is the full velocity vector estimated from the load state and wrench, previous lambda and “clock features/phases”  </a:t>
                </a:r>
              </a:p>
              <a:p>
                <a:pPr lvl="1" indent="-457200">
                  <a:buSzPts val="3200"/>
                </a:pPr>
                <a:r>
                  <a:rPr lang="en-US" dirty="0" smtClean="0"/>
                  <a:t>Full velocity vector is calculated analytically like the optimizer , I tested with multiple setups here</a:t>
                </a:r>
                <a:endParaRPr lang="en-US" dirty="0" smtClean="0"/>
              </a:p>
            </p:txBody>
          </p:sp>
        </mc:Choice>
        <mc:Fallback>
          <p:sp>
            <p:nvSpPr>
              <p:cNvPr id="105" name="Google Shape;105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456000" y="2100947"/>
                <a:ext cx="11385933" cy="4679232"/>
              </a:xfrm>
              <a:prstGeom prst="rect">
                <a:avLst/>
              </a:prstGeom>
              <a:blipFill rotWithShape="0">
                <a:blip r:embed="rId3"/>
                <a:stretch>
                  <a:fillRect l="-1231" t="-2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9218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305" y="1413163"/>
            <a:ext cx="10368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805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456000" y="1064535"/>
            <a:ext cx="11736000" cy="1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it-IT" dirty="0" smtClean="0"/>
              <a:t>Formulation 1 status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401" y="1848254"/>
            <a:ext cx="9733198" cy="482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211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456000" y="1064535"/>
            <a:ext cx="11736000" cy="1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it-IT" dirty="0" smtClean="0"/>
              <a:t>Formulation 1 status</a:t>
            </a:r>
            <a:endParaRPr dirty="0"/>
          </a:p>
        </p:txBody>
      </p:sp>
      <p:sp>
        <p:nvSpPr>
          <p:cNvPr id="105" name="Google Shape;105;p2"/>
          <p:cNvSpPr txBox="1">
            <a:spLocks noGrp="1"/>
          </p:cNvSpPr>
          <p:nvPr>
            <p:ph type="body" idx="4294967295"/>
          </p:nvPr>
        </p:nvSpPr>
        <p:spPr>
          <a:xfrm>
            <a:off x="456000" y="1935576"/>
            <a:ext cx="11385933" cy="4922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indent="-457200">
              <a:buSzPts val="3200"/>
            </a:pPr>
            <a:r>
              <a:rPr lang="en-US" dirty="0" smtClean="0"/>
              <a:t>Flying with the policy alone is successful</a:t>
            </a:r>
          </a:p>
          <a:p>
            <a:pPr indent="-457200">
              <a:buSzPts val="3200"/>
            </a:pPr>
            <a:r>
              <a:rPr lang="en-US" dirty="0" smtClean="0"/>
              <a:t>So far BC with </a:t>
            </a:r>
            <a:r>
              <a:rPr lang="en-US" dirty="0" err="1" smtClean="0"/>
              <a:t>DAgger</a:t>
            </a:r>
            <a:r>
              <a:rPr lang="en-US" dirty="0" smtClean="0"/>
              <a:t> alone is producing acceptable results </a:t>
            </a:r>
            <a:endParaRPr lang="en-US" dirty="0" smtClean="0"/>
          </a:p>
          <a:p>
            <a:pPr indent="-457200">
              <a:buSzPts val="3200"/>
            </a:pPr>
            <a:r>
              <a:rPr lang="en-US" dirty="0"/>
              <a:t>Episode length of 25 seconds </a:t>
            </a:r>
            <a:r>
              <a:rPr lang="en-US" dirty="0" smtClean="0"/>
              <a:t>takes ~ 7 seconds in </a:t>
            </a:r>
            <a:r>
              <a:rPr lang="en-US" dirty="0"/>
              <a:t>actual </a:t>
            </a:r>
            <a:r>
              <a:rPr lang="en-US" dirty="0" smtClean="0"/>
              <a:t>runtime(10x faster) </a:t>
            </a:r>
            <a:endParaRPr lang="en-US" dirty="0" smtClean="0"/>
          </a:p>
          <a:p>
            <a:pPr indent="-457200">
              <a:buSzPts val="3200"/>
            </a:pPr>
            <a:r>
              <a:rPr lang="en-US" dirty="0" smtClean="0"/>
              <a:t>I trained on limited trajectories, so generalization </a:t>
            </a:r>
            <a:r>
              <a:rPr lang="en-US" dirty="0" smtClean="0"/>
              <a:t>still needs to be done</a:t>
            </a:r>
          </a:p>
          <a:p>
            <a:pPr indent="-457200">
              <a:buSzPts val="3200"/>
            </a:pPr>
            <a:r>
              <a:rPr lang="en-US" dirty="0" smtClean="0"/>
              <a:t>As we generalize and add noise, RL becomes necessary</a:t>
            </a:r>
          </a:p>
          <a:p>
            <a:pPr indent="-457200">
              <a:buSzPts val="3200"/>
            </a:pPr>
            <a:r>
              <a:rPr lang="en-US" dirty="0" smtClean="0">
                <a:solidFill>
                  <a:schemeClr val="tx1"/>
                </a:solidFill>
              </a:rPr>
              <a:t>RL objective regularized(TRPO relaxed-like) or just normal warm starting</a:t>
            </a:r>
            <a:r>
              <a:rPr lang="en-US" dirty="0" smtClean="0"/>
              <a:t>​.</a:t>
            </a:r>
            <a:endParaRPr lang="en-US" dirty="0"/>
          </a:p>
          <a:p>
            <a:pPr indent="-457200">
              <a:buSzPts val="3200"/>
            </a:pPr>
            <a:r>
              <a:rPr lang="en-US" dirty="0" smtClean="0"/>
              <a:t>Reward function design strategy: </a:t>
            </a:r>
          </a:p>
          <a:p>
            <a:pPr lvl="1" indent="-457200">
              <a:buSzPts val="3200"/>
            </a:pPr>
            <a:r>
              <a:rPr lang="en-US" dirty="0" smtClean="0"/>
              <a:t>Study/analyze the failure modes of BC alone and choose a reward function that fights it</a:t>
            </a:r>
          </a:p>
          <a:p>
            <a:pPr lvl="1" indent="-457200">
              <a:buSzPts val="3200"/>
            </a:pPr>
            <a:r>
              <a:rPr lang="en-US" dirty="0" smtClean="0"/>
              <a:t>It will have to do with jittering and non smooth movement in general*(similar to optimizer). R</a:t>
            </a:r>
            <a:r>
              <a:rPr lang="pl-PL" dirty="0" smtClean="0"/>
              <a:t> </a:t>
            </a:r>
            <a:r>
              <a:rPr lang="pl-PL" dirty="0"/>
              <a:t>= - w_lam * sum_i (lam_i_t - </a:t>
            </a:r>
            <a:r>
              <a:rPr lang="pl-PL" dirty="0" smtClean="0"/>
              <a:t>lam_i_prev)</a:t>
            </a:r>
            <a:r>
              <a:rPr lang="en-US" dirty="0" smtClean="0"/>
              <a:t>^</a:t>
            </a:r>
            <a:r>
              <a:rPr lang="pl-PL" dirty="0" smtClean="0"/>
              <a:t>2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890933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7558" y="1337242"/>
            <a:ext cx="7002530" cy="544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537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456000" y="1142356"/>
            <a:ext cx="11736000" cy="1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it-IT" dirty="0" smtClean="0"/>
              <a:t>Formulation </a:t>
            </a:r>
            <a:r>
              <a:rPr lang="ar-EG" dirty="0" smtClean="0"/>
              <a:t>2</a:t>
            </a:r>
            <a:r>
              <a:rPr lang="it-IT" dirty="0" smtClean="0"/>
              <a:t> status</a:t>
            </a:r>
            <a:endParaRPr dirty="0"/>
          </a:p>
        </p:txBody>
      </p:sp>
      <p:sp>
        <p:nvSpPr>
          <p:cNvPr id="105" name="Google Shape;105;p2"/>
          <p:cNvSpPr txBox="1">
            <a:spLocks noGrp="1"/>
          </p:cNvSpPr>
          <p:nvPr>
            <p:ph type="body" idx="4294967295"/>
          </p:nvPr>
        </p:nvSpPr>
        <p:spPr>
          <a:xfrm>
            <a:off x="456000" y="2100947"/>
            <a:ext cx="11385933" cy="4679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buSzPts val="3200"/>
            </a:pPr>
            <a:r>
              <a:rPr lang="en-US" dirty="0" smtClean="0"/>
              <a:t>Currently I’m injecting noise in the load state and delay in some drones’ clocks</a:t>
            </a:r>
            <a:endParaRPr lang="en-US" dirty="0" smtClean="0"/>
          </a:p>
          <a:p>
            <a:pPr indent="-457200">
              <a:buSzPts val="3200"/>
            </a:pPr>
            <a:r>
              <a:rPr lang="en-US" dirty="0" smtClean="0"/>
              <a:t>BC with </a:t>
            </a:r>
            <a:r>
              <a:rPr lang="en-US" dirty="0" err="1" smtClean="0"/>
              <a:t>DAgger</a:t>
            </a:r>
            <a:r>
              <a:rPr lang="en-US" dirty="0" smtClean="0"/>
              <a:t> alone completely failing(not sure if it’s even helping)</a:t>
            </a:r>
            <a:endParaRPr lang="en-US" dirty="0" smtClean="0"/>
          </a:p>
          <a:p>
            <a:pPr indent="-457200">
              <a:buSzPts val="3200"/>
            </a:pPr>
            <a:r>
              <a:rPr lang="en-US" dirty="0" smtClean="0"/>
              <a:t>Still analyzing failure modes to try and design a good reward function</a:t>
            </a:r>
          </a:p>
          <a:p>
            <a:pPr indent="-457200">
              <a:buSzPts val="3200"/>
            </a:pPr>
            <a:r>
              <a:rPr lang="en-US" dirty="0" smtClean="0"/>
              <a:t>Load tracking as a reward struggles due to the decoupling of drone trajectories and load trajectory</a:t>
            </a:r>
          </a:p>
          <a:p>
            <a:pPr indent="-457200">
              <a:buSzPts val="3200"/>
            </a:pPr>
            <a:r>
              <a:rPr lang="en-US" dirty="0" smtClean="0"/>
              <a:t>A good reward would encourage the drones to be close to a mathematical description of the de-noised loitering  </a:t>
            </a:r>
          </a:p>
        </p:txBody>
      </p:sp>
    </p:spTree>
    <p:extLst>
      <p:ext uri="{BB962C8B-B14F-4D97-AF65-F5344CB8AC3E}">
        <p14:creationId xmlns:p14="http://schemas.microsoft.com/office/powerpoint/2010/main" val="1295314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5464" y="1210771"/>
            <a:ext cx="7230403" cy="542280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535" y="2912422"/>
            <a:ext cx="3850369" cy="2019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378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044" y="1324226"/>
            <a:ext cx="10637823" cy="5277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505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"/>
          <p:cNvSpPr txBox="1"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it-IT"/>
              <a:t>Università degli Studi di Padova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14789</TotalTime>
  <Words>1858</Words>
  <Application>Microsoft Office PowerPoint</Application>
  <PresentationFormat>Widescreen</PresentationFormat>
  <Paragraphs>133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 Math</vt:lpstr>
      <vt:lpstr>Tema di Office</vt:lpstr>
      <vt:lpstr>RL Cooperative Transportation using fixed-wings drones</vt:lpstr>
      <vt:lpstr>Original Plan Formulation 1:</vt:lpstr>
      <vt:lpstr>Original Plan Formulation 2:  Residual RL</vt:lpstr>
      <vt:lpstr>Actual</vt:lpstr>
      <vt:lpstr>Formulation 1 status</vt:lpstr>
      <vt:lpstr>PowerPoint Presentation</vt:lpstr>
      <vt:lpstr>Formulation 1 status</vt:lpstr>
      <vt:lpstr>Formulation 1 status</vt:lpstr>
      <vt:lpstr>PowerPoint Presentation</vt:lpstr>
      <vt:lpstr>Formulation 2 status</vt:lpstr>
      <vt:lpstr>PowerPoint Presentation</vt:lpstr>
      <vt:lpstr>PowerPoint Presentation</vt:lpstr>
      <vt:lpstr>Università degli Studi di Padova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Cooperative Transportation using fixed-wings drones</dc:title>
  <dc:creator>Bocchi Giuliano</dc:creator>
  <cp:lastModifiedBy>Microsoft account</cp:lastModifiedBy>
  <cp:revision>54</cp:revision>
  <dcterms:created xsi:type="dcterms:W3CDTF">2022-07-26T10:43:33Z</dcterms:created>
  <dcterms:modified xsi:type="dcterms:W3CDTF">2026-07-27T14:18:36Z</dcterms:modified>
</cp:coreProperties>
</file>