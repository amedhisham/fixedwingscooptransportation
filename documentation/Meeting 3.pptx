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9" r:id="rId4"/>
    <p:sldId id="272" r:id="rId5"/>
    <p:sldId id="271" r:id="rId6"/>
    <p:sldId id="258" r:id="rId7"/>
    <p:sldId id="268" r:id="rId8"/>
    <p:sldId id="270" r:id="rId9"/>
    <p:sldId id="267" r:id="rId1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8" roundtripDataSignature="AMtx7mhe1wWgYMlsTmwPP8JtiEZSoLZ/A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49EECCA-3B2E-439E-A9FE-AE0BB2C482AD}">
  <a:tblStyle styleId="{B49EECCA-3B2E-439E-A9FE-AE0BB2C482AD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tcBdr/>
        <a:fill>
          <a:solidFill>
            <a:srgbClr val="CDD4EA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DD4EA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59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8" Type="http://customschemas.google.com/relationships/presentationmetadata" Target="meta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512521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24824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47786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8126191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0304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Preferire un carattere sans serif come Arial, Helvetica o Verdana. Font consigliabile da 30 a 40 pt.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Allineare i testi a sinistra, non giustificarli. 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Utilizzare non più di tre blocchi di informazione di massimo 2/3 righe ciascuno.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 evidenziare titoli o parole chiave, prediligere l’uso del grassetto a corsivo o colori. 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Prediligere testo nero su sfondo bianco.</a:t>
            </a:r>
            <a:endParaRPr sz="1200" b="0" i="0" u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Evitare ombre, sfumature e gradazioni di grigio.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1200" b="0" i="0" u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Secondo le linee guida sull’accessibilità, prestare attenzione ai contrasti tra i colori di sfondo e il testo.</a:t>
            </a:r>
            <a:endParaRPr/>
          </a:p>
        </p:txBody>
      </p:sp>
      <p:sp>
        <p:nvSpPr>
          <p:cNvPr id="102" name="Google Shape;102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7080962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Utilizzare sempre i modelli di elenco forniti dal programma, quindi non realizzare elenchi solamente inserendo trattini, numeri o punti, affinché una sintesi vocale possa leggerli in ordine e proprio come elenchi.</a:t>
            </a:r>
            <a:endParaRPr/>
          </a:p>
        </p:txBody>
      </p:sp>
      <p:sp>
        <p:nvSpPr>
          <p:cNvPr id="109" name="Google Shape;10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2570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Utilizzare sempre i modelli di elenco forniti dal programma, quindi non realizzare elenchi solamente inserendo trattini, numeri o punti, affinché una sintesi vocale possa leggerli in ordine e proprio come elenchi.</a:t>
            </a:r>
            <a:endParaRPr/>
          </a:p>
        </p:txBody>
      </p:sp>
      <p:sp>
        <p:nvSpPr>
          <p:cNvPr id="109" name="Google Shape;10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428798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/>
              <a:t>Utilizzare sempre i modelli di elenco forniti dal programma, quindi non realizzare elenchi solamente inserendo trattini, numeri o punti, affinché una sintesi vocale possa leggerli in ordine e proprio come elenchi.</a:t>
            </a:r>
            <a:endParaRPr/>
          </a:p>
        </p:txBody>
      </p:sp>
      <p:sp>
        <p:nvSpPr>
          <p:cNvPr id="109" name="Google Shape;109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60825553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6" name="Google Shape;176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1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095319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olo e testo verticale">
  <p:cSld name="2_Titolo e testo vertica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it-IT" sz="240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/>
          </a:p>
        </p:txBody>
      </p:sp>
      <p:pic>
        <p:nvPicPr>
          <p:cNvPr id="17" name="Google Shape;17;p1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741397" y="1159933"/>
            <a:ext cx="4709206" cy="2105037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16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Arial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6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olo e testo verticale">
  <p:cSld name="3_Titolo e testo vertica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17"/>
          <p:cNvSpPr/>
          <p:nvPr/>
        </p:nvSpPr>
        <p:spPr>
          <a:xfrm>
            <a:off x="-1" y="0"/>
            <a:ext cx="12192001" cy="1138767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72000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7"/>
          <p:cNvSpPr txBox="1">
            <a:spLocks noGrp="1"/>
          </p:cNvSpPr>
          <p:nvPr>
            <p:ph type="title"/>
          </p:nvPr>
        </p:nvSpPr>
        <p:spPr>
          <a:xfrm>
            <a:off x="456000" y="1153221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3600" b="1"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7"/>
          <p:cNvSpPr txBox="1">
            <a:spLocks noGrp="1"/>
          </p:cNvSpPr>
          <p:nvPr>
            <p:ph type="body" idx="1"/>
          </p:nvPr>
        </p:nvSpPr>
        <p:spPr>
          <a:xfrm>
            <a:off x="6179127" y="2592996"/>
            <a:ext cx="5663346" cy="38595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7"/>
          <p:cNvSpPr txBox="1">
            <a:spLocks noGrp="1"/>
          </p:cNvSpPr>
          <p:nvPr>
            <p:ph type="body" idx="2"/>
          </p:nvPr>
        </p:nvSpPr>
        <p:spPr>
          <a:xfrm>
            <a:off x="1215640" y="2592996"/>
            <a:ext cx="3781233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17"/>
          <p:cNvSpPr txBox="1">
            <a:spLocks noGrp="1"/>
          </p:cNvSpPr>
          <p:nvPr>
            <p:ph type="body" idx="3"/>
          </p:nvPr>
        </p:nvSpPr>
        <p:spPr>
          <a:xfrm>
            <a:off x="1215640" y="4777396"/>
            <a:ext cx="3781234" cy="1794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1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56000" y="147563"/>
            <a:ext cx="1885998" cy="84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testo verticale">
  <p:cSld name="Titolo e testo verticale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AA0004"/>
          </a:solidFill>
          <a:ln>
            <a:noFill/>
          </a:ln>
        </p:spPr>
        <p:txBody>
          <a:bodyPr spcFirstLastPara="1" wrap="square" lIns="91425" tIns="45700" rIns="360000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" name="Google Shape;29;p18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501098" y="2269067"/>
            <a:ext cx="5189805" cy="23198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titolo" type="title">
  <p:cSld name="TITLE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33" name="Google Shape;33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olo e contenuto" type="obj">
  <p:cSld name="OBJEC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stazione sezione" type="secHead">
  <p:cSld name="SECTION_HEADER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21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ue contenuti" type="twoObj">
  <p:cSld name="TWO_OBJECTS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fronto" type="twoTxTwoObj">
  <p:cSld name="TWO_OBJECTS_WITH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3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titolo" type="titleOnly">
  <p:cSld name="TITLE_ONLY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uota" type="blank">
  <p:cSld name="BLANK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uto con didascalia" type="objTx">
  <p:cSld name="OBJECT_WITH_CAPTION_TEXT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magine con didascalia" type="picTx">
  <p:cSld name="PICTURE_WITH_CAPTION_TEXT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83" name="Google Shape;83;p27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4" name="Google Shape;84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ayout personalizzato">
  <p:cSld name="Layout personalizzato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5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  <a:defRPr sz="4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5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-IT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proceedings.mlr.press/v305/zeng25a.ht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"/>
          <p:cNvSpPr txBox="1">
            <a:spLocks noGrp="1"/>
          </p:cNvSpPr>
          <p:nvPr>
            <p:ph type="ctrTitle"/>
          </p:nvPr>
        </p:nvSpPr>
        <p:spPr>
          <a:xfrm>
            <a:off x="1547593" y="3285951"/>
            <a:ext cx="9096815" cy="1290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 algn="ctr"/>
            <a:r>
              <a:rPr lang="en-US" b="1" smtClean="0"/>
              <a:t>RL Cooperative </a:t>
            </a:r>
            <a:r>
              <a:rPr lang="en-US" b="1" dirty="0"/>
              <a:t>Transportation using fixed-wings drones</a:t>
            </a:r>
            <a:endParaRPr dirty="0"/>
          </a:p>
        </p:txBody>
      </p:sp>
      <p:sp>
        <p:nvSpPr>
          <p:cNvPr id="98" name="Google Shape;98;p1"/>
          <p:cNvSpPr txBox="1">
            <a:spLocks noGrp="1"/>
          </p:cNvSpPr>
          <p:nvPr>
            <p:ph type="body" idx="1"/>
          </p:nvPr>
        </p:nvSpPr>
        <p:spPr>
          <a:xfrm>
            <a:off x="2935526" y="4741032"/>
            <a:ext cx="6320949" cy="7580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</a:pPr>
            <a:r>
              <a:rPr lang="en-US" sz="3200" dirty="0" smtClean="0"/>
              <a:t>Meeting 3</a:t>
            </a:r>
            <a:endParaRPr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b="1" smtClean="0"/>
              <a:t>Updates </a:t>
            </a:r>
            <a:endParaRPr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6000" y="2178768"/>
            <a:ext cx="6186670" cy="4181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I </a:t>
            </a:r>
            <a:r>
              <a:rPr lang="en-US" dirty="0" smtClean="0"/>
              <a:t>was able </a:t>
            </a:r>
            <a:r>
              <a:rPr lang="en-US" dirty="0" smtClean="0"/>
              <a:t>to replicate most of Sofia’s thesis results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Still facing some problems with the optimizer, some anomalies in the results and I have some questions</a:t>
            </a:r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Decisions regarding the RL architecture </a:t>
            </a:r>
            <a:endParaRPr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0179" y="1215347"/>
            <a:ext cx="3896965" cy="2922724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5656" y="4138071"/>
            <a:ext cx="5501488" cy="272925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Motivation for RL 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06340"/>
            <a:ext cx="11856713" cy="4919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457200">
              <a:buSzPts val="3200"/>
            </a:pPr>
            <a:r>
              <a:rPr lang="en-US" dirty="0" smtClean="0"/>
              <a:t>Decentralization: each drone takes its own decisions. No need for communication or synching</a:t>
            </a:r>
            <a:endParaRPr lang="en-US" dirty="0" smtClean="0"/>
          </a:p>
          <a:p>
            <a:pPr marL="0" indent="0">
              <a:buSzPts val="3200"/>
              <a:buNone/>
            </a:pPr>
            <a:endParaRPr lang="en-US" dirty="0" smtClean="0"/>
          </a:p>
          <a:p>
            <a:pPr indent="-457200">
              <a:buSzPts val="3200"/>
            </a:pPr>
            <a:r>
              <a:rPr lang="en-US" dirty="0" smtClean="0"/>
              <a:t>Computational Complexity</a:t>
            </a:r>
          </a:p>
          <a:p>
            <a:pPr lvl="1" indent="-457200">
              <a:buSzPts val="3200"/>
            </a:pPr>
            <a:r>
              <a:rPr lang="en-US" dirty="0" smtClean="0"/>
              <a:t>Optimizer: </a:t>
            </a:r>
            <a:r>
              <a:rPr lang="en-US" dirty="0" smtClean="0"/>
              <a:t>~3-4 ms/step (on my laptop)*</a:t>
            </a:r>
          </a:p>
          <a:p>
            <a:pPr lvl="1" indent="-457200">
              <a:buSzPts val="3200"/>
            </a:pPr>
            <a:r>
              <a:rPr lang="en-US" dirty="0" smtClean="0"/>
              <a:t>Trained NN inference: A structure similar to the one used in [1] would take &lt;&lt;1ms ** on any modern GPU(like a Jetson Nano)</a:t>
            </a:r>
          </a:p>
          <a:p>
            <a:pPr lvl="1" indent="-457200">
              <a:buSzPts val="3200"/>
            </a:pPr>
            <a:endParaRPr lang="en-US" dirty="0" smtClean="0"/>
          </a:p>
          <a:p>
            <a:pPr lvl="1" indent="-457200">
              <a:buSzPts val="3200"/>
            </a:pPr>
            <a:endParaRPr lang="en-US" dirty="0"/>
          </a:p>
          <a:p>
            <a:pPr marL="457200" lvl="1" indent="0">
              <a:buSzPts val="3200"/>
              <a:buNone/>
            </a:pPr>
            <a:r>
              <a:rPr lang="en-US" sz="1400" dirty="0" smtClean="0"/>
              <a:t>*The FMU alone takes ~0.01-0.02 ms/step</a:t>
            </a:r>
          </a:p>
          <a:p>
            <a:pPr marL="457200" lvl="1" indent="0">
              <a:buSzPts val="3200"/>
              <a:buNone/>
            </a:pPr>
            <a:r>
              <a:rPr lang="en-US" sz="1400" dirty="0" smtClean="0"/>
              <a:t>**</a:t>
            </a:r>
            <a:r>
              <a:rPr lang="en-US" sz="1400" dirty="0"/>
              <a:t>The theoretical compute time, based on FLOP count and peak GPU throughput, is on the order of microseconds. However, in practice, the total inference latency </a:t>
            </a:r>
            <a:r>
              <a:rPr lang="en-US" sz="1400" dirty="0" smtClean="0"/>
              <a:t>would be </a:t>
            </a:r>
            <a:r>
              <a:rPr lang="en-US" sz="1400" dirty="0"/>
              <a:t>dominated by GPU </a:t>
            </a:r>
            <a:r>
              <a:rPr lang="en-US" sz="1400" dirty="0" smtClean="0"/>
              <a:t>overhead</a:t>
            </a:r>
            <a:endParaRPr lang="en-US" sz="1400" dirty="0" smtClean="0"/>
          </a:p>
        </p:txBody>
      </p:sp>
    </p:spTree>
    <p:extLst>
      <p:ext uri="{BB962C8B-B14F-4D97-AF65-F5344CB8AC3E}">
        <p14:creationId xmlns:p14="http://schemas.microsoft.com/office/powerpoint/2010/main" val="281558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Candidate RL architectures/Formulations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181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Action Space: Internal forces only(and their derivatives). </a:t>
            </a:r>
          </a:p>
          <a:p>
            <a:pPr lvl="1" indent="-457200">
              <a:buSzPts val="3200"/>
            </a:pPr>
            <a:r>
              <a:rPr lang="en-US" dirty="0" smtClean="0"/>
              <a:t>Keep wrench controller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	𝑓 </a:t>
            </a:r>
            <a:r>
              <a:rPr lang="en-US" dirty="0"/>
              <a:t>(𝑡) = 𝑓</a:t>
            </a:r>
            <a:r>
              <a:rPr lang="en-US" baseline="-25000" dirty="0"/>
              <a:t>𝑔</a:t>
            </a:r>
            <a:r>
              <a:rPr lang="en-US" dirty="0"/>
              <a:t>(𝑡)+ </a:t>
            </a:r>
            <a:r>
              <a:rPr lang="en-US" u="sng" dirty="0"/>
              <a:t>𝑓</a:t>
            </a:r>
            <a:r>
              <a:rPr lang="en-US" u="sng" baseline="-25000" dirty="0"/>
              <a:t>𝜆</a:t>
            </a:r>
            <a:r>
              <a:rPr lang="en-US" u="sng" dirty="0"/>
              <a:t>(𝑡),</a:t>
            </a:r>
            <a:endParaRPr lang="en-US" u="sng" dirty="0" smtClean="0"/>
          </a:p>
          <a:p>
            <a:pPr indent="-457200">
              <a:buSzPts val="3200"/>
            </a:pPr>
            <a:r>
              <a:rPr lang="en-US" dirty="0" smtClean="0"/>
              <a:t>Reward </a:t>
            </a:r>
            <a:r>
              <a:rPr lang="en-US" dirty="0"/>
              <a:t>function: </a:t>
            </a:r>
          </a:p>
          <a:p>
            <a:pPr lvl="1" indent="-457200">
              <a:buSzPts val="3200"/>
            </a:pPr>
            <a:r>
              <a:rPr lang="en-US" dirty="0"/>
              <a:t>Punish for velocity magnitude &lt; </a:t>
            </a:r>
            <a:r>
              <a:rPr lang="el-GR" dirty="0"/>
              <a:t>ε</a:t>
            </a:r>
            <a:r>
              <a:rPr lang="en-US" dirty="0"/>
              <a:t> (would be interesting to see if agent comes up with the same strategy)</a:t>
            </a:r>
          </a:p>
          <a:p>
            <a:pPr lvl="1" indent="-457200">
              <a:buSzPts val="3200"/>
            </a:pPr>
            <a:r>
              <a:rPr lang="en-US" dirty="0"/>
              <a:t>Can also warm start it with Imitation learning: reward for mimicking the optimizer output</a:t>
            </a:r>
          </a:p>
          <a:p>
            <a:pPr indent="-457200">
              <a:buSzPts val="3200"/>
            </a:pPr>
            <a:r>
              <a:rPr lang="en-US" dirty="0" smtClean="0"/>
              <a:t>Can also be later extended and train another agent for load tracking(replacing the wrench controller)</a:t>
            </a:r>
            <a:endParaRPr lang="en-US" dirty="0" smtClean="0"/>
          </a:p>
        </p:txBody>
      </p:sp>
    </p:spTree>
    <p:extLst>
      <p:ext uri="{BB962C8B-B14F-4D97-AF65-F5344CB8AC3E}">
        <p14:creationId xmlns:p14="http://schemas.microsoft.com/office/powerpoint/2010/main" val="18876926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456000" y="1142356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dirty="0" smtClean="0"/>
              <a:t>Candidate RL architectures/Formulations</a:t>
            </a:r>
            <a:endParaRPr dirty="0"/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4294967295"/>
          </p:nvPr>
        </p:nvSpPr>
        <p:spPr>
          <a:xfrm>
            <a:off x="455999" y="2178768"/>
            <a:ext cx="11385933" cy="4181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>
              <a:buSzPts val="3200"/>
            </a:pPr>
            <a:r>
              <a:rPr lang="en-US" dirty="0" smtClean="0"/>
              <a:t>Action Space: Full force vector (and its derivative).</a:t>
            </a:r>
          </a:p>
          <a:p>
            <a:pPr marL="457200" lvl="1" indent="0">
              <a:buSzPts val="3200"/>
              <a:buNone/>
            </a:pPr>
            <a:r>
              <a:rPr lang="en-US" dirty="0" smtClean="0"/>
              <a:t>			</a:t>
            </a:r>
            <a:r>
              <a:rPr lang="en-US" u="sng" dirty="0" smtClean="0"/>
              <a:t>𝑓 </a:t>
            </a:r>
            <a:r>
              <a:rPr lang="en-US" u="sng" dirty="0"/>
              <a:t>(𝑡) = 𝑓</a:t>
            </a:r>
            <a:r>
              <a:rPr lang="en-US" u="sng" baseline="-25000" dirty="0"/>
              <a:t>𝑔</a:t>
            </a:r>
            <a:r>
              <a:rPr lang="en-US" u="sng" dirty="0"/>
              <a:t>(𝑡)+ 𝑓</a:t>
            </a:r>
            <a:r>
              <a:rPr lang="en-US" u="sng" baseline="-25000" dirty="0"/>
              <a:t>𝜆</a:t>
            </a:r>
            <a:r>
              <a:rPr lang="en-US" u="sng" dirty="0"/>
              <a:t>(𝑡),</a:t>
            </a:r>
            <a:endParaRPr lang="en-US" u="sng" dirty="0" smtClean="0"/>
          </a:p>
          <a:p>
            <a:pPr indent="-457200">
              <a:buSzPts val="3200"/>
            </a:pPr>
            <a:r>
              <a:rPr lang="en-US" dirty="0" smtClean="0"/>
              <a:t>Reward </a:t>
            </a:r>
            <a:r>
              <a:rPr lang="en-US" dirty="0"/>
              <a:t>function: </a:t>
            </a:r>
          </a:p>
          <a:p>
            <a:pPr lvl="1" indent="-457200">
              <a:buSzPts val="3200"/>
            </a:pPr>
            <a:r>
              <a:rPr lang="en-US" dirty="0" smtClean="0"/>
              <a:t>Imitation learning : reward for mimicking the wrench controller + optimizer output</a:t>
            </a:r>
          </a:p>
          <a:p>
            <a:pPr lvl="1" indent="-457200">
              <a:buSzPts val="3200"/>
            </a:pPr>
            <a:r>
              <a:rPr lang="en-US" dirty="0" smtClean="0"/>
              <a:t>Can add Residual RL on top to fine tune behavior(based on IL shortcomings)</a:t>
            </a:r>
          </a:p>
          <a:p>
            <a:pPr lvl="1" indent="-457200">
              <a:buSzPts val="3200"/>
            </a:pPr>
            <a:r>
              <a:rPr lang="en-US" dirty="0" smtClean="0"/>
              <a:t>Probably doing RL from scratch would be too difficult</a:t>
            </a:r>
          </a:p>
          <a:p>
            <a:pPr lvl="1" indent="-457200">
              <a:buSzPts val="3200"/>
            </a:pPr>
            <a:endParaRPr lang="en-US" dirty="0" smtClean="0"/>
          </a:p>
          <a:p>
            <a:pPr marL="0" indent="0">
              <a:buSzPts val="3200"/>
              <a:buNone/>
            </a:pPr>
            <a:r>
              <a:rPr lang="en-US" sz="2400" dirty="0" smtClean="0"/>
              <a:t>In both cases we start ideal, then progressively add noise, </a:t>
            </a:r>
            <a:r>
              <a:rPr lang="en-US" sz="2400" dirty="0" err="1" smtClean="0"/>
              <a:t>desynchronization</a:t>
            </a:r>
            <a:r>
              <a:rPr lang="en-US" sz="2400" dirty="0" smtClean="0"/>
              <a:t> and domain randomization 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4164796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456000" y="1160463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it-IT" dirty="0"/>
              <a:t>Candidate RL architectures/Formulations</a:t>
            </a:r>
            <a:endParaRPr dirty="0"/>
          </a:p>
        </p:txBody>
      </p:sp>
      <p:sp>
        <p:nvSpPr>
          <p:cNvPr id="112" name="Google Shape;112;p3"/>
          <p:cNvSpPr txBox="1">
            <a:spLocks noGrp="1"/>
          </p:cNvSpPr>
          <p:nvPr>
            <p:ph type="body" idx="4294967295"/>
          </p:nvPr>
        </p:nvSpPr>
        <p:spPr>
          <a:xfrm>
            <a:off x="456000" y="2221759"/>
            <a:ext cx="11381961" cy="3879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2500" lnSpcReduction="10000"/>
          </a:bodyPr>
          <a:lstStyle/>
          <a:p>
            <a:pPr indent="-457200"/>
            <a:r>
              <a:rPr lang="en-US" dirty="0" smtClean="0"/>
              <a:t>Wrap FMU inside Gym environment </a:t>
            </a:r>
          </a:p>
          <a:p>
            <a:pPr indent="-457200"/>
            <a:r>
              <a:rPr lang="en-US" dirty="0" smtClean="0"/>
              <a:t>Centralized Training Decentralized Execution (CTDE)</a:t>
            </a:r>
          </a:p>
          <a:p>
            <a:pPr indent="-457200"/>
            <a:r>
              <a:rPr lang="en-US" dirty="0" smtClean="0"/>
              <a:t>Shared/Centralized critic with access to global state with </a:t>
            </a:r>
            <a:r>
              <a:rPr lang="en-US" dirty="0"/>
              <a:t>a Parameter-Shared </a:t>
            </a:r>
            <a:r>
              <a:rPr lang="en-US" dirty="0" smtClean="0"/>
              <a:t>decentralized Actor</a:t>
            </a:r>
            <a:endParaRPr lang="en-US" dirty="0"/>
          </a:p>
          <a:p>
            <a:pPr indent="-457200"/>
            <a:r>
              <a:rPr lang="en-US" dirty="0"/>
              <a:t>Multi-Agent Proximal Policy Optimization (MAPPO</a:t>
            </a:r>
            <a:r>
              <a:rPr lang="en-US" dirty="0" smtClean="0"/>
              <a:t>) </a:t>
            </a:r>
          </a:p>
          <a:p>
            <a:pPr indent="-457200"/>
            <a:endParaRPr lang="en-US" dirty="0" smtClean="0"/>
          </a:p>
          <a:p>
            <a:pPr indent="-457200"/>
            <a:endParaRPr lang="en-US" dirty="0"/>
          </a:p>
          <a:p>
            <a:pPr marL="0" indent="0">
              <a:buNone/>
            </a:pPr>
            <a:r>
              <a:rPr lang="en-US" dirty="0" smtClean="0"/>
              <a:t>These choices(at least as a starting point) are due to their </a:t>
            </a:r>
            <a:r>
              <a:rPr lang="en-US" dirty="0"/>
              <a:t>widespread adoption across cooperative multi-agent </a:t>
            </a:r>
            <a:r>
              <a:rPr lang="en-US" dirty="0" smtClean="0"/>
              <a:t>literature</a:t>
            </a:r>
            <a:endParaRPr lang="en-US" dirty="0"/>
          </a:p>
          <a:p>
            <a:pPr indent="-457200"/>
            <a:endParaRPr lang="en-US" dirty="0"/>
          </a:p>
          <a:p>
            <a:pPr marL="0" indent="0">
              <a:buNone/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456000" y="1160463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sz="4000" b="1" smtClean="0"/>
              <a:t>Doubts regarding the system model, wrench controller and the optimizer</a:t>
            </a:r>
            <a:endParaRPr sz="4000"/>
          </a:p>
        </p:txBody>
      </p:sp>
      <p:sp>
        <p:nvSpPr>
          <p:cNvPr id="112" name="Google Shape;112;p3"/>
          <p:cNvSpPr txBox="1">
            <a:spLocks noGrp="1"/>
          </p:cNvSpPr>
          <p:nvPr>
            <p:ph type="body" idx="4294967295"/>
          </p:nvPr>
        </p:nvSpPr>
        <p:spPr>
          <a:xfrm>
            <a:off x="460512" y="2665379"/>
            <a:ext cx="11381961" cy="3879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lnSpcReduction="10000"/>
          </a:bodyPr>
          <a:lstStyle/>
          <a:p>
            <a:pPr indent="-457200"/>
            <a:r>
              <a:rPr lang="en-US" smtClean="0"/>
              <a:t>Are the desired forces injected directly into the cables?</a:t>
            </a:r>
          </a:p>
          <a:p>
            <a:pPr indent="-457200"/>
            <a:r>
              <a:rPr lang="en-US" smtClean="0"/>
              <a:t>Do we calculate RL by just integrating RL_dot</a:t>
            </a:r>
          </a:p>
          <a:p>
            <a:pPr indent="-457200"/>
            <a:r>
              <a:rPr lang="en-US" smtClean="0"/>
              <a:t>Static controller initialization of Fg</a:t>
            </a:r>
          </a:p>
          <a:p>
            <a:pPr indent="-457200"/>
            <a:r>
              <a:rPr lang="en-US" smtClean="0"/>
              <a:t>How </a:t>
            </a:r>
            <a:r>
              <a:rPr lang="en-US"/>
              <a:t>does load go back to x,y origin in the </a:t>
            </a:r>
            <a:r>
              <a:rPr lang="en-US" smtClean="0"/>
              <a:t>2a(no feedback)?</a:t>
            </a:r>
          </a:p>
          <a:p>
            <a:pPr indent="-457200"/>
            <a:r>
              <a:rPr lang="en-US"/>
              <a:t>Attachment points </a:t>
            </a:r>
            <a:r>
              <a:rPr lang="en-US" smtClean="0"/>
              <a:t>and their effect</a:t>
            </a:r>
          </a:p>
          <a:p>
            <a:pPr indent="-457200"/>
            <a:r>
              <a:rPr lang="en-US" smtClean="0"/>
              <a:t>Wpos </a:t>
            </a:r>
            <a:r>
              <a:rPr lang="en-US"/>
              <a:t>and </a:t>
            </a:r>
            <a:r>
              <a:rPr lang="en-US" smtClean="0"/>
              <a:t>Wvel </a:t>
            </a:r>
            <a:r>
              <a:rPr lang="en-US"/>
              <a:t>are harmful</a:t>
            </a:r>
            <a:r>
              <a:rPr lang="en-US" smtClean="0"/>
              <a:t>?</a:t>
            </a:r>
          </a:p>
          <a:p>
            <a:pPr indent="-457200"/>
            <a:r>
              <a:rPr lang="en-US" smtClean="0"/>
              <a:t>Low level controller </a:t>
            </a:r>
          </a:p>
          <a:p>
            <a:pPr indent="-457200"/>
            <a:r>
              <a:rPr lang="en-US" smtClean="0"/>
              <a:t>Optimizer just makes the drone fly in a straight line</a:t>
            </a:r>
            <a:endParaRPr lang="en-US"/>
          </a:p>
          <a:p>
            <a:pPr indent="-457200"/>
            <a:endParaRPr lang="en-US"/>
          </a:p>
          <a:p>
            <a:pPr indent="-457200"/>
            <a:endParaRPr lang="en-US"/>
          </a:p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7212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"/>
          <p:cNvSpPr txBox="1">
            <a:spLocks noGrp="1"/>
          </p:cNvSpPr>
          <p:nvPr>
            <p:ph type="title"/>
          </p:nvPr>
        </p:nvSpPr>
        <p:spPr>
          <a:xfrm>
            <a:off x="456000" y="1160463"/>
            <a:ext cx="11736000" cy="11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</a:pPr>
            <a:r>
              <a:rPr lang="it-IT" sz="4000" b="1" dirty="0" smtClean="0"/>
              <a:t>References</a:t>
            </a:r>
            <a:endParaRPr sz="4000" dirty="0"/>
          </a:p>
        </p:txBody>
      </p:sp>
      <p:sp>
        <p:nvSpPr>
          <p:cNvPr id="5" name="Text Placeholder 4"/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456000" y="2194481"/>
            <a:ext cx="11380038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[1] J. Zeng, A. </a:t>
            </a:r>
            <a:r>
              <a:rPr kumimoji="0" 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Matoses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Gimenez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E. </a:t>
            </a:r>
            <a:r>
              <a:rPr kumimoji="0" 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Vinitsky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J. Alonso-Mora, and S. Sun, “Decentralized aerial manipulation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sz="1800" dirty="0">
                <a:solidFill>
                  <a:schemeClr val="tx1"/>
                </a:solidFill>
                <a:latin typeface="Arial" panose="020B0604020202020204" pitchFamily="34" charset="0"/>
              </a:rPr>
              <a:t>o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</a:t>
            </a:r>
            <a:r>
              <a:rPr lang="en-US" sz="1800" dirty="0" smtClean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cable-suspended load using multi-agent reinforcement learning,” in </a:t>
            </a:r>
            <a:r>
              <a:rPr kumimoji="0" lang="en-US" sz="1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Proceedings of the Conference </a:t>
            </a:r>
            <a:r>
              <a:rPr kumimoji="0" lang="en-US" sz="1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1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Robot</a:t>
            </a:r>
            <a:r>
              <a:rPr kumimoji="0" lang="en-US" sz="1800" b="0" i="1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sz="1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Learning (</a:t>
            </a:r>
            <a:r>
              <a:rPr kumimoji="0" lang="en-US" sz="1800" b="0" i="1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CoRL</a:t>
            </a:r>
            <a:r>
              <a:rPr kumimoji="0" lang="en-US" sz="1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Seoul, South Korea, 2025. [Online]. Available: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hlinkClick r:id="rId3"/>
              </a:rPr>
              <a:t>https://proceedings.mlr.press/v305/zeng25a.html</a:t>
            </a: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51775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14"/>
          <p:cNvSpPr txBox="1"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Arial"/>
              <a:buNone/>
            </a:pPr>
            <a:r>
              <a:rPr lang="it-IT"/>
              <a:t>Università degli Studi di Padova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8868</TotalTime>
  <Words>857</Words>
  <Application>Microsoft Office PowerPoint</Application>
  <PresentationFormat>Widescreen</PresentationFormat>
  <Paragraphs>99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Tema di Office</vt:lpstr>
      <vt:lpstr>RL Cooperative Transportation using fixed-wings drones</vt:lpstr>
      <vt:lpstr>Updates </vt:lpstr>
      <vt:lpstr>Motivation for RL </vt:lpstr>
      <vt:lpstr>Candidate RL architectures/Formulations</vt:lpstr>
      <vt:lpstr>Candidate RL architectures/Formulations</vt:lpstr>
      <vt:lpstr>Candidate RL architectures/Formulations</vt:lpstr>
      <vt:lpstr>Doubts regarding the system model, wrench controller and the optimizer</vt:lpstr>
      <vt:lpstr>References</vt:lpstr>
      <vt:lpstr>Università degli Studi di Padova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Cooperative Transportation using fixed-wings drones</dc:title>
  <dc:creator>Bocchi Giuliano</dc:creator>
  <cp:lastModifiedBy>Microsoft account</cp:lastModifiedBy>
  <cp:revision>15</cp:revision>
  <dcterms:created xsi:type="dcterms:W3CDTF">2022-07-26T10:43:33Z</dcterms:created>
  <dcterms:modified xsi:type="dcterms:W3CDTF">2026-06-07T21:48:19Z</dcterms:modified>
</cp:coreProperties>
</file>