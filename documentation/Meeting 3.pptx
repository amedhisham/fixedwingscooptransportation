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9" r:id="rId4"/>
    <p:sldId id="272" r:id="rId5"/>
    <p:sldId id="273" r:id="rId6"/>
    <p:sldId id="271" r:id="rId7"/>
    <p:sldId id="258" r:id="rId8"/>
    <p:sldId id="268" r:id="rId9"/>
    <p:sldId id="270" r:id="rId10"/>
    <p:sldId id="267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e1wWgYMlsTmwPP8JtiEZSoLZ/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9EECCA-3B2E-439E-A9FE-AE0BB2C482AD}">
  <a:tblStyle styleId="{B49EECCA-3B2E-439E-A9FE-AE0BB2C482A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125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482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7786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1261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304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089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0809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Utilizzare sempre i modelli di elenco forniti dal programma, quindi non realizzare elenchi solamente inserendo trattini, numeri o punti, affinché una sintesi vocale possa leggerli in ordine e proprio come elenchi.</a:t>
            </a: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70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Utilizzare sempre i modelli di elenco forniti dal programma, quindi non realizzare elenchi solamente inserendo trattini, numeri o punti, affinché una sintesi vocale possa leggerli in ordine e proprio come elenchi.</a:t>
            </a: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8798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Utilizzare sempre i modelli di elenco forniti dal programma, quindi non realizzare elenchi solamente inserendo trattini, numeri o punti, affinché una sintesi vocale possa leggerli in ordine e proprio come elenchi.</a:t>
            </a: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8255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953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olo e testo verticale">
  <p:cSld name="2_Titolo e testo vertica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41397" y="1159933"/>
            <a:ext cx="4709206" cy="21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47593" y="3285951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2935526" y="4741032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olo e testo verticale">
  <p:cSld name="3_Titolo e testo vertica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/>
          <p:nvPr/>
        </p:nvSpPr>
        <p:spPr>
          <a:xfrm>
            <a:off x="-1" y="0"/>
            <a:ext cx="12192001" cy="1138767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72000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6000" y="1153221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6179127" y="2592996"/>
            <a:ext cx="5663346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2"/>
          </p:nvPr>
        </p:nvSpPr>
        <p:spPr>
          <a:xfrm>
            <a:off x="1215640" y="2592996"/>
            <a:ext cx="3781233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3"/>
          </p:nvPr>
        </p:nvSpPr>
        <p:spPr>
          <a:xfrm>
            <a:off x="1215640" y="4777396"/>
            <a:ext cx="3781234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6000" y="147563"/>
            <a:ext cx="1885998" cy="84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>
  <p:cSld name="Titolo e testo vertica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1098" y="2269067"/>
            <a:ext cx="5189805" cy="2319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">
  <p:cSld name="Layout personalizzat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mlr.press/v305/zeng25a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1547593" y="3285951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b="1" smtClean="0"/>
              <a:t>RL Cooperative </a:t>
            </a:r>
            <a:r>
              <a:rPr lang="en-US" b="1" dirty="0"/>
              <a:t>Transportation using fixed-wings drones</a:t>
            </a:r>
            <a:endParaRPr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1"/>
          </p:nvPr>
        </p:nvSpPr>
        <p:spPr>
          <a:xfrm>
            <a:off x="2935526" y="4741032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 dirty="0" smtClean="0"/>
              <a:t>Meeting 3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b="1" smtClean="0"/>
              <a:t>Updates </a:t>
            </a:r>
            <a:endParaRPr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6000" y="2178768"/>
            <a:ext cx="6186670" cy="418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I was able to replicate most of Sofia’s thesis results</a:t>
            </a:r>
          </a:p>
          <a:p>
            <a:pPr marL="0" indent="0">
              <a:buSzPts val="3200"/>
              <a:buNone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Still facing some problems with the optimizer, some anomalies in the results and I have some questions</a:t>
            </a:r>
          </a:p>
          <a:p>
            <a:pPr marL="0" indent="0">
              <a:buSzPts val="3200"/>
              <a:buNone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Decisions regarding the RL architecture 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79" y="1215347"/>
            <a:ext cx="3896965" cy="29227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656" y="4138071"/>
            <a:ext cx="5501488" cy="27292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Motivation for RL 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06340"/>
            <a:ext cx="11856713" cy="4919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SzPts val="3200"/>
            </a:pPr>
            <a:r>
              <a:rPr lang="en-US" dirty="0" smtClean="0"/>
              <a:t>Decentralization: each drone takes its own decisions. No need for communication or synching</a:t>
            </a:r>
          </a:p>
          <a:p>
            <a:pPr marL="0" indent="0">
              <a:buSzPts val="3200"/>
              <a:buNone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Computational Complexity</a:t>
            </a:r>
          </a:p>
          <a:p>
            <a:pPr lvl="1" indent="-457200">
              <a:buSzPts val="3200"/>
            </a:pPr>
            <a:r>
              <a:rPr lang="en-US" dirty="0" smtClean="0"/>
              <a:t>Optimizer: ~3-4 ms/step (on my laptop)*</a:t>
            </a:r>
          </a:p>
          <a:p>
            <a:pPr lvl="1" indent="-457200">
              <a:buSzPts val="3200"/>
            </a:pPr>
            <a:r>
              <a:rPr lang="en-US" dirty="0" smtClean="0"/>
              <a:t>Trained NN inference: A structure similar to the one used in [1] would take &lt;&lt;1ms ** on any modern GPU(like a Jetson Nano)</a:t>
            </a:r>
          </a:p>
          <a:p>
            <a:pPr lvl="1" indent="-457200">
              <a:buSzPts val="3200"/>
            </a:pPr>
            <a:endParaRPr lang="en-US" dirty="0" smtClean="0"/>
          </a:p>
          <a:p>
            <a:pPr lvl="1" indent="-457200">
              <a:buSzPts val="3200"/>
            </a:pPr>
            <a:endParaRPr lang="en-US" dirty="0"/>
          </a:p>
          <a:p>
            <a:pPr marL="457200" lvl="1" indent="0">
              <a:buSzPts val="3200"/>
              <a:buNone/>
            </a:pPr>
            <a:r>
              <a:rPr lang="en-US" sz="1400" dirty="0" smtClean="0"/>
              <a:t>*The FMU alone takes ~0.01-0.02 ms/step</a:t>
            </a:r>
          </a:p>
          <a:p>
            <a:pPr marL="457200" lvl="1" indent="0">
              <a:buSzPts val="3200"/>
              <a:buNone/>
            </a:pPr>
            <a:r>
              <a:rPr lang="en-US" sz="1400" dirty="0" smtClean="0"/>
              <a:t>**</a:t>
            </a:r>
            <a:r>
              <a:rPr lang="en-US" sz="1400" dirty="0"/>
              <a:t>The theoretical compute time, based on FLOP count and peak GPU throughput, is on the order of microseconds. However, in practice, the total inference latency </a:t>
            </a:r>
            <a:r>
              <a:rPr lang="en-US" sz="1400" dirty="0" smtClean="0"/>
              <a:t>would be </a:t>
            </a:r>
            <a:r>
              <a:rPr lang="en-US" sz="1400" dirty="0"/>
              <a:t>dominated by GPU </a:t>
            </a:r>
            <a:r>
              <a:rPr lang="en-US" sz="1400" dirty="0" smtClean="0"/>
              <a:t>overhead</a:t>
            </a:r>
          </a:p>
        </p:txBody>
      </p:sp>
    </p:spTree>
    <p:extLst>
      <p:ext uri="{BB962C8B-B14F-4D97-AF65-F5344CB8AC3E}">
        <p14:creationId xmlns:p14="http://schemas.microsoft.com/office/powerpoint/2010/main" val="281558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Candidate RL </a:t>
            </a:r>
            <a:r>
              <a:rPr lang="it-IT" dirty="0" smtClean="0"/>
              <a:t>architectures/Formulations</a:t>
            </a:r>
            <a:r>
              <a:rPr lang="ar-EG" dirty="0"/>
              <a:t/>
            </a:r>
            <a:br>
              <a:rPr lang="ar-EG" dirty="0"/>
            </a:br>
            <a:r>
              <a:rPr lang="en-US" dirty="0" smtClean="0"/>
              <a:t>Formulation 1: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78768"/>
            <a:ext cx="11385933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Action </a:t>
            </a:r>
            <a:r>
              <a:rPr lang="en-US" dirty="0" smtClean="0"/>
              <a:t>Space: </a:t>
            </a:r>
            <a:r>
              <a:rPr lang="el-GR" dirty="0"/>
              <a:t>λ ∈ </a:t>
            </a:r>
            <a:r>
              <a:rPr lang="en-US" dirty="0" err="1" smtClean="0"/>
              <a:t>R</a:t>
            </a:r>
            <a:r>
              <a:rPr lang="en-US" baseline="30000" dirty="0" err="1" smtClean="0"/>
              <a:t>n</a:t>
            </a:r>
            <a:endParaRPr lang="en-US" baseline="30000" dirty="0" smtClean="0"/>
          </a:p>
          <a:p>
            <a:pPr lvl="1" indent="-457200">
              <a:buSzPts val="3200"/>
            </a:pPr>
            <a:r>
              <a:rPr lang="en-US" dirty="0" smtClean="0"/>
              <a:t>Keep wrench controller and </a:t>
            </a:r>
            <a:r>
              <a:rPr lang="en-US" dirty="0" err="1" smtClean="0"/>
              <a:t>nullspace</a:t>
            </a:r>
            <a:r>
              <a:rPr lang="en-US" dirty="0" smtClean="0"/>
              <a:t> matrix. Run decentralized</a:t>
            </a:r>
          </a:p>
          <a:p>
            <a:pPr marL="457200" lvl="1" indent="0">
              <a:buSzPts val="3200"/>
              <a:buNone/>
            </a:pPr>
            <a:r>
              <a:rPr lang="en-US" dirty="0" smtClean="0"/>
              <a:t>				𝑓 </a:t>
            </a:r>
            <a:r>
              <a:rPr lang="en-US" dirty="0"/>
              <a:t>(𝑡) = 𝑓</a:t>
            </a:r>
            <a:r>
              <a:rPr lang="en-US" baseline="-25000" dirty="0"/>
              <a:t>𝑔</a:t>
            </a:r>
            <a:r>
              <a:rPr lang="en-US" dirty="0"/>
              <a:t>(𝑡)+ </a:t>
            </a:r>
            <a:r>
              <a:rPr lang="en-US" u="sng" dirty="0"/>
              <a:t>𝑓</a:t>
            </a:r>
            <a:r>
              <a:rPr lang="en-US" u="sng" baseline="-25000" dirty="0"/>
              <a:t>𝜆</a:t>
            </a:r>
            <a:r>
              <a:rPr lang="en-US" u="sng" dirty="0"/>
              <a:t>(𝑡</a:t>
            </a:r>
            <a:r>
              <a:rPr lang="en-US" u="sng" dirty="0" smtClean="0"/>
              <a:t>),</a:t>
            </a:r>
          </a:p>
          <a:p>
            <a:pPr marL="457200" lvl="1" indent="0">
              <a:buSzPts val="3200"/>
              <a:buNone/>
            </a:pPr>
            <a:r>
              <a:rPr lang="en-US" dirty="0"/>
              <a:t>𝑓</a:t>
            </a:r>
            <a:r>
              <a:rPr lang="en-US" baseline="-25000" dirty="0"/>
              <a:t>𝜆</a:t>
            </a:r>
            <a:r>
              <a:rPr lang="en-US" dirty="0"/>
              <a:t>(𝑡)</a:t>
            </a:r>
            <a:r>
              <a:rPr lang="en-US" dirty="0" smtClean="0"/>
              <a:t>= </a:t>
            </a:r>
            <a:r>
              <a:rPr lang="en-US" dirty="0"/>
              <a:t>N(</a:t>
            </a:r>
            <a:r>
              <a:rPr lang="en-US" dirty="0" err="1"/>
              <a:t>H,t</a:t>
            </a:r>
            <a:r>
              <a:rPr lang="en-US" dirty="0"/>
              <a:t>) · </a:t>
            </a:r>
            <a:r>
              <a:rPr lang="el-GR" u="sng" dirty="0"/>
              <a:t>λ(</a:t>
            </a:r>
            <a:r>
              <a:rPr lang="en-US" u="sng" dirty="0"/>
              <a:t>t)</a:t>
            </a:r>
          </a:p>
          <a:p>
            <a:pPr marL="457200" lvl="1" indent="0">
              <a:buSzPts val="3200"/>
              <a:buNone/>
            </a:pPr>
            <a:endParaRPr lang="en-US" u="sng" dirty="0" smtClean="0"/>
          </a:p>
          <a:p>
            <a:pPr indent="-457200">
              <a:buSzPts val="3200"/>
            </a:pPr>
            <a:r>
              <a:rPr lang="en-US" dirty="0" smtClean="0"/>
              <a:t>Reward </a:t>
            </a:r>
            <a:r>
              <a:rPr lang="en-US" dirty="0"/>
              <a:t>function: </a:t>
            </a:r>
          </a:p>
          <a:p>
            <a:pPr lvl="1" indent="-457200">
              <a:buSzPts val="3200"/>
            </a:pPr>
            <a:r>
              <a:rPr lang="en-US" dirty="0"/>
              <a:t>Penalize ‖</a:t>
            </a:r>
            <a:r>
              <a:rPr lang="en-US" dirty="0" err="1"/>
              <a:t>ṗRi</a:t>
            </a:r>
            <a:r>
              <a:rPr lang="en-US" dirty="0"/>
              <a:t>‖ &lt; </a:t>
            </a:r>
            <a:r>
              <a:rPr lang="el-GR" dirty="0"/>
              <a:t>ε</a:t>
            </a:r>
            <a:r>
              <a:rPr lang="en-US" dirty="0" smtClean="0"/>
              <a:t> </a:t>
            </a:r>
            <a:r>
              <a:rPr lang="en-US" dirty="0"/>
              <a:t>(would be interesting to see if agent comes up with the same strategy)</a:t>
            </a:r>
          </a:p>
          <a:p>
            <a:pPr lvl="1" indent="-457200">
              <a:buSzPts val="3200"/>
            </a:pPr>
            <a:r>
              <a:rPr lang="en-US" dirty="0"/>
              <a:t>Can also warm start it with Imitation learning: reward for mimicking the optimizer </a:t>
            </a:r>
            <a:r>
              <a:rPr lang="en-US" dirty="0" smtClean="0"/>
              <a:t>output</a:t>
            </a:r>
          </a:p>
          <a:p>
            <a:pPr indent="-457200">
              <a:buSzPts val="3200"/>
            </a:pPr>
            <a:r>
              <a:rPr lang="en-US" dirty="0" smtClean="0"/>
              <a:t>Load </a:t>
            </a:r>
            <a:r>
              <a:rPr lang="en-US" dirty="0"/>
              <a:t>tracking guaranteed by construction (G·N = 0</a:t>
            </a:r>
            <a:r>
              <a:rPr lang="en-US" dirty="0" smtClean="0"/>
              <a:t>)</a:t>
            </a:r>
            <a:endParaRPr lang="ar-EG" dirty="0" smtClean="0"/>
          </a:p>
          <a:p>
            <a:pPr indent="-457200">
              <a:buSzPts val="3200"/>
            </a:pPr>
            <a:r>
              <a:rPr lang="en-US" dirty="0" smtClean="0"/>
              <a:t>Doesn’t </a:t>
            </a:r>
            <a:r>
              <a:rPr lang="en-US" dirty="0"/>
              <a:t>handle desynchronization</a:t>
            </a:r>
          </a:p>
          <a:p>
            <a:pPr indent="-457200">
              <a:buSzPts val="3200"/>
            </a:pPr>
            <a:r>
              <a:rPr lang="en-US" dirty="0" smtClean="0"/>
              <a:t>A possible extension would be adding more terms to the reward function to account for fixed-wings dynamics(e.g. minimum turning radius)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8769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Candidate RL </a:t>
            </a:r>
            <a:r>
              <a:rPr lang="it-IT" dirty="0" smtClean="0"/>
              <a:t>architectures/Formulations</a:t>
            </a:r>
            <a:r>
              <a:rPr lang="ar-EG" dirty="0"/>
              <a:t/>
            </a:r>
            <a:br>
              <a:rPr lang="ar-EG" dirty="0"/>
            </a:br>
            <a:r>
              <a:rPr lang="en-US" dirty="0" smtClean="0"/>
              <a:t>Formulation </a:t>
            </a:r>
            <a:r>
              <a:rPr lang="ar-EG" dirty="0" smtClean="0"/>
              <a:t>2</a:t>
            </a:r>
            <a:r>
              <a:rPr lang="en-US" dirty="0" smtClean="0"/>
              <a:t>:</a:t>
            </a:r>
            <a:r>
              <a:rPr lang="ar-EG" dirty="0" smtClean="0"/>
              <a:t>  </a:t>
            </a:r>
            <a:r>
              <a:rPr lang="en-US" dirty="0" smtClean="0"/>
              <a:t>Residual RL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78768"/>
            <a:ext cx="11385933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Action </a:t>
            </a:r>
            <a:r>
              <a:rPr lang="en-US" dirty="0" smtClean="0"/>
              <a:t>Space: </a:t>
            </a:r>
            <a:r>
              <a:rPr lang="el-GR" dirty="0" smtClean="0"/>
              <a:t>δ</a:t>
            </a:r>
            <a:r>
              <a:rPr lang="en-US" dirty="0"/>
              <a:t>𝑓</a:t>
            </a:r>
            <a:r>
              <a:rPr lang="en-US" dirty="0" smtClean="0"/>
              <a:t> </a:t>
            </a:r>
            <a:r>
              <a:rPr lang="en-US" dirty="0"/>
              <a:t>∈ </a:t>
            </a:r>
            <a:r>
              <a:rPr lang="en-US" dirty="0" smtClean="0"/>
              <a:t>R</a:t>
            </a:r>
            <a:r>
              <a:rPr lang="en-US" baseline="30000" dirty="0" smtClean="0"/>
              <a:t>3n</a:t>
            </a:r>
            <a:r>
              <a:rPr lang="en-US" dirty="0" smtClean="0"/>
              <a:t> </a:t>
            </a:r>
          </a:p>
          <a:p>
            <a:pPr lvl="1" indent="-457200">
              <a:buSzPts val="3200"/>
            </a:pPr>
            <a:r>
              <a:rPr lang="en-US" dirty="0" smtClean="0"/>
              <a:t>Keep wrench controller and optimizer. Run decentralized</a:t>
            </a:r>
          </a:p>
          <a:p>
            <a:pPr marL="457200" lvl="1" indent="0">
              <a:buSzPts val="3200"/>
              <a:buNone/>
            </a:pPr>
            <a:r>
              <a:rPr lang="en-US" dirty="0" smtClean="0"/>
              <a:t>				</a:t>
            </a:r>
            <a:r>
              <a:rPr lang="en-US" dirty="0"/>
              <a:t>𝑓 (𝑡) = 𝑓</a:t>
            </a:r>
            <a:r>
              <a:rPr lang="en-US" baseline="-25000" dirty="0"/>
              <a:t>𝑔</a:t>
            </a:r>
            <a:r>
              <a:rPr lang="en-US" dirty="0"/>
              <a:t>(𝑡)+ 𝑓</a:t>
            </a:r>
            <a:r>
              <a:rPr lang="en-US" baseline="-25000" dirty="0"/>
              <a:t>𝜆</a:t>
            </a:r>
            <a:r>
              <a:rPr lang="en-US" dirty="0"/>
              <a:t>(𝑡</a:t>
            </a:r>
            <a:r>
              <a:rPr lang="en-US" dirty="0" smtClean="0"/>
              <a:t>) + </a:t>
            </a:r>
            <a:r>
              <a:rPr lang="el-GR" u="sng" dirty="0" smtClean="0"/>
              <a:t>δ</a:t>
            </a:r>
            <a:r>
              <a:rPr lang="en-US" u="sng" dirty="0" smtClean="0"/>
              <a:t>𝑓(t)</a:t>
            </a:r>
          </a:p>
          <a:p>
            <a:pPr marL="457200" lvl="1" indent="0">
              <a:buSzPts val="3200"/>
              <a:buNone/>
            </a:pPr>
            <a:endParaRPr lang="en-US" u="sng" dirty="0" smtClean="0"/>
          </a:p>
          <a:p>
            <a:pPr indent="-457200">
              <a:buSzPts val="3200"/>
            </a:pPr>
            <a:r>
              <a:rPr lang="en-US" dirty="0" smtClean="0"/>
              <a:t>Reward </a:t>
            </a:r>
            <a:r>
              <a:rPr lang="en-US" dirty="0"/>
              <a:t>function: </a:t>
            </a:r>
          </a:p>
          <a:p>
            <a:pPr lvl="1" indent="-457200">
              <a:buSzPts val="3200"/>
            </a:pPr>
            <a:r>
              <a:rPr lang="en-US" dirty="0"/>
              <a:t>Penalize load tracking error + Penalize ‖</a:t>
            </a:r>
            <a:r>
              <a:rPr lang="en-US" dirty="0" err="1"/>
              <a:t>δf</a:t>
            </a:r>
            <a:r>
              <a:rPr lang="en-US" dirty="0" smtClean="0"/>
              <a:t>‖</a:t>
            </a:r>
          </a:p>
          <a:p>
            <a:pPr indent="-457200">
              <a:buSzPts val="3200"/>
            </a:pPr>
            <a:r>
              <a:rPr lang="en-US" dirty="0" smtClean="0"/>
              <a:t>Handles desynchronization</a:t>
            </a:r>
          </a:p>
          <a:p>
            <a:pPr lvl="0" indent="-457200">
              <a:buSzPts val="3200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Stage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1: Train formulation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</a:p>
          <a:p>
            <a:pPr lvl="0" indent="-457200">
              <a:buSzPts val="3200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Stage 2: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Remove optimizer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and train formulation 1</a:t>
            </a:r>
            <a:r>
              <a:rPr lang="ar-EG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ar-EG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indent="-457200">
              <a:buSzPts val="3200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ould also work the other way around(would be better for simulation time) or combined in one phase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-457200">
              <a:buSzPts val="3200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647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Candidate RL </a:t>
            </a:r>
            <a:r>
              <a:rPr lang="it-IT" dirty="0" smtClean="0"/>
              <a:t>architectures/Formulations</a:t>
            </a:r>
            <a:br>
              <a:rPr lang="it-IT" dirty="0" smtClean="0"/>
            </a:br>
            <a:r>
              <a:rPr lang="it-IT" dirty="0" smtClean="0"/>
              <a:t>Another approach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78768"/>
            <a:ext cx="11385933" cy="418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Action Space: Full force vector (and its derivative).</a:t>
            </a:r>
          </a:p>
          <a:p>
            <a:pPr marL="457200" lvl="1" indent="0">
              <a:buSzPts val="3200"/>
              <a:buNone/>
            </a:pPr>
            <a:r>
              <a:rPr lang="en-US" dirty="0" smtClean="0"/>
              <a:t>			</a:t>
            </a:r>
            <a:r>
              <a:rPr lang="en-US" u="sng" dirty="0" smtClean="0"/>
              <a:t>𝑓 </a:t>
            </a:r>
            <a:r>
              <a:rPr lang="en-US" u="sng" dirty="0"/>
              <a:t>(𝑡) = 𝑓</a:t>
            </a:r>
            <a:r>
              <a:rPr lang="en-US" u="sng" baseline="-25000" dirty="0"/>
              <a:t>𝑔</a:t>
            </a:r>
            <a:r>
              <a:rPr lang="en-US" u="sng" dirty="0"/>
              <a:t>(𝑡)+ 𝑓</a:t>
            </a:r>
            <a:r>
              <a:rPr lang="en-US" u="sng" baseline="-25000" dirty="0"/>
              <a:t>𝜆</a:t>
            </a:r>
            <a:r>
              <a:rPr lang="en-US" u="sng" dirty="0"/>
              <a:t>(𝑡),</a:t>
            </a:r>
            <a:endParaRPr lang="en-US" u="sng" dirty="0" smtClean="0"/>
          </a:p>
          <a:p>
            <a:pPr indent="-457200">
              <a:buSzPts val="3200"/>
            </a:pPr>
            <a:r>
              <a:rPr lang="en-US" dirty="0" smtClean="0"/>
              <a:t>Reward </a:t>
            </a:r>
            <a:r>
              <a:rPr lang="en-US" dirty="0"/>
              <a:t>function: </a:t>
            </a:r>
          </a:p>
          <a:p>
            <a:pPr lvl="1" indent="-457200">
              <a:buSzPts val="3200"/>
            </a:pPr>
            <a:r>
              <a:rPr lang="en-US" dirty="0" smtClean="0"/>
              <a:t>Imitation learning : reward for mimicking the wrench controller + optimizer output</a:t>
            </a:r>
          </a:p>
          <a:p>
            <a:pPr lvl="1" indent="-457200">
              <a:buSzPts val="3200"/>
            </a:pPr>
            <a:r>
              <a:rPr lang="en-US" dirty="0" smtClean="0"/>
              <a:t>Can add Residual RL on top to fine tune behavior(based on IL shortcomings)</a:t>
            </a:r>
          </a:p>
          <a:p>
            <a:pPr lvl="1" indent="-457200">
              <a:buSzPts val="3200"/>
            </a:pPr>
            <a:r>
              <a:rPr lang="en-US" dirty="0" smtClean="0"/>
              <a:t>Probably doing RL from scratch would be too difficult</a:t>
            </a:r>
          </a:p>
          <a:p>
            <a:pPr lvl="1" indent="-457200">
              <a:buSzPts val="3200"/>
            </a:pPr>
            <a:endParaRPr lang="en-US" dirty="0" smtClean="0"/>
          </a:p>
          <a:p>
            <a:pPr marL="0" indent="0">
              <a:buSzPts val="3200"/>
              <a:buNone/>
            </a:pPr>
            <a:r>
              <a:rPr lang="en-US" sz="2400" dirty="0" smtClean="0"/>
              <a:t>Start </a:t>
            </a:r>
            <a:r>
              <a:rPr lang="en-US" sz="2400" dirty="0" smtClean="0"/>
              <a:t>ideal, then progressively add noise, desynchronization and domain randomization </a:t>
            </a:r>
          </a:p>
        </p:txBody>
      </p:sp>
    </p:spTree>
    <p:extLst>
      <p:ext uri="{BB962C8B-B14F-4D97-AF65-F5344CB8AC3E}">
        <p14:creationId xmlns:p14="http://schemas.microsoft.com/office/powerpoint/2010/main" val="4164796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456000" y="1160463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dirty="0"/>
              <a:t>Candidate RL architectures/Formulations</a:t>
            </a:r>
            <a:endParaRPr dirty="0"/>
          </a:p>
        </p:txBody>
      </p:sp>
      <p:sp>
        <p:nvSpPr>
          <p:cNvPr id="112" name="Google Shape;112;p3"/>
          <p:cNvSpPr txBox="1">
            <a:spLocks noGrp="1"/>
          </p:cNvSpPr>
          <p:nvPr>
            <p:ph type="body" idx="4294967295"/>
          </p:nvPr>
        </p:nvSpPr>
        <p:spPr>
          <a:xfrm>
            <a:off x="456000" y="2221759"/>
            <a:ext cx="11381961" cy="433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/>
            <a:r>
              <a:rPr lang="en-US" dirty="0" smtClean="0"/>
              <a:t>Wrap FMU inside Gym environment </a:t>
            </a:r>
          </a:p>
          <a:p>
            <a:pPr indent="-457200"/>
            <a:r>
              <a:rPr lang="en-US" dirty="0" smtClean="0"/>
              <a:t>Centralized Training Decentralized Execution (CTDE</a:t>
            </a:r>
            <a:r>
              <a:rPr lang="en-US" dirty="0" smtClean="0"/>
              <a:t>)*</a:t>
            </a:r>
            <a:endParaRPr lang="en-US" dirty="0" smtClean="0"/>
          </a:p>
          <a:p>
            <a:pPr indent="-457200"/>
            <a:r>
              <a:rPr lang="en-US" dirty="0" smtClean="0"/>
              <a:t>Shared/Centralized critic with access to global state with </a:t>
            </a:r>
            <a:r>
              <a:rPr lang="en-US" dirty="0"/>
              <a:t>a Parameter-Shared </a:t>
            </a:r>
            <a:r>
              <a:rPr lang="en-US" dirty="0" smtClean="0"/>
              <a:t>decentralized Actor</a:t>
            </a:r>
            <a:endParaRPr lang="en-US" dirty="0"/>
          </a:p>
          <a:p>
            <a:pPr indent="-457200"/>
            <a:r>
              <a:rPr lang="en-US" dirty="0"/>
              <a:t>Multi-Agent Proximal Policy Optimization (MAPPO</a:t>
            </a:r>
            <a:r>
              <a:rPr lang="en-US" dirty="0" smtClean="0"/>
              <a:t>) </a:t>
            </a:r>
          </a:p>
          <a:p>
            <a:pPr indent="-457200"/>
            <a:endParaRPr lang="en-US" dirty="0" smtClean="0"/>
          </a:p>
          <a:p>
            <a:pPr indent="-457200"/>
            <a:endParaRPr lang="en-US" dirty="0"/>
          </a:p>
          <a:p>
            <a:pPr indent="-457200">
              <a:buFont typeface="Wingdings" panose="05000000000000000000" pitchFamily="2" charset="2"/>
              <a:buChar char="§"/>
            </a:pPr>
            <a:r>
              <a:rPr lang="en-US" dirty="0" smtClean="0"/>
              <a:t>These choices(at least as a starting point) are due to their </a:t>
            </a:r>
            <a:r>
              <a:rPr lang="en-US" dirty="0"/>
              <a:t>widespread adoption across cooperative multi-agent </a:t>
            </a:r>
            <a:r>
              <a:rPr lang="en-US" dirty="0" smtClean="0"/>
              <a:t>literature</a:t>
            </a:r>
          </a:p>
          <a:p>
            <a:pPr marL="0" indent="0">
              <a:buNone/>
            </a:pPr>
            <a:r>
              <a:rPr lang="en-US" dirty="0" smtClean="0"/>
              <a:t>*Can </a:t>
            </a:r>
            <a:r>
              <a:rPr lang="en-US" dirty="0"/>
              <a:t>be </a:t>
            </a:r>
            <a:r>
              <a:rPr lang="en-US" dirty="0" smtClean="0"/>
              <a:t>a fully </a:t>
            </a:r>
            <a:r>
              <a:rPr lang="en-US" dirty="0"/>
              <a:t>decentralized </a:t>
            </a:r>
            <a:r>
              <a:rPr lang="en-US" dirty="0" smtClean="0"/>
              <a:t>actor-critic if we only care about the agent velocity norm(formulation 1)</a:t>
            </a:r>
            <a:endParaRPr lang="en-US" dirty="0"/>
          </a:p>
          <a:p>
            <a:pPr indent="-457200"/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456000" y="1160463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sz="4000" b="1" smtClean="0"/>
              <a:t>Doubts regarding the system model, wrench controller and the optimizer</a:t>
            </a:r>
            <a:endParaRPr sz="4000"/>
          </a:p>
        </p:txBody>
      </p:sp>
      <p:sp>
        <p:nvSpPr>
          <p:cNvPr id="112" name="Google Shape;112;p3"/>
          <p:cNvSpPr txBox="1">
            <a:spLocks noGrp="1"/>
          </p:cNvSpPr>
          <p:nvPr>
            <p:ph type="body" idx="4294967295"/>
          </p:nvPr>
        </p:nvSpPr>
        <p:spPr>
          <a:xfrm>
            <a:off x="460512" y="2665379"/>
            <a:ext cx="11381961" cy="387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/>
            <a:r>
              <a:rPr lang="en-US" dirty="0" smtClean="0"/>
              <a:t>Are the desired forces injected directly into the cables?</a:t>
            </a:r>
          </a:p>
          <a:p>
            <a:pPr indent="-457200"/>
            <a:r>
              <a:rPr lang="en-US" dirty="0" smtClean="0"/>
              <a:t>Do we calculate RL by just integrating </a:t>
            </a:r>
            <a:r>
              <a:rPr lang="en-US" dirty="0" err="1" smtClean="0"/>
              <a:t>RL_dot</a:t>
            </a:r>
            <a:endParaRPr lang="en-US" dirty="0" smtClean="0"/>
          </a:p>
          <a:p>
            <a:pPr indent="-457200"/>
            <a:r>
              <a:rPr lang="en-US" dirty="0" smtClean="0"/>
              <a:t>Static controller initialization of </a:t>
            </a:r>
            <a:r>
              <a:rPr lang="en-US" dirty="0" err="1" smtClean="0"/>
              <a:t>Fg</a:t>
            </a:r>
            <a:endParaRPr lang="en-US" dirty="0" smtClean="0"/>
          </a:p>
          <a:p>
            <a:pPr indent="-457200"/>
            <a:r>
              <a:rPr lang="en-US" dirty="0" smtClean="0"/>
              <a:t>How </a:t>
            </a:r>
            <a:r>
              <a:rPr lang="en-US" dirty="0"/>
              <a:t>does load go back to </a:t>
            </a:r>
            <a:r>
              <a:rPr lang="en-US" dirty="0" err="1"/>
              <a:t>x,y</a:t>
            </a:r>
            <a:r>
              <a:rPr lang="en-US" dirty="0"/>
              <a:t> origin in the </a:t>
            </a:r>
            <a:r>
              <a:rPr lang="en-US" dirty="0" smtClean="0"/>
              <a:t>2a(no feedback)?</a:t>
            </a:r>
          </a:p>
          <a:p>
            <a:pPr indent="-457200"/>
            <a:r>
              <a:rPr lang="en-US" dirty="0"/>
              <a:t>Attachment </a:t>
            </a:r>
            <a:r>
              <a:rPr lang="en-US" dirty="0" smtClean="0"/>
              <a:t>points and their effect</a:t>
            </a:r>
          </a:p>
          <a:p>
            <a:pPr indent="-457200"/>
            <a:r>
              <a:rPr lang="en-US" dirty="0" smtClean="0"/>
              <a:t>Which Hamiltonian cycle</a:t>
            </a:r>
          </a:p>
          <a:p>
            <a:pPr indent="-457200"/>
            <a:r>
              <a:rPr lang="en-US" dirty="0" err="1" smtClean="0"/>
              <a:t>Wpos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err="1" smtClean="0"/>
              <a:t>Wvel</a:t>
            </a:r>
            <a:r>
              <a:rPr lang="en-US" dirty="0" smtClean="0"/>
              <a:t> </a:t>
            </a:r>
            <a:r>
              <a:rPr lang="en-US" dirty="0"/>
              <a:t>are harmful</a:t>
            </a:r>
            <a:r>
              <a:rPr lang="en-US" dirty="0" smtClean="0"/>
              <a:t>?</a:t>
            </a:r>
          </a:p>
          <a:p>
            <a:pPr indent="-457200"/>
            <a:r>
              <a:rPr lang="en-US" dirty="0" smtClean="0"/>
              <a:t>Low level controller </a:t>
            </a:r>
          </a:p>
          <a:p>
            <a:pPr indent="-457200"/>
            <a:r>
              <a:rPr lang="en-US" dirty="0" smtClean="0"/>
              <a:t>Optimizer just makes the drone fly in a straight line</a:t>
            </a:r>
            <a:endParaRPr lang="en-US" dirty="0"/>
          </a:p>
          <a:p>
            <a:pPr indent="-457200"/>
            <a:endParaRPr lang="en-US" dirty="0"/>
          </a:p>
          <a:p>
            <a:pPr indent="-457200"/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212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456000" y="1160463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sz="4000" b="1" dirty="0" smtClean="0"/>
              <a:t>References</a:t>
            </a:r>
            <a:endParaRPr sz="4000" dirty="0"/>
          </a:p>
        </p:txBody>
      </p:sp>
      <p:sp>
        <p:nvSpPr>
          <p:cNvPr id="5" name="Text Placeholder 4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6000" y="2194481"/>
            <a:ext cx="113800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 J. Zeng, A.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Matoses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Gimenez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E.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Vinitsky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J. Alonso-Mora, and S. Sun, “Decentralized aerial manipulation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cable-suspended load using multi-agent reinforcement learning,” in 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Conference </a:t>
            </a:r>
            <a:r>
              <a:rPr kumimoji="0" lang="en-US" sz="1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</a:t>
            </a:r>
            <a:r>
              <a:rPr kumimoji="0" lang="en-US" sz="1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(</a:t>
            </a:r>
            <a:r>
              <a:rPr kumimoji="0" 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CoRL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Seoul, South Korea, 2025. [Online]. Available: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https://proceedings.mlr.press/v305/zeng25a.html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77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it-IT"/>
              <a:t>Università degli Studi di Padova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9054</TotalTime>
  <Words>994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Tema di Office</vt:lpstr>
      <vt:lpstr>RL Cooperative Transportation using fixed-wings drones</vt:lpstr>
      <vt:lpstr>Updates </vt:lpstr>
      <vt:lpstr>Motivation for RL </vt:lpstr>
      <vt:lpstr>Candidate RL architectures/Formulations Formulation 1:</vt:lpstr>
      <vt:lpstr>Candidate RL architectures/Formulations Formulation 2:  Residual RL</vt:lpstr>
      <vt:lpstr>Candidate RL architectures/Formulations Another approach</vt:lpstr>
      <vt:lpstr>Candidate RL architectures/Formulations</vt:lpstr>
      <vt:lpstr>Doubts regarding the system model, wrench controller and the optimizer</vt:lpstr>
      <vt:lpstr>References</vt:lpstr>
      <vt:lpstr>Università degli Studi di Padova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Cooperative Transportation using fixed-wings drones</dc:title>
  <dc:creator>Bocchi Giuliano</dc:creator>
  <cp:lastModifiedBy>Microsoft account</cp:lastModifiedBy>
  <cp:revision>27</cp:revision>
  <dcterms:created xsi:type="dcterms:W3CDTF">2022-07-26T10:43:33Z</dcterms:created>
  <dcterms:modified xsi:type="dcterms:W3CDTF">2026-06-24T13:20:24Z</dcterms:modified>
</cp:coreProperties>
</file>