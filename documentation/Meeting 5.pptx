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82" r:id="rId3"/>
    <p:sldId id="283" r:id="rId4"/>
    <p:sldId id="272" r:id="rId5"/>
    <p:sldId id="284" r:id="rId6"/>
    <p:sldId id="285" r:id="rId7"/>
    <p:sldId id="286" r:id="rId8"/>
    <p:sldId id="287" r:id="rId9"/>
    <p:sldId id="289" r:id="rId10"/>
    <p:sldId id="290" r:id="rId11"/>
    <p:sldId id="291" r:id="rId12"/>
    <p:sldId id="292" r:id="rId13"/>
    <p:sldId id="293" r:id="rId14"/>
    <p:sldId id="294" r:id="rId15"/>
    <p:sldId id="295" r:id="rId16"/>
    <p:sldId id="296" r:id="rId17"/>
    <p:sldId id="297" r:id="rId18"/>
    <p:sldId id="298" r:id="rId19"/>
    <p:sldId id="273" r:id="rId20"/>
    <p:sldId id="299" r:id="rId21"/>
    <p:sldId id="300" r:id="rId22"/>
    <p:sldId id="301" r:id="rId23"/>
    <p:sldId id="302" r:id="rId24"/>
    <p:sldId id="303" r:id="rId25"/>
    <p:sldId id="304" r:id="rId26"/>
    <p:sldId id="280" r:id="rId27"/>
    <p:sldId id="305" r:id="rId28"/>
    <p:sldId id="306" r:id="rId29"/>
    <p:sldId id="307" r:id="rId30"/>
    <p:sldId id="308" r:id="rId31"/>
    <p:sldId id="309" r:id="rId32"/>
    <p:sldId id="267" r:id="rId3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5" roundtripDataSignature="AMtx7mhe1wWgYMlsTmwPP8JtiEZSoLZ/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49EECCA-3B2E-439E-A9FE-AE0BB2C482AD}">
  <a:tblStyle styleId="{B49EECCA-3B2E-439E-A9FE-AE0BB2C482AD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515" autoAdjust="0"/>
  </p:normalViewPr>
  <p:slideViewPr>
    <p:cSldViewPr snapToGrid="0">
      <p:cViewPr varScale="1">
        <p:scale>
          <a:sx n="78" d="100"/>
          <a:sy n="78" d="100"/>
        </p:scale>
        <p:origin x="821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512521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24824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58757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30862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03040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it-IT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024767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it-IT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20838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20898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841063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1878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817874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444828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6651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018493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08085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795115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428138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456618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36217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21164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095319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olo e testo verticale">
  <p:cSld name="2_Titolo e testo vertica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91425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</p:txBody>
      </p:sp>
      <p:pic>
        <p:nvPicPr>
          <p:cNvPr id="17" name="Google Shape;1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741397" y="1159933"/>
            <a:ext cx="4709206" cy="2105037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6"/>
          <p:cNvSpPr txBox="1">
            <a:spLocks noGrp="1"/>
          </p:cNvSpPr>
          <p:nvPr>
            <p:ph type="ctrTitle"/>
          </p:nvPr>
        </p:nvSpPr>
        <p:spPr>
          <a:xfrm>
            <a:off x="1547593" y="3285951"/>
            <a:ext cx="9096815" cy="1290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body" idx="1"/>
          </p:nvPr>
        </p:nvSpPr>
        <p:spPr>
          <a:xfrm>
            <a:off x="2935526" y="4741032"/>
            <a:ext cx="6320949" cy="758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olo e testo verticale">
  <p:cSld name="3_Titolo e testo vertica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7"/>
          <p:cNvSpPr/>
          <p:nvPr/>
        </p:nvSpPr>
        <p:spPr>
          <a:xfrm>
            <a:off x="-1" y="0"/>
            <a:ext cx="12192001" cy="1138767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72000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7"/>
          <p:cNvSpPr txBox="1">
            <a:spLocks noGrp="1"/>
          </p:cNvSpPr>
          <p:nvPr>
            <p:ph type="title"/>
          </p:nvPr>
        </p:nvSpPr>
        <p:spPr>
          <a:xfrm>
            <a:off x="456000" y="1153221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body" idx="1"/>
          </p:nvPr>
        </p:nvSpPr>
        <p:spPr>
          <a:xfrm>
            <a:off x="6179127" y="2592996"/>
            <a:ext cx="5663346" cy="3859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body" idx="2"/>
          </p:nvPr>
        </p:nvSpPr>
        <p:spPr>
          <a:xfrm>
            <a:off x="1215640" y="2592996"/>
            <a:ext cx="3781233" cy="1794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3"/>
          </p:nvPr>
        </p:nvSpPr>
        <p:spPr>
          <a:xfrm>
            <a:off x="1215640" y="4777396"/>
            <a:ext cx="3781234" cy="1794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6000" y="147563"/>
            <a:ext cx="1885998" cy="843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e testo verticale">
  <p:cSld name="Titolo e testo verticale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91425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" name="Google Shape;29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01098" y="2269067"/>
            <a:ext cx="5189805" cy="23198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titolo" type="title">
  <p:cSld name="TITLE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e contenuto" type="obj">
  <p:cSld name="OBJEC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sezione" type="secHead">
  <p:cSld name="SECTION_HEAD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e contenuti" type="twoObj">
  <p:cSld name="TWO_OBJECT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fronto" type="twoTxTwoObj">
  <p:cSld name="TWO_OBJECTS_WITH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titolo" type="titleOnly">
  <p:cSld name="TITLE_ONLY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uota" typ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to con didascalia" type="objTx">
  <p:cSld name="OBJECT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magine con didascalia" type="picTx">
  <p:cSld name="PICTURE_WITH_CAPTIO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3" name="Google Shape;83;p2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">
  <p:cSld name="Layout personalizzato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"/>
          <p:cNvSpPr txBox="1">
            <a:spLocks noGrp="1"/>
          </p:cNvSpPr>
          <p:nvPr>
            <p:ph type="ctrTitle"/>
          </p:nvPr>
        </p:nvSpPr>
        <p:spPr>
          <a:xfrm>
            <a:off x="1547591" y="3665329"/>
            <a:ext cx="9096815" cy="1290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 algn="ctr"/>
            <a:r>
              <a:rPr lang="en-US" b="1" dirty="0" smtClean="0"/>
              <a:t>Learning Cooperative Transportation using fixed-wings drones</a:t>
            </a:r>
            <a:endParaRPr dirty="0"/>
          </a:p>
        </p:txBody>
      </p:sp>
      <p:sp>
        <p:nvSpPr>
          <p:cNvPr id="98" name="Google Shape;98;p1"/>
          <p:cNvSpPr txBox="1">
            <a:spLocks noGrp="1"/>
          </p:cNvSpPr>
          <p:nvPr>
            <p:ph type="body" idx="1"/>
          </p:nvPr>
        </p:nvSpPr>
        <p:spPr>
          <a:xfrm>
            <a:off x="2935525" y="5295508"/>
            <a:ext cx="6320949" cy="758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n-US" sz="3200" dirty="0" smtClean="0"/>
              <a:t>Meeting 5</a:t>
            </a:r>
            <a:endParaRPr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Updates:</a:t>
            </a:r>
            <a:r>
              <a:rPr lang="ar-EG" dirty="0"/>
              <a:t/>
            </a:r>
            <a:br>
              <a:rPr lang="ar-EG" dirty="0"/>
            </a:br>
            <a:r>
              <a:rPr lang="en-US" dirty="0" smtClean="0"/>
              <a:t>Imitation </a:t>
            </a:r>
            <a:r>
              <a:rPr lang="en-US" dirty="0" smtClean="0"/>
              <a:t>Learning </a:t>
            </a:r>
            <a:r>
              <a:rPr lang="en-US" dirty="0" smtClean="0"/>
              <a:t>Generalization: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5999" y="2178768"/>
                <a:ext cx="11385933" cy="45207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indent="-457200">
                  <a:buSzPts val="3200"/>
                </a:pPr>
                <a:r>
                  <a:rPr lang="en-US" sz="2000" dirty="0" smtClean="0"/>
                  <a:t>Action Space: </a:t>
                </a:r>
                <a:r>
                  <a:rPr lang="el-GR" sz="2000" dirty="0"/>
                  <a:t>λ ∈ </a:t>
                </a:r>
                <a:r>
                  <a:rPr lang="en-US" sz="2000" dirty="0" err="1" smtClean="0"/>
                  <a:t>R</a:t>
                </a:r>
                <a:r>
                  <a:rPr lang="en-US" sz="2000" baseline="30000" dirty="0" err="1" smtClean="0"/>
                  <a:t>n</a:t>
                </a:r>
                <a:endParaRPr lang="en-US" sz="2000" baseline="30000" dirty="0" smtClean="0"/>
              </a:p>
              <a:p>
                <a:pPr lvl="1" indent="-457200">
                  <a:buSzPts val="3200"/>
                </a:pPr>
                <a:r>
                  <a:rPr lang="en-US" sz="2000" dirty="0" smtClean="0"/>
                  <a:t>Keep wrench controller and </a:t>
                </a:r>
                <a:r>
                  <a:rPr lang="en-US" sz="2000" dirty="0" err="1" smtClean="0"/>
                  <a:t>nullspace</a:t>
                </a:r>
                <a:r>
                  <a:rPr lang="en-US" sz="2000" dirty="0" smtClean="0"/>
                  <a:t> matrix. Run decentralized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sz="2000" dirty="0" smtClean="0"/>
                  <a:t>				𝑓 </a:t>
                </a:r>
                <a:r>
                  <a:rPr lang="en-US" sz="2000" dirty="0"/>
                  <a:t>(𝑡) = 𝑓</a:t>
                </a:r>
                <a:r>
                  <a:rPr lang="en-US" sz="2000" baseline="-25000" dirty="0"/>
                  <a:t>𝑔</a:t>
                </a:r>
                <a:r>
                  <a:rPr lang="en-US" sz="2000" dirty="0"/>
                  <a:t>(𝑡)+ </a:t>
                </a:r>
                <a:r>
                  <a:rPr lang="en-US" sz="2000" u="sng" dirty="0"/>
                  <a:t>𝑓</a:t>
                </a:r>
                <a:r>
                  <a:rPr lang="en-US" sz="2000" u="sng" baseline="-25000" dirty="0"/>
                  <a:t>𝜆</a:t>
                </a:r>
                <a:r>
                  <a:rPr lang="en-US" sz="2000" u="sng" dirty="0"/>
                  <a:t>(𝑡</a:t>
                </a:r>
                <a:r>
                  <a:rPr lang="en-US" sz="2000" u="sng" dirty="0" smtClean="0"/>
                  <a:t>),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sz="2000" dirty="0"/>
                  <a:t>𝑓</a:t>
                </a:r>
                <a:r>
                  <a:rPr lang="en-US" sz="2000" baseline="-25000" dirty="0"/>
                  <a:t>𝜆</a:t>
                </a:r>
                <a:r>
                  <a:rPr lang="en-US" sz="2000" dirty="0"/>
                  <a:t>(𝑡)</a:t>
                </a:r>
                <a:r>
                  <a:rPr lang="en-US" sz="2000" dirty="0" smtClean="0"/>
                  <a:t>= </a:t>
                </a:r>
                <a:r>
                  <a:rPr lang="en-US" sz="2000" dirty="0"/>
                  <a:t>N(</a:t>
                </a:r>
                <a:r>
                  <a:rPr lang="en-US" sz="2000" dirty="0" err="1"/>
                  <a:t>H,t</a:t>
                </a:r>
                <a:r>
                  <a:rPr lang="en-US" sz="2000" dirty="0"/>
                  <a:t>) · </a:t>
                </a:r>
                <a:r>
                  <a:rPr lang="el-GR" sz="2000" u="sng" dirty="0"/>
                  <a:t>λ(</a:t>
                </a:r>
                <a:r>
                  <a:rPr lang="en-US" sz="2000" u="sng" dirty="0"/>
                  <a:t>t</a:t>
                </a:r>
                <a:r>
                  <a:rPr lang="en-US" sz="2000" u="sng" dirty="0" smtClean="0"/>
                  <a:t>)</a:t>
                </a:r>
              </a:p>
              <a:p>
                <a:pPr marL="457200" lvl="1" indent="0">
                  <a:buSzPts val="3200"/>
                  <a:buNone/>
                </a:pPr>
                <a:endParaRPr lang="en-US" sz="2000" u="sng" dirty="0" smtClean="0"/>
              </a:p>
              <a:p>
                <a:pPr indent="-457200">
                  <a:buSzPts val="3200"/>
                </a:pPr>
                <a:r>
                  <a:rPr lang="en-US" sz="2000" dirty="0" smtClean="0"/>
                  <a:t>Observation Space: </a:t>
                </a:r>
              </a:p>
              <a:p>
                <a:pPr lvl="1" indent="-457200">
                  <a:buSzPts val="3200"/>
                </a:pPr>
                <a:r>
                  <a:rPr lang="en-US" sz="2000" dirty="0" smtClean="0"/>
                  <a:t>Fourier time embedding/features</a:t>
                </a:r>
              </a:p>
              <a:p>
                <a:pPr marL="914400" lvl="2" indent="0">
                  <a:buSzPts val="3200"/>
                  <a:buNone/>
                </a:pPr>
                <a:r>
                  <a:rPr lang="en-US" dirty="0" smtClean="0"/>
                  <a:t>	ϕ(t)  = [sin(ω</a:t>
                </a:r>
                <a:r>
                  <a:rPr lang="en-US" baseline="-25000" dirty="0" smtClean="0"/>
                  <a:t>1</a:t>
                </a:r>
                <a:r>
                  <a:rPr lang="en-US" dirty="0" smtClean="0"/>
                  <a:t>​t),</a:t>
                </a:r>
                <a:r>
                  <a:rPr lang="en-US" dirty="0" err="1" smtClean="0"/>
                  <a:t>cos</a:t>
                </a:r>
                <a:r>
                  <a:rPr lang="en-US" dirty="0" smtClean="0"/>
                  <a:t>(ω</a:t>
                </a:r>
                <a:r>
                  <a:rPr lang="en-US" baseline="-25000" dirty="0" smtClean="0"/>
                  <a:t>1</a:t>
                </a:r>
                <a:r>
                  <a:rPr lang="en-US" dirty="0" smtClean="0"/>
                  <a:t>​t),sin(ω</a:t>
                </a:r>
                <a:r>
                  <a:rPr lang="en-US" baseline="-25000" dirty="0" smtClean="0"/>
                  <a:t>2</a:t>
                </a:r>
                <a:r>
                  <a:rPr lang="en-US" dirty="0" smtClean="0"/>
                  <a:t>​t),</a:t>
                </a:r>
                <a:r>
                  <a:rPr lang="en-US" dirty="0" err="1" smtClean="0"/>
                  <a:t>cos</a:t>
                </a:r>
                <a:r>
                  <a:rPr lang="en-US" dirty="0" smtClean="0"/>
                  <a:t>(ω</a:t>
                </a:r>
                <a:r>
                  <a:rPr lang="en-US" baseline="-25000" dirty="0" smtClean="0"/>
                  <a:t>2​</a:t>
                </a:r>
                <a:r>
                  <a:rPr lang="en-US" dirty="0" smtClean="0"/>
                  <a:t>t),… sin(</a:t>
                </a:r>
                <a:r>
                  <a:rPr lang="en-US" dirty="0" err="1" smtClean="0"/>
                  <a:t>ω</a:t>
                </a:r>
                <a:r>
                  <a:rPr lang="en-US" baseline="-25000" dirty="0" err="1" smtClean="0"/>
                  <a:t>k</a:t>
                </a:r>
                <a:r>
                  <a:rPr lang="en-US" dirty="0" err="1" smtClean="0"/>
                  <a:t>t</a:t>
                </a:r>
                <a:r>
                  <a:rPr lang="en-US" dirty="0" smtClean="0"/>
                  <a:t>), </a:t>
                </a:r>
                <a:r>
                  <a:rPr lang="en-US" dirty="0" err="1" smtClean="0"/>
                  <a:t>cos</a:t>
                </a:r>
                <a:r>
                  <a:rPr lang="en-US" dirty="0" smtClean="0"/>
                  <a:t>(</a:t>
                </a:r>
                <a:r>
                  <a:rPr lang="en-US" dirty="0" err="1" smtClean="0"/>
                  <a:t>ω</a:t>
                </a:r>
                <a:r>
                  <a:rPr lang="en-US" baseline="-25000" dirty="0" err="1" smtClean="0"/>
                  <a:t>k</a:t>
                </a:r>
                <a:r>
                  <a:rPr lang="en-US" dirty="0" err="1" smtClean="0"/>
                  <a:t>t</a:t>
                </a:r>
                <a:r>
                  <a:rPr lang="en-US" dirty="0" smtClean="0"/>
                  <a:t>)]</a:t>
                </a:r>
                <a:endParaRPr lang="en-US" dirty="0" smtClean="0"/>
              </a:p>
              <a:p>
                <a:pPr lvl="1" indent="-457200">
                  <a:buSzPts val="3200"/>
                </a:pPr>
                <a:r>
                  <a:rPr lang="en-US" sz="2000" dirty="0" smtClean="0"/>
                  <a:t>R</a:t>
                </a:r>
                <a:r>
                  <a:rPr lang="en-US" sz="2000" dirty="0" smtClean="0"/>
                  <a:t>econstructed carrier velocities</a:t>
                </a:r>
              </a:p>
              <a:p>
                <a:pPr marL="1371600" lvl="3" indent="0">
                  <a:buSzPts val="3200"/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/>
                      <m:t>p</m:t>
                    </m:r>
                    <m:r>
                      <m:rPr>
                        <m:nor/>
                      </m:rPr>
                      <a:rPr lang="en-US" sz="2000"/>
                      <m:t>̇</m:t>
                    </m:r>
                    <m:r>
                      <m:rPr>
                        <m:nor/>
                      </m:rPr>
                      <a:rPr lang="en-US" sz="2000" baseline="-25000" smtClean="0"/>
                      <m:t>Ri</m:t>
                    </m:r>
                    <m:r>
                      <m:rPr>
                        <m:nor/>
                      </m:rPr>
                      <a:rPr lang="en-US" sz="2000" smtClean="0"/>
                      <m:t>(</m:t>
                    </m:r>
                    <m:r>
                      <m:rPr>
                        <m:nor/>
                      </m:rPr>
                      <a:rPr lang="en-US" sz="2000"/>
                      <m:t>t</m:t>
                    </m:r>
                    <m:r>
                      <m:rPr>
                        <m:nor/>
                      </m:rPr>
                      <a:rPr lang="en-US" sz="2000"/>
                      <m:t>), </m:t>
                    </m:r>
                    <m:r>
                      <m:rPr>
                        <m:nor/>
                      </m:rPr>
                      <a:rPr lang="en-US" sz="2000"/>
                      <m:t>i</m:t>
                    </m:r>
                    <m:r>
                      <m:rPr>
                        <m:nor/>
                      </m:rPr>
                      <a:rPr lang="en-US" sz="2000"/>
                      <m:t>=</m:t>
                    </m:r>
                    <m:r>
                      <m:rPr>
                        <m:nor/>
                      </m:rPr>
                      <a:rPr lang="en-US" sz="2000"/>
                      <m:t>1,2,3,4</m:t>
                    </m:r>
                  </m:oMath>
                </a14:m>
                <a:endParaRPr lang="en-US" sz="2000" dirty="0" smtClean="0"/>
              </a:p>
              <a:p>
                <a:pPr lvl="1" indent="-457200">
                  <a:buSzPts val="3200"/>
                </a:pPr>
                <a:r>
                  <a:rPr lang="en-US" sz="2000" dirty="0"/>
                  <a:t>L</a:t>
                </a:r>
                <a:r>
                  <a:rPr lang="en-US" sz="2000" dirty="0" smtClean="0"/>
                  <a:t>og-spaced point taps (λ at lags 1, 2, 4, 8, 16, 32, 64, 128, 192, 256 steps)]</a:t>
                </a:r>
                <a:endParaRPr lang="ar-EG" sz="2000" dirty="0"/>
              </a:p>
              <a:p>
                <a:pPr marL="1371600" lvl="3" indent="0">
                  <a:buSzPts val="3200"/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[</a:t>
                </a:r>
                <a:r>
                  <a:rPr lang="el-GR" sz="2000" dirty="0" smtClean="0"/>
                  <a:t>λ(</a:t>
                </a:r>
                <a:r>
                  <a:rPr lang="en-US" sz="2000" dirty="0" smtClean="0"/>
                  <a:t>t-1),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t-2),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t-4),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t-8),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t-16),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t-32),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t-64),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t-128),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t-192),</a:t>
                </a:r>
                <a:r>
                  <a:rPr lang="el-GR" sz="2000" dirty="0"/>
                  <a:t> λ(</a:t>
                </a:r>
                <a:r>
                  <a:rPr lang="en-US" sz="2000" dirty="0" smtClean="0"/>
                  <a:t>t-256)] </a:t>
                </a:r>
                <a:endParaRPr lang="en-US" sz="2000" dirty="0"/>
              </a:p>
              <a:p>
                <a:pPr marL="0" indent="0">
                  <a:buSzPts val="3200"/>
                  <a:buNone/>
                </a:pPr>
                <a:r>
                  <a:rPr lang="en-US" sz="2000" dirty="0" smtClean="0"/>
                  <a:t> </a:t>
                </a:r>
                <a:endParaRPr lang="en-US" sz="2000" dirty="0" smtClean="0"/>
              </a:p>
            </p:txBody>
          </p:sp>
        </mc:Choice>
        <mc:Fallback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5999" y="2178768"/>
                <a:ext cx="11385933" cy="4520796"/>
              </a:xfrm>
              <a:prstGeom prst="rect">
                <a:avLst/>
              </a:prstGeom>
              <a:blipFill rotWithShape="0">
                <a:blip r:embed="rId3"/>
                <a:stretch>
                  <a:fillRect l="-1231" t="-21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4392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305" y="1413163"/>
            <a:ext cx="1036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8573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Updates:</a:t>
            </a:r>
            <a:r>
              <a:rPr lang="ar-EG" dirty="0"/>
              <a:t/>
            </a:r>
            <a:br>
              <a:rPr lang="ar-EG" dirty="0"/>
            </a:br>
            <a:r>
              <a:rPr lang="en-US" dirty="0" smtClean="0"/>
              <a:t>Formulation </a:t>
            </a:r>
            <a:r>
              <a:rPr lang="en-US" dirty="0" smtClean="0"/>
              <a:t>1 Generalization: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4520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457200">
              <a:buSzPts val="3200"/>
            </a:pPr>
            <a:r>
              <a:rPr lang="en-US" sz="2000" dirty="0" smtClean="0"/>
              <a:t>Behavioral Cloning with </a:t>
            </a:r>
            <a:r>
              <a:rPr lang="en-US" sz="2000" dirty="0" err="1" smtClean="0"/>
              <a:t>DAgger</a:t>
            </a:r>
            <a:r>
              <a:rPr lang="en-US" sz="2000" dirty="0" smtClean="0"/>
              <a:t> proved to be enough to generalize across trajectories so Imitation learning was enough. No RL needed</a:t>
            </a:r>
          </a:p>
          <a:p>
            <a:pPr marL="0" indent="0">
              <a:buSzPts val="3200"/>
              <a:buNone/>
            </a:pPr>
            <a:endParaRPr lang="en-US" sz="2000" dirty="0" smtClean="0"/>
          </a:p>
          <a:p>
            <a:pPr indent="-457200">
              <a:buSzPts val="3200"/>
            </a:pPr>
            <a:r>
              <a:rPr lang="en-US" sz="2000" dirty="0" smtClean="0"/>
              <a:t>Trained by sampling </a:t>
            </a:r>
            <a:r>
              <a:rPr lang="en-US" sz="2000" dirty="0"/>
              <a:t>random component-wise rest-to-rest </a:t>
            </a:r>
            <a:r>
              <a:rPr lang="en-US" sz="2000" dirty="0" err="1"/>
              <a:t>quintic</a:t>
            </a:r>
            <a:r>
              <a:rPr lang="en-US" sz="2000" dirty="0"/>
              <a:t> polynomial </a:t>
            </a:r>
            <a:r>
              <a:rPr lang="en-US" sz="2000" dirty="0" smtClean="0"/>
              <a:t>trajectories</a:t>
            </a:r>
          </a:p>
          <a:p>
            <a:pPr indent="-457200">
              <a:buSzPts val="3200"/>
            </a:pPr>
            <a:endParaRPr lang="en-US" sz="2000" dirty="0" smtClean="0"/>
          </a:p>
          <a:p>
            <a:pPr indent="-457200">
              <a:buSzPts val="3200"/>
            </a:pPr>
            <a:r>
              <a:rPr lang="en-US" sz="2000" dirty="0" smtClean="0"/>
              <a:t>Generalization across different scales, episode time and movement axes</a:t>
            </a:r>
          </a:p>
          <a:p>
            <a:pPr indent="-457200">
              <a:buSzPts val="3200"/>
            </a:pPr>
            <a:endParaRPr lang="en-US" sz="2000" dirty="0"/>
          </a:p>
          <a:p>
            <a:pPr marL="0" indent="0">
              <a:buSzPts val="3200"/>
              <a:buNone/>
            </a:pPr>
            <a:r>
              <a:rPr lang="en-US" sz="2000" dirty="0" smtClean="0"/>
              <a:t> </a:t>
            </a:r>
            <a:endParaRPr lang="en-US" sz="2000" dirty="0" smtClean="0"/>
          </a:p>
        </p:txBody>
      </p:sp>
    </p:spTree>
    <p:extLst>
      <p:ext uri="{BB962C8B-B14F-4D97-AF65-F5344CB8AC3E}">
        <p14:creationId xmlns:p14="http://schemas.microsoft.com/office/powerpoint/2010/main" val="18876926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4611" y="2776147"/>
            <a:ext cx="7998778" cy="3968144"/>
          </a:xfrm>
          <a:prstGeom prst="rect">
            <a:avLst/>
          </a:prstGeom>
        </p:spPr>
      </p:pic>
      <p:sp>
        <p:nvSpPr>
          <p:cNvPr id="8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535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457200">
              <a:buSzPts val="3200"/>
            </a:pPr>
            <a:r>
              <a:rPr lang="en-US" sz="2000" dirty="0" smtClean="0"/>
              <a:t>Randomly Generated component-wise </a:t>
            </a:r>
            <a:r>
              <a:rPr lang="en-US" sz="2000" dirty="0"/>
              <a:t>rest-to-rest </a:t>
            </a:r>
            <a:r>
              <a:rPr lang="en-US" sz="2000" dirty="0" err="1"/>
              <a:t>quintic</a:t>
            </a:r>
            <a:r>
              <a:rPr lang="en-US" sz="2000" dirty="0"/>
              <a:t> polynomial </a:t>
            </a:r>
            <a:r>
              <a:rPr lang="en-US" sz="2000" dirty="0" smtClean="0"/>
              <a:t>trajectory(not seen during training)</a:t>
            </a:r>
            <a:endParaRPr lang="en-US" sz="2000" dirty="0" smtClean="0"/>
          </a:p>
        </p:txBody>
      </p:sp>
    </p:spTree>
    <p:extLst>
      <p:ext uri="{BB962C8B-B14F-4D97-AF65-F5344CB8AC3E}">
        <p14:creationId xmlns:p14="http://schemas.microsoft.com/office/powerpoint/2010/main" val="2600334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25" y="2013626"/>
            <a:ext cx="9615725" cy="4770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685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7740" y="2341221"/>
            <a:ext cx="8712520" cy="4322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3912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4996" y="2017221"/>
            <a:ext cx="9358008" cy="464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88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sp>
        <p:nvSpPr>
          <p:cNvPr id="8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535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457200">
              <a:buSzPts val="3200"/>
            </a:pPr>
            <a:r>
              <a:rPr lang="en-US" sz="2000" dirty="0" smtClean="0"/>
              <a:t>Generalization across time</a:t>
            </a:r>
            <a:endParaRPr lang="en-US" sz="2000" dirty="0" smtClean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412" y="2810660"/>
            <a:ext cx="8009106" cy="3973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809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656" y="2146668"/>
            <a:ext cx="9104688" cy="451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114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sp>
        <p:nvSpPr>
          <p:cNvPr id="8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535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457200">
              <a:buSzPts val="3200"/>
            </a:pPr>
            <a:r>
              <a:rPr lang="en-US" sz="2000" dirty="0" smtClean="0"/>
              <a:t>Trajectory where A and ξ change mid-episode</a:t>
            </a:r>
            <a:endParaRPr lang="en-US" sz="2000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638" y="2714017"/>
            <a:ext cx="8096654" cy="401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321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3962" y="2341221"/>
            <a:ext cx="8720075" cy="4325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2868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0684" y="2016526"/>
            <a:ext cx="9386632" cy="4656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5738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200" y="2138425"/>
            <a:ext cx="8991600" cy="446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441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6332" y="2105253"/>
            <a:ext cx="9215336" cy="4571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528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9042" y="2040161"/>
            <a:ext cx="9289916" cy="4608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19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olidFill>
                  <a:schemeClr val="tx1"/>
                </a:solidFill>
                <a:latin typeface="Google Sans Text"/>
              </a:rPr>
              <a:t>Load Tracking Performance </a:t>
            </a:r>
            <a:r>
              <a:rPr lang="en-US" dirty="0" smtClean="0">
                <a:solidFill>
                  <a:schemeClr val="tx1"/>
                </a:solidFill>
                <a:latin typeface="Google Sans Text"/>
              </a:rPr>
              <a:t>(Average across multiple testing runs)</a:t>
            </a:r>
            <a:endParaRPr lang="en-US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482887"/>
              </p:ext>
            </p:extLst>
          </p:nvPr>
        </p:nvGraphicFramePr>
        <p:xfrm>
          <a:off x="838200" y="2995454"/>
          <a:ext cx="10515600" cy="134112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Google Sans Text"/>
                        </a:rPr>
                        <a:t>Metric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>
                          <a:effectLst/>
                          <a:latin typeface="Google Sans Text"/>
                        </a:rPr>
                        <a:t>Policy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Optimizer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track_mean (m)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~0.03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~0.03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track_max (m)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~0.15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~0.15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Google Sans Text"/>
                        </a:rPr>
                        <a:t>Load Track MSE (m²)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~0.0035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~0.0035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358723" y="4698232"/>
            <a:ext cx="11385933" cy="535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457200">
              <a:buSzPts val="3200"/>
            </a:pPr>
            <a:r>
              <a:rPr lang="en-US" sz="2000" dirty="0" smtClean="0"/>
              <a:t>Identical. Expected since the MLP does not touch the load tracking. </a:t>
            </a:r>
            <a:endParaRPr lang="en-US" sz="2000" dirty="0" smtClean="0"/>
          </a:p>
        </p:txBody>
      </p:sp>
    </p:spTree>
    <p:extLst>
      <p:ext uri="{BB962C8B-B14F-4D97-AF65-F5344CB8AC3E}">
        <p14:creationId xmlns:p14="http://schemas.microsoft.com/office/powerpoint/2010/main" val="34243649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Drone Trajectory &amp; </a:t>
            </a:r>
            <a:r>
              <a:rPr lang="el-GR" dirty="0"/>
              <a:t>λ </a:t>
            </a:r>
            <a:r>
              <a:rPr lang="en-US" dirty="0" smtClean="0"/>
              <a:t>Discrepancy vs. </a:t>
            </a:r>
            <a:r>
              <a:rPr lang="en-US" dirty="0"/>
              <a:t>Optimizer </a:t>
            </a:r>
            <a:r>
              <a:rPr lang="en-US" dirty="0" smtClean="0"/>
              <a:t>Reference </a:t>
            </a:r>
            <a:r>
              <a:rPr lang="en-US" dirty="0" smtClean="0">
                <a:solidFill>
                  <a:schemeClr val="tx1"/>
                </a:solidFill>
                <a:latin typeface="Google Sans Text"/>
              </a:rPr>
              <a:t>(Average across multiple testing runs)</a:t>
            </a:r>
            <a:endParaRPr lang="en-US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7212550"/>
              </p:ext>
            </p:extLst>
          </p:nvPr>
        </p:nvGraphicFramePr>
        <p:xfrm>
          <a:off x="546371" y="2684169"/>
          <a:ext cx="10515600" cy="201168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 smtClean="0">
                          <a:effectLst/>
                          <a:latin typeface="Google Sans Text"/>
                        </a:rPr>
                        <a:t>Unit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Google Sans Text"/>
                        </a:rPr>
                        <a:t>Carrier </a:t>
                      </a:r>
                      <a:r>
                        <a:rPr lang="en-US" b="1" dirty="0" smtClean="0">
                          <a:effectLst/>
                          <a:latin typeface="Google Sans Text"/>
                        </a:rPr>
                        <a:t>Position MSE </a:t>
                      </a:r>
                      <a:r>
                        <a:rPr lang="en-US" b="1" dirty="0">
                          <a:effectLst/>
                          <a:latin typeface="Google Sans Text"/>
                        </a:rPr>
                        <a:t>(m²)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Lambda MSE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Drone 1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~0.000183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~0.000507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Drone 2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~0.000180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~0.000533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Drone 3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~0.000180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~0.000507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Drone 4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~0.000183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~0.000533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ALL Drones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>
                          <a:effectLst/>
                          <a:latin typeface="Google Sans Text"/>
                        </a:rPr>
                        <a:t>~0.000182</a:t>
                      </a:r>
                      <a:r>
                        <a:rPr lang="en-US" dirty="0" smtClean="0">
                          <a:effectLst/>
                          <a:latin typeface="Google Sans Text"/>
                        </a:rPr>
                        <a:t> </a:t>
                      </a:r>
                      <a:r>
                        <a:rPr lang="en-US" i="1" dirty="0">
                          <a:effectLst/>
                          <a:latin typeface="Google Sans Text"/>
                        </a:rPr>
                        <a:t>(RMSE 0.01327 m)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>
                          <a:effectLst/>
                          <a:latin typeface="Google Sans Text"/>
                        </a:rPr>
                        <a:t>~0.000520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9470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4520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457200">
              <a:buSzPts val="3200"/>
            </a:pPr>
            <a:r>
              <a:rPr lang="en-US" dirty="0" smtClean="0"/>
              <a:t>Action Space: </a:t>
            </a:r>
            <a:r>
              <a:rPr lang="el-GR" dirty="0" smtClean="0"/>
              <a:t>δ</a:t>
            </a:r>
            <a:r>
              <a:rPr lang="en-US" dirty="0"/>
              <a:t>𝑓</a:t>
            </a:r>
            <a:r>
              <a:rPr lang="en-US" dirty="0" smtClean="0"/>
              <a:t> </a:t>
            </a:r>
            <a:r>
              <a:rPr lang="en-US" dirty="0"/>
              <a:t>∈ </a:t>
            </a:r>
            <a:r>
              <a:rPr lang="en-US" dirty="0" smtClean="0"/>
              <a:t>R</a:t>
            </a:r>
            <a:r>
              <a:rPr lang="en-US" baseline="30000" dirty="0" smtClean="0"/>
              <a:t>3n</a:t>
            </a:r>
            <a:r>
              <a:rPr lang="en-US" dirty="0" smtClean="0"/>
              <a:t> </a:t>
            </a:r>
          </a:p>
          <a:p>
            <a:pPr lvl="1" indent="-457200">
              <a:buSzPts val="3200"/>
            </a:pPr>
            <a:r>
              <a:rPr lang="en-US" dirty="0" smtClean="0"/>
              <a:t>Keep wrench controller and optimizer. Run decentralized</a:t>
            </a:r>
          </a:p>
          <a:p>
            <a:pPr marL="457200" lvl="1" indent="0">
              <a:buSzPts val="3200"/>
              <a:buNone/>
            </a:pPr>
            <a:r>
              <a:rPr lang="en-US" dirty="0" smtClean="0"/>
              <a:t>				</a:t>
            </a:r>
            <a:r>
              <a:rPr lang="en-US" dirty="0"/>
              <a:t>𝑓 (𝑡) = 𝑓</a:t>
            </a:r>
            <a:r>
              <a:rPr lang="en-US" baseline="-25000" dirty="0"/>
              <a:t>𝑔</a:t>
            </a:r>
            <a:r>
              <a:rPr lang="en-US" dirty="0"/>
              <a:t>(𝑡)+ 𝑓</a:t>
            </a:r>
            <a:r>
              <a:rPr lang="en-US" baseline="-25000" dirty="0"/>
              <a:t>𝜆</a:t>
            </a:r>
            <a:r>
              <a:rPr lang="en-US" dirty="0"/>
              <a:t>(𝑡</a:t>
            </a:r>
            <a:r>
              <a:rPr lang="en-US" dirty="0" smtClean="0"/>
              <a:t>) + </a:t>
            </a:r>
            <a:r>
              <a:rPr lang="el-GR" u="sng" dirty="0" smtClean="0"/>
              <a:t>δ</a:t>
            </a:r>
            <a:r>
              <a:rPr lang="en-US" u="sng" dirty="0" smtClean="0"/>
              <a:t>𝑓(t)</a:t>
            </a:r>
          </a:p>
          <a:p>
            <a:pPr marL="457200" lvl="1" indent="0">
              <a:buSzPts val="3200"/>
              <a:buNone/>
            </a:pPr>
            <a:endParaRPr lang="en-US" u="sng" dirty="0" smtClean="0"/>
          </a:p>
          <a:p>
            <a:pPr marL="457200" lvl="1" indent="0">
              <a:buSzPts val="3200"/>
              <a:buNone/>
            </a:pPr>
            <a:endParaRPr lang="en-US" u="sng" dirty="0" smtClean="0"/>
          </a:p>
          <a:p>
            <a:pPr lvl="1" indent="-457200">
              <a:buSzPts val="3200"/>
            </a:pPr>
            <a:r>
              <a:rPr lang="en-US" dirty="0" smtClean="0"/>
              <a:t>Much better learning when decomposed</a:t>
            </a:r>
            <a:endParaRPr lang="en-US" dirty="0"/>
          </a:p>
          <a:p>
            <a:pPr marL="457200" lvl="1" indent="0">
              <a:buSzPts val="3200"/>
              <a:buNone/>
            </a:pPr>
            <a:r>
              <a:rPr lang="en-US" dirty="0"/>
              <a:t>			</a:t>
            </a:r>
            <a:r>
              <a:rPr lang="en-US" dirty="0" smtClean="0"/>
              <a:t>𝑓 </a:t>
            </a:r>
            <a:r>
              <a:rPr lang="en-US" dirty="0"/>
              <a:t>(𝑡)</a:t>
            </a:r>
            <a:r>
              <a:rPr lang="en-US" dirty="0" smtClean="0"/>
              <a:t> </a:t>
            </a:r>
            <a:r>
              <a:rPr lang="en-US" dirty="0"/>
              <a:t>= </a:t>
            </a:r>
            <a:r>
              <a:rPr lang="en-US" dirty="0" smtClean="0"/>
              <a:t>G(t)</a:t>
            </a:r>
            <a:r>
              <a:rPr lang="en-US" baseline="30000" dirty="0" smtClean="0"/>
              <a:t>† </a:t>
            </a:r>
            <a:r>
              <a:rPr lang="en-US" dirty="0" smtClean="0"/>
              <a:t>· (w</a:t>
            </a:r>
            <a:r>
              <a:rPr lang="en-US" baseline="-25000" dirty="0" smtClean="0"/>
              <a:t>d</a:t>
            </a:r>
            <a:r>
              <a:rPr lang="en-US" dirty="0" smtClean="0"/>
              <a:t>(t) + </a:t>
            </a:r>
            <a:r>
              <a:rPr lang="el-GR" u="sng" dirty="0" smtClean="0"/>
              <a:t>δ</a:t>
            </a:r>
            <a:r>
              <a:rPr lang="en-US" u="sng" dirty="0" smtClean="0"/>
              <a:t>w(t)</a:t>
            </a:r>
            <a:r>
              <a:rPr lang="en-US" dirty="0" smtClean="0"/>
              <a:t>)  + N(t) </a:t>
            </a:r>
            <a:r>
              <a:rPr lang="en-US" dirty="0"/>
              <a:t>· </a:t>
            </a:r>
            <a:r>
              <a:rPr lang="en-US" dirty="0" smtClean="0"/>
              <a:t>(</a:t>
            </a:r>
            <a:r>
              <a:rPr lang="el-GR" dirty="0" smtClean="0"/>
              <a:t>λ(</a:t>
            </a:r>
            <a:r>
              <a:rPr lang="en-US" dirty="0"/>
              <a:t>t</a:t>
            </a:r>
            <a:r>
              <a:rPr lang="en-US" dirty="0" smtClean="0"/>
              <a:t>) + </a:t>
            </a:r>
            <a:r>
              <a:rPr lang="el-GR" u="sng" dirty="0" smtClean="0"/>
              <a:t>δλ</a:t>
            </a:r>
            <a:r>
              <a:rPr lang="en-US" u="sng" dirty="0" smtClean="0"/>
              <a:t>(t)</a:t>
            </a:r>
            <a:r>
              <a:rPr lang="en-US" dirty="0" smtClean="0"/>
              <a:t>)</a:t>
            </a:r>
            <a:endParaRPr lang="ar-EG" dirty="0"/>
          </a:p>
          <a:p>
            <a:pPr marL="457200" lvl="1" indent="0">
              <a:buSzPts val="3200"/>
              <a:buNone/>
            </a:pPr>
            <a:r>
              <a:rPr lang="el-GR" dirty="0" smtClean="0"/>
              <a:t>δ</a:t>
            </a:r>
            <a:r>
              <a:rPr lang="en-US" dirty="0" smtClean="0"/>
              <a:t>w</a:t>
            </a:r>
            <a:r>
              <a:rPr lang="ar-EG" dirty="0" smtClean="0"/>
              <a:t> </a:t>
            </a:r>
            <a:r>
              <a:rPr lang="en-US" dirty="0" smtClean="0"/>
              <a:t>∈ R</a:t>
            </a:r>
            <a:r>
              <a:rPr lang="ar-EG" baseline="30000" dirty="0" smtClean="0"/>
              <a:t>6</a:t>
            </a:r>
            <a:r>
              <a:rPr lang="en-US" baseline="30000" dirty="0"/>
              <a:t> </a:t>
            </a:r>
            <a:r>
              <a:rPr lang="en-US" dirty="0" smtClean="0"/>
              <a:t>, </a:t>
            </a:r>
            <a:r>
              <a:rPr lang="el-GR" dirty="0" smtClean="0"/>
              <a:t>δλ</a:t>
            </a:r>
            <a:r>
              <a:rPr lang="en-US" dirty="0" smtClean="0"/>
              <a:t> </a:t>
            </a:r>
            <a:r>
              <a:rPr lang="en-US" dirty="0"/>
              <a:t>∈ </a:t>
            </a:r>
            <a:r>
              <a:rPr lang="en-US" dirty="0" err="1" smtClean="0"/>
              <a:t>R</a:t>
            </a:r>
            <a:r>
              <a:rPr lang="en-US" baseline="30000" dirty="0" err="1"/>
              <a:t>n</a:t>
            </a:r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476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5999" y="2178768"/>
                <a:ext cx="11385933" cy="45207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indent="-457200">
                  <a:buSzPts val="3200"/>
                </a:pPr>
                <a:r>
                  <a:rPr lang="en-US" dirty="0" smtClean="0"/>
                  <a:t>Observation</a:t>
                </a:r>
                <a:r>
                  <a:rPr lang="en-US" dirty="0" smtClean="0"/>
                  <a:t> Space (Original)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44</a:t>
                </a:r>
                <a:r>
                  <a:rPr lang="en-US" dirty="0" smtClean="0"/>
                  <a:t> </a:t>
                </a:r>
                <a:r>
                  <a:rPr lang="en-US" dirty="0" smtClean="0"/>
                  <a:t>: 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Measured load state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18</a:t>
                </a:r>
                <a:r>
                  <a:rPr lang="en-US" dirty="0" smtClean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		[</a:t>
                </a:r>
                <a:r>
                  <a:rPr lang="en-US" dirty="0" err="1" smtClean="0"/>
                  <a:t>p</a:t>
                </a:r>
                <a:r>
                  <a:rPr lang="en-US" baseline="-25000" dirty="0" err="1" smtClean="0"/>
                  <a:t>L</a:t>
                </a:r>
                <a:r>
                  <a:rPr lang="en-US" dirty="0" smtClean="0"/>
                  <a:t>(t</a:t>
                </a:r>
                <a:r>
                  <a:rPr lang="en-US" dirty="0"/>
                  <a:t>), </a:t>
                </a:r>
                <a:r>
                  <a:rPr lang="en-US" dirty="0" smtClean="0"/>
                  <a:t>R</a:t>
                </a:r>
                <a:r>
                  <a:rPr lang="en-US" baseline="-25000" dirty="0" smtClean="0"/>
                  <a:t>L</a:t>
                </a:r>
                <a:r>
                  <a:rPr lang="en-US" dirty="0" smtClean="0"/>
                  <a:t>(t</a:t>
                </a:r>
                <a:r>
                  <a:rPr lang="en-US" dirty="0"/>
                  <a:t>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 smtClean="0"/>
                  <a:t>L</a:t>
                </a:r>
                <a:r>
                  <a:rPr lang="en-US" dirty="0" smtClean="0"/>
                  <a:t>(t</a:t>
                </a:r>
                <a:r>
                  <a:rPr lang="en-US" dirty="0"/>
                  <a:t>),  </a:t>
                </a:r>
                <a:r>
                  <a:rPr lang="en-US" dirty="0" err="1" smtClean="0"/>
                  <a:t>ω</a:t>
                </a:r>
                <a:r>
                  <a:rPr lang="en-US" baseline="-25000" dirty="0" err="1" smtClean="0"/>
                  <a:t>L</a:t>
                </a:r>
                <a:r>
                  <a:rPr lang="en-US" dirty="0" smtClean="0"/>
                  <a:t>(t)]</a:t>
                </a:r>
                <a:endParaRPr lang="en-US" baseline="-25000" dirty="0" smtClean="0"/>
              </a:p>
              <a:p>
                <a:pPr lvl="1" indent="-457200">
                  <a:buSzPts val="3200"/>
                </a:pPr>
                <a:r>
                  <a:rPr lang="en-US" dirty="0" smtClean="0"/>
                  <a:t>Own carrier position and velocity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/>
                  <a:t>6</a:t>
                </a:r>
                <a:r>
                  <a:rPr lang="en-US" dirty="0" smtClean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		</a:t>
                </a:r>
                <a:r>
                  <a:rPr lang="en-US" dirty="0"/>
                  <a:t>	</a:t>
                </a:r>
                <a:r>
                  <a:rPr lang="en-US" dirty="0" smtClean="0"/>
                  <a:t>[</a:t>
                </a:r>
                <a:r>
                  <a:rPr lang="en-US" dirty="0" err="1" smtClean="0"/>
                  <a:t>p</a:t>
                </a:r>
                <a:r>
                  <a:rPr lang="en-US" baseline="-25000" dirty="0" err="1" smtClean="0"/>
                  <a:t>R</a:t>
                </a:r>
                <a:r>
                  <a:rPr lang="en-US" dirty="0" smtClean="0"/>
                  <a:t>(t</a:t>
                </a:r>
                <a:r>
                  <a:rPr lang="en-US" dirty="0"/>
                  <a:t>)</a:t>
                </a:r>
                <a:r>
                  <a:rPr lang="en-US" dirty="0" smtClean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="0" i="0" baseline="-25000" smtClean="0"/>
                      <m:t>R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 smtClean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Base force components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			[</a:t>
                </a:r>
                <a:r>
                  <a:rPr lang="en-US" dirty="0"/>
                  <a:t>𝑓</a:t>
                </a:r>
                <a:r>
                  <a:rPr lang="en-US" baseline="-25000" dirty="0"/>
                  <a:t>𝑔</a:t>
                </a:r>
                <a:r>
                  <a:rPr lang="en-US" dirty="0"/>
                  <a:t>(𝑡</a:t>
                </a:r>
                <a:r>
                  <a:rPr lang="en-US" dirty="0" smtClean="0"/>
                  <a:t>), </a:t>
                </a:r>
                <a:r>
                  <a:rPr lang="en-US" dirty="0"/>
                  <a:t>𝑓</a:t>
                </a:r>
                <a:r>
                  <a:rPr lang="en-US" baseline="-25000" dirty="0"/>
                  <a:t>𝜆</a:t>
                </a:r>
                <a:r>
                  <a:rPr lang="en-US" dirty="0"/>
                  <a:t>(𝑡</a:t>
                </a:r>
                <a:r>
                  <a:rPr lang="en-US" dirty="0" smtClean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Fourier </a:t>
                </a:r>
                <a:r>
                  <a:rPr lang="en-US" dirty="0"/>
                  <a:t>time embedding/features</a:t>
                </a:r>
              </a:p>
              <a:p>
                <a:pPr marL="914400" lvl="2" indent="0">
                  <a:buSzPts val="3200"/>
                  <a:buNone/>
                </a:pPr>
                <a:r>
                  <a:rPr lang="en-US" sz="2400" dirty="0"/>
                  <a:t>	ϕ(t)  = [sin(ω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​t),</a:t>
                </a:r>
                <a:r>
                  <a:rPr lang="en-US" sz="2400" dirty="0" err="1"/>
                  <a:t>cos</a:t>
                </a:r>
                <a:r>
                  <a:rPr lang="en-US" sz="2400" dirty="0"/>
                  <a:t>(ω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​t),sin(ω</a:t>
                </a:r>
                <a:r>
                  <a:rPr lang="en-US" sz="2400" baseline="-25000" dirty="0"/>
                  <a:t>2</a:t>
                </a:r>
                <a:r>
                  <a:rPr lang="en-US" sz="2400" dirty="0"/>
                  <a:t>​t),</a:t>
                </a:r>
                <a:r>
                  <a:rPr lang="en-US" sz="2400" dirty="0" err="1"/>
                  <a:t>cos</a:t>
                </a:r>
                <a:r>
                  <a:rPr lang="en-US" sz="2400" dirty="0"/>
                  <a:t>(ω</a:t>
                </a:r>
                <a:r>
                  <a:rPr lang="en-US" sz="2400" baseline="-25000" dirty="0"/>
                  <a:t>2​</a:t>
                </a:r>
                <a:r>
                  <a:rPr lang="en-US" sz="2400" dirty="0"/>
                  <a:t>t),… sin(</a:t>
                </a:r>
                <a:r>
                  <a:rPr lang="en-US" sz="2400" dirty="0" err="1"/>
                  <a:t>ω</a:t>
                </a:r>
                <a:r>
                  <a:rPr lang="en-US" sz="2400" baseline="-25000" dirty="0" err="1"/>
                  <a:t>k</a:t>
                </a:r>
                <a:r>
                  <a:rPr lang="en-US" sz="2400" dirty="0" err="1"/>
                  <a:t>t</a:t>
                </a:r>
                <a:r>
                  <a:rPr lang="en-US" sz="2400" dirty="0"/>
                  <a:t>), </a:t>
                </a:r>
                <a:r>
                  <a:rPr lang="en-US" sz="2400" dirty="0" err="1"/>
                  <a:t>cos</a:t>
                </a:r>
                <a:r>
                  <a:rPr lang="en-US" sz="2400" dirty="0"/>
                  <a:t>(</a:t>
                </a:r>
                <a:r>
                  <a:rPr lang="en-US" sz="2400" dirty="0" err="1"/>
                  <a:t>ω</a:t>
                </a:r>
                <a:r>
                  <a:rPr lang="en-US" sz="2400" baseline="-25000" dirty="0" err="1"/>
                  <a:t>k</a:t>
                </a:r>
                <a:r>
                  <a:rPr lang="en-US" sz="2400" dirty="0" err="1"/>
                  <a:t>t</a:t>
                </a:r>
                <a:r>
                  <a:rPr lang="en-US" sz="2400" dirty="0" smtClean="0"/>
                  <a:t>)]</a:t>
                </a:r>
                <a:endParaRPr lang="en-US" u="sng" dirty="0" smtClean="0"/>
              </a:p>
            </p:txBody>
          </p:sp>
        </mc:Choice>
        <mc:Fallback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5999" y="2178768"/>
                <a:ext cx="11385933" cy="4520796"/>
              </a:xfrm>
              <a:prstGeom prst="rect">
                <a:avLst/>
              </a:prstGeom>
              <a:blipFill rotWithShape="0">
                <a:blip r:embed="rId3"/>
                <a:stretch>
                  <a:fillRect l="-1231" t="-1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025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 lnSpcReduction="10000"/>
              </a:bodyPr>
              <a:lstStyle/>
              <a:p>
                <a:pPr indent="-457200">
                  <a:buSzPts val="3200"/>
                </a:pPr>
                <a:r>
                  <a:rPr lang="en-US" dirty="0" smtClean="0"/>
                  <a:t>Observation</a:t>
                </a:r>
                <a:r>
                  <a:rPr lang="en-US" dirty="0" smtClean="0"/>
                  <a:t> Space (Augmented)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98</a:t>
                </a:r>
                <a:r>
                  <a:rPr lang="en-US" dirty="0" smtClean="0"/>
                  <a:t> </a:t>
                </a:r>
                <a:r>
                  <a:rPr lang="en-US" dirty="0" smtClean="0"/>
                  <a:t>:</a:t>
                </a:r>
              </a:p>
              <a:p>
                <a:pPr indent="-457200">
                  <a:buSzPts val="3200"/>
                </a:pPr>
                <a:r>
                  <a:rPr lang="en-US" sz="2400" dirty="0"/>
                  <a:t>Original Observation Space in addition to: 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The last two measured load states </a:t>
                </a:r>
                <a:r>
                  <a:rPr lang="en-US" dirty="0"/>
                  <a:t>∈ </a:t>
                </a:r>
                <a:r>
                  <a:rPr lang="en-US" dirty="0"/>
                  <a:t>R</a:t>
                </a:r>
                <a:r>
                  <a:rPr lang="en-US" baseline="30000" dirty="0"/>
                  <a:t>24</a:t>
                </a:r>
                <a:endParaRPr lang="en-US" baseline="-25000" dirty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L</a:t>
                </a:r>
                <a:r>
                  <a:rPr lang="en-US" dirty="0"/>
                  <a:t>(t-1), R</a:t>
                </a:r>
                <a:r>
                  <a:rPr lang="en-US" baseline="-25000" dirty="0"/>
                  <a:t>L</a:t>
                </a:r>
                <a:r>
                  <a:rPr lang="en-US" dirty="0"/>
                  <a:t>(t-1),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/>
                  <a:t>L</a:t>
                </a:r>
                <a:r>
                  <a:rPr lang="en-US" dirty="0"/>
                  <a:t>(t-1),  </a:t>
                </a:r>
                <a:r>
                  <a:rPr lang="en-US" dirty="0" err="1"/>
                  <a:t>ω</a:t>
                </a:r>
                <a:r>
                  <a:rPr lang="en-US" baseline="-25000" dirty="0" err="1"/>
                  <a:t>L</a:t>
                </a:r>
                <a:r>
                  <a:rPr lang="en-US" dirty="0"/>
                  <a:t>(t-1)]</a:t>
                </a:r>
                <a:endParaRPr lang="en-US" baseline="-25000" dirty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L</a:t>
                </a:r>
                <a:r>
                  <a:rPr lang="en-US" dirty="0"/>
                  <a:t>(t-2), R</a:t>
                </a:r>
                <a:r>
                  <a:rPr lang="en-US" baseline="-25000" dirty="0"/>
                  <a:t>L</a:t>
                </a:r>
                <a:r>
                  <a:rPr lang="en-US" dirty="0"/>
                  <a:t>(t-2),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/>
                  <a:t>L</a:t>
                </a:r>
                <a:r>
                  <a:rPr lang="en-US" dirty="0"/>
                  <a:t>(t-2),  </a:t>
                </a:r>
                <a:r>
                  <a:rPr lang="en-US" dirty="0" err="1"/>
                  <a:t>ω</a:t>
                </a:r>
                <a:r>
                  <a:rPr lang="en-US" baseline="-25000" dirty="0" err="1"/>
                  <a:t>L</a:t>
                </a:r>
                <a:r>
                  <a:rPr lang="en-US" dirty="0"/>
                  <a:t>(t-2)]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The last two own carrier position and velocity ∈ R</a:t>
                </a:r>
                <a:r>
                  <a:rPr lang="en-US" baseline="30000" dirty="0"/>
                  <a:t>12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	  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R</a:t>
                </a:r>
                <a:r>
                  <a:rPr lang="en-US" dirty="0"/>
                  <a:t>(t-1),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/>
                  <a:t>-1)]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	  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R</a:t>
                </a:r>
                <a:r>
                  <a:rPr lang="en-US" dirty="0"/>
                  <a:t>(t-2),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/>
                  <a:t>-2</a:t>
                </a:r>
                <a:r>
                  <a:rPr lang="en-US" dirty="0"/>
                  <a:t>)]</a:t>
                </a:r>
                <a:endParaRPr lang="en-US" dirty="0"/>
              </a:p>
              <a:p>
                <a:pPr lvl="1" indent="-457200">
                  <a:buSzPts val="3200"/>
                </a:pPr>
                <a:r>
                  <a:rPr lang="en-US" dirty="0"/>
                  <a:t>Reference load state at current time </a:t>
                </a:r>
                <a:r>
                  <a:rPr lang="en-US" dirty="0"/>
                  <a:t>∈ R</a:t>
                </a:r>
                <a:r>
                  <a:rPr lang="en-US" baseline="30000" dirty="0"/>
                  <a:t>18</a:t>
                </a:r>
                <a:r>
                  <a:rPr lang="en-US" dirty="0"/>
                  <a:t> </a:t>
                </a:r>
                <a:endParaRPr lang="en-US" dirty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</a:t>
                </a:r>
                <a:r>
                  <a:rPr lang="en-US" dirty="0"/>
                  <a:t>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Ld</a:t>
                </a:r>
                <a:r>
                  <a:rPr lang="en-US" dirty="0"/>
                  <a:t>(t), </a:t>
                </a:r>
                <a:r>
                  <a:rPr lang="en-US" dirty="0" err="1"/>
                  <a:t>R</a:t>
                </a:r>
                <a:r>
                  <a:rPr lang="en-US" baseline="-25000" dirty="0" err="1"/>
                  <a:t>Ld</a:t>
                </a:r>
                <a:r>
                  <a:rPr lang="en-US" dirty="0"/>
                  <a:t>(t),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 err="1"/>
                  <a:t>Ld</a:t>
                </a:r>
                <a:r>
                  <a:rPr lang="en-US" dirty="0"/>
                  <a:t>(t),  </a:t>
                </a:r>
                <a:r>
                  <a:rPr lang="en-US" dirty="0" err="1"/>
                  <a:t>ω</a:t>
                </a:r>
                <a:r>
                  <a:rPr lang="en-US" baseline="-25000" dirty="0" err="1"/>
                  <a:t>Ld</a:t>
                </a:r>
                <a:r>
                  <a:rPr lang="en-US" dirty="0"/>
                  <a:t>(t)]</a:t>
                </a:r>
                <a:endParaRPr lang="en-US" dirty="0"/>
              </a:p>
              <a:p>
                <a:pPr indent="-457200">
                  <a:buSzPts val="3200"/>
                </a:pPr>
                <a:endParaRPr lang="en-US" sz="2400" dirty="0"/>
              </a:p>
              <a:p>
                <a:pPr indent="-457200">
                  <a:buSzPts val="3200"/>
                </a:pPr>
                <a:r>
                  <a:rPr lang="en-US" sz="2400" dirty="0" smtClean="0"/>
                  <a:t>Did not lead to an improvement</a:t>
                </a:r>
                <a:endParaRPr lang="en-US" dirty="0" smtClean="0"/>
              </a:p>
            </p:txBody>
          </p:sp>
        </mc:Choice>
        <mc:Fallback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blipFill rotWithShape="0">
                <a:blip r:embed="rId3"/>
                <a:stretch>
                  <a:fillRect l="-1231" t="-1006" b="-50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4707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indent="-457200">
                  <a:buSzPts val="3200"/>
                </a:pPr>
                <a:r>
                  <a:rPr lang="en-US" dirty="0" smtClean="0"/>
                  <a:t>Critic state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58</a:t>
                </a:r>
                <a:endParaRPr lang="en-US" dirty="0" smtClean="0"/>
              </a:p>
              <a:p>
                <a:pPr lvl="1" indent="-457200">
                  <a:buSzPts val="3200"/>
                </a:pPr>
                <a:r>
                  <a:rPr lang="en-US" dirty="0" smtClean="0"/>
                  <a:t>True </a:t>
                </a:r>
                <a:r>
                  <a:rPr lang="en-US" dirty="0"/>
                  <a:t>load state </a:t>
                </a:r>
                <a:r>
                  <a:rPr lang="en-US" dirty="0"/>
                  <a:t>∈ </a:t>
                </a:r>
                <a:r>
                  <a:rPr lang="en-US" dirty="0"/>
                  <a:t>R</a:t>
                </a:r>
                <a:r>
                  <a:rPr lang="en-US" baseline="30000" dirty="0"/>
                  <a:t>18</a:t>
                </a:r>
                <a:r>
                  <a:rPr lang="en-US" dirty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/>
                  <a:t>			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L</a:t>
                </a:r>
                <a:r>
                  <a:rPr lang="en-US" dirty="0"/>
                  <a:t>(t</a:t>
                </a:r>
                <a:r>
                  <a:rPr lang="en-US" dirty="0"/>
                  <a:t>), </a:t>
                </a:r>
                <a:r>
                  <a:rPr lang="en-US" dirty="0"/>
                  <a:t>R</a:t>
                </a:r>
                <a:r>
                  <a:rPr lang="en-US" baseline="-25000" dirty="0"/>
                  <a:t>L</a:t>
                </a:r>
                <a:r>
                  <a:rPr lang="en-US" dirty="0"/>
                  <a:t>(t</a:t>
                </a:r>
                <a:r>
                  <a:rPr lang="en-US" dirty="0"/>
                  <a:t>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/>
                  <a:t>L</a:t>
                </a:r>
                <a:r>
                  <a:rPr lang="en-US" dirty="0"/>
                  <a:t>(t</a:t>
                </a:r>
                <a:r>
                  <a:rPr lang="en-US" dirty="0"/>
                  <a:t>),  </a:t>
                </a:r>
                <a:r>
                  <a:rPr lang="en-US" dirty="0" err="1"/>
                  <a:t>ω</a:t>
                </a:r>
                <a:r>
                  <a:rPr lang="en-US" baseline="-25000" dirty="0" err="1"/>
                  <a:t>L</a:t>
                </a:r>
                <a:r>
                  <a:rPr lang="en-US" dirty="0"/>
                  <a:t>(t)]</a:t>
                </a:r>
                <a:endParaRPr lang="en-US" baseline="-25000" dirty="0"/>
              </a:p>
              <a:p>
                <a:pPr lvl="1" indent="-457200">
                  <a:buSzPts val="3200"/>
                </a:pPr>
                <a:r>
                  <a:rPr lang="en-US" dirty="0"/>
                  <a:t>All carriers’ positions ∈ R</a:t>
                </a:r>
                <a:r>
                  <a:rPr lang="en-US" baseline="30000" dirty="0"/>
                  <a:t>12</a:t>
                </a:r>
                <a:r>
                  <a:rPr lang="en-US" dirty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 [p</a:t>
                </a:r>
                <a:r>
                  <a:rPr lang="en-US" baseline="-25000" dirty="0"/>
                  <a:t>R1</a:t>
                </a:r>
                <a:r>
                  <a:rPr lang="en-US" dirty="0"/>
                  <a:t>(t), p</a:t>
                </a:r>
                <a:r>
                  <a:rPr lang="en-US" baseline="-25000" dirty="0"/>
                  <a:t>R2</a:t>
                </a:r>
                <a:r>
                  <a:rPr lang="en-US" dirty="0"/>
                  <a:t>(t), p</a:t>
                </a:r>
                <a:r>
                  <a:rPr lang="en-US" baseline="-25000" dirty="0"/>
                  <a:t>R3</a:t>
                </a:r>
                <a:r>
                  <a:rPr lang="en-US" dirty="0"/>
                  <a:t>(t), p</a:t>
                </a:r>
                <a:r>
                  <a:rPr lang="en-US" baseline="-25000" dirty="0"/>
                  <a:t>R4</a:t>
                </a:r>
                <a:r>
                  <a:rPr lang="en-US" dirty="0"/>
                  <a:t>(t</a:t>
                </a:r>
                <a:r>
                  <a:rPr lang="en-US" dirty="0" smtClean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All carriers’ velocities </a:t>
                </a:r>
                <a:r>
                  <a:rPr lang="en-US" dirty="0"/>
                  <a:t>∈ </a:t>
                </a:r>
                <a:r>
                  <a:rPr lang="en-US" dirty="0"/>
                  <a:t>R</a:t>
                </a:r>
                <a:r>
                  <a:rPr lang="en-US" baseline="30000" dirty="0"/>
                  <a:t>12</a:t>
                </a:r>
                <a:r>
                  <a:rPr lang="en-US" dirty="0"/>
                  <a:t> </a:t>
                </a:r>
                <a:endParaRPr lang="en-US" dirty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</a:t>
                </a:r>
                <a:r>
                  <a:rPr lang="en-US" dirty="0"/>
                  <a:t> </a:t>
                </a:r>
                <a:r>
                  <a:rPr lang="en-US" dirty="0"/>
                  <a:t>[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  <m:r>
                      <m:rPr>
                        <m:nor/>
                      </m:rPr>
                      <a:rPr lang="en-US" baseline="-25000"/>
                      <m:t>1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/>
                  <a:t>),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  <m:r>
                      <m:rPr>
                        <m:nor/>
                      </m:rPr>
                      <a:rPr lang="en-US" baseline="-25000"/>
                      <m:t>2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/>
                  <a:t>),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  <m:r>
                      <m:rPr>
                        <m:nor/>
                      </m:rPr>
                      <a:rPr lang="en-US" baseline="-25000"/>
                      <m:t>3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/>
                  <a:t>),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  <m:r>
                      <m:rPr>
                        <m:nor/>
                      </m:rPr>
                      <a:rPr lang="en-US" baseline="-25000"/>
                      <m:t>4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 smtClean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Expert-generated carrier position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12</a:t>
                </a:r>
                <a:r>
                  <a:rPr lang="en-US" dirty="0" smtClean="0"/>
                  <a:t> </a:t>
                </a:r>
                <a:endParaRPr lang="en-US" dirty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</a:t>
                </a:r>
                <a:r>
                  <a:rPr lang="en-US" dirty="0"/>
                  <a:t>[</a:t>
                </a:r>
                <a:r>
                  <a:rPr lang="en-US" dirty="0" smtClean="0"/>
                  <a:t>p</a:t>
                </a:r>
                <a:r>
                  <a:rPr lang="en-US" baseline="-25000" dirty="0" smtClean="0"/>
                  <a:t>Re1</a:t>
                </a:r>
                <a:r>
                  <a:rPr lang="en-US" dirty="0" smtClean="0"/>
                  <a:t>(t</a:t>
                </a:r>
                <a:r>
                  <a:rPr lang="en-US" dirty="0"/>
                  <a:t>), </a:t>
                </a:r>
                <a:r>
                  <a:rPr lang="en-US" dirty="0" smtClean="0"/>
                  <a:t>p</a:t>
                </a:r>
                <a:r>
                  <a:rPr lang="en-US" baseline="-25000" dirty="0" smtClean="0"/>
                  <a:t>Re2</a:t>
                </a:r>
                <a:r>
                  <a:rPr lang="en-US" dirty="0" smtClean="0"/>
                  <a:t>(t</a:t>
                </a:r>
                <a:r>
                  <a:rPr lang="en-US" dirty="0"/>
                  <a:t>), </a:t>
                </a:r>
                <a:r>
                  <a:rPr lang="en-US" dirty="0" smtClean="0"/>
                  <a:t>p</a:t>
                </a:r>
                <a:r>
                  <a:rPr lang="en-US" baseline="-25000" dirty="0" smtClean="0"/>
                  <a:t>Re3</a:t>
                </a:r>
                <a:r>
                  <a:rPr lang="en-US" dirty="0" smtClean="0"/>
                  <a:t>(t</a:t>
                </a:r>
                <a:r>
                  <a:rPr lang="en-US" dirty="0"/>
                  <a:t>), </a:t>
                </a:r>
                <a:r>
                  <a:rPr lang="en-US" dirty="0" smtClean="0"/>
                  <a:t>p</a:t>
                </a:r>
                <a:r>
                  <a:rPr lang="en-US" baseline="-25000" dirty="0" smtClean="0"/>
                  <a:t>Re4</a:t>
                </a:r>
                <a:r>
                  <a:rPr lang="en-US" dirty="0" smtClean="0"/>
                  <a:t>(t</a:t>
                </a:r>
                <a:r>
                  <a:rPr lang="en-US" dirty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Delay of each carrier load measurement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/>
                  <a:t>4</a:t>
                </a:r>
                <a:endParaRPr lang="en-US" dirty="0" smtClean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			[d</a:t>
                </a:r>
                <a:r>
                  <a:rPr lang="en-US" baseline="-25000" dirty="0" smtClean="0"/>
                  <a:t>1</a:t>
                </a:r>
                <a:r>
                  <a:rPr lang="en-US" dirty="0" smtClean="0"/>
                  <a:t>,d</a:t>
                </a:r>
                <a:r>
                  <a:rPr lang="en-US" baseline="-25000" dirty="0" smtClean="0"/>
                  <a:t>2</a:t>
                </a:r>
                <a:r>
                  <a:rPr lang="en-US" dirty="0" smtClean="0"/>
                  <a:t>,d</a:t>
                </a:r>
                <a:r>
                  <a:rPr lang="en-US" baseline="-25000" dirty="0" smtClean="0"/>
                  <a:t>3</a:t>
                </a:r>
                <a:r>
                  <a:rPr lang="en-US" dirty="0" smtClean="0"/>
                  <a:t>,d</a:t>
                </a:r>
                <a:r>
                  <a:rPr lang="en-US" baseline="-25000" dirty="0" smtClean="0"/>
                  <a:t>4</a:t>
                </a:r>
                <a:r>
                  <a:rPr lang="en-US" dirty="0" smtClean="0"/>
                  <a:t>]</a:t>
                </a:r>
                <a:endParaRPr lang="en-US" dirty="0"/>
              </a:p>
              <a:p>
                <a:pPr marL="457200" lvl="1" indent="0">
                  <a:buSzPts val="3200"/>
                  <a:buNone/>
                </a:pPr>
                <a:endParaRPr lang="en-US" dirty="0">
                  <a:effectLst/>
                </a:endParaRPr>
              </a:p>
            </p:txBody>
          </p:sp>
        </mc:Choice>
        <mc:Fallback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blipFill rotWithShape="0">
                <a:blip r:embed="rId3"/>
                <a:stretch>
                  <a:fillRect l="-1231" t="-1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0348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indent="-457200">
                  <a:buSzPts val="3200"/>
                </a:pPr>
                <a:r>
                  <a:rPr lang="en-US" dirty="0" smtClean="0"/>
                  <a:t>Reward function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Design Methodology: Start simple and add terms by observing failure modes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Per drone reward is:</a:t>
                </a:r>
              </a:p>
              <a:p>
                <a:pPr lvl="1" indent="-457200">
                  <a:buSzPts val="3200"/>
                </a:pPr>
                <a:endParaRPr lang="en-US" dirty="0"/>
              </a:p>
              <a:p>
                <a:pPr marL="457200" lvl="1" indent="0">
                  <a:buSzPts val="32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−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𝑚𝑎𝑛𝑖𝑓𝑜𝑙𝑑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𝑠𝑡𝑎𝑙𝑙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𝑠𝑡𝑎𝑙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𝑙𝑜𝑎𝑑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𝑜𝑣𝑒𝑟𝑠𝑝𝑒𝑒𝑑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𝑜𝑣𝑒𝑟𝑠𝑝𝑒𝑒</m:t>
                          </m:r>
                          <m:sSubSup>
                            <m:sSub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𝑜𝑣𝑒𝑟𝑠</m:t>
                              </m:r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𝑜𝑜𝑡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𝑜𝑣𝑒𝑟𝑠</m:t>
                          </m:r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𝑜𝑜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1" indent="-457200">
                  <a:buSzPts val="3200"/>
                </a:pPr>
                <a:endParaRPr lang="en-US" dirty="0" smtClean="0"/>
              </a:p>
              <a:p>
                <a:pPr lvl="1" indent="-457200">
                  <a:buSzPts val="3200"/>
                </a:pPr>
                <a:r>
                  <a:rPr lang="en-US" dirty="0" smtClean="0"/>
                  <a:t>Team reward:</a:t>
                </a:r>
              </a:p>
              <a:p>
                <a:pPr lvl="1" indent="-457200">
                  <a:buSzPts val="3200"/>
                </a:pPr>
                <a:endParaRPr lang="en-US" dirty="0" smtClean="0"/>
              </a:p>
              <a:p>
                <a:pPr marL="508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/>
                          </m:ctrlPr>
                        </m:sSubPr>
                        <m:e>
                          <m:r>
                            <a:rPr lang="en-US" sz="2000" i="1"/>
                            <m:t>𝑅</m:t>
                          </m:r>
                        </m:e>
                        <m:sub>
                          <m:r>
                            <a:rPr lang="en-US" sz="2000" i="1"/>
                            <m:t>𝑡𝑒𝑎𝑚</m:t>
                          </m:r>
                        </m:sub>
                      </m:sSub>
                      <m:r>
                        <a:rPr lang="en-US" sz="2000" i="1"/>
                        <m:t>= </m:t>
                      </m:r>
                      <m:nary>
                        <m:naryPr>
                          <m:chr m:val="∑"/>
                          <m:ctrlPr>
                            <a:rPr lang="en-US" sz="2000" i="1"/>
                          </m:ctrlPr>
                        </m:naryPr>
                        <m:sub>
                          <m:r>
                            <a:rPr lang="en-US" sz="2000" i="1"/>
                            <m:t>𝑖</m:t>
                          </m:r>
                          <m:r>
                            <a:rPr lang="en-US" sz="2000" i="1"/>
                            <m:t>=</m:t>
                          </m:r>
                          <m:r>
                            <a:rPr lang="en-US" sz="2000" i="1"/>
                            <m:t>1</m:t>
                          </m:r>
                        </m:sub>
                        <m:sup>
                          <m:r>
                            <a:rPr lang="en-US" sz="2000" i="1"/>
                            <m:t>𝑁</m:t>
                          </m:r>
                        </m:sup>
                        <m:e>
                          <m:r>
                            <a:rPr lang="en-US" sz="2000" i="1"/>
                            <m:t>𝑟𝑖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blipFill rotWithShape="0">
                <a:blip r:embed="rId3"/>
                <a:stretch>
                  <a:fillRect l="-1231" t="-1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7219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6000" y="1886938"/>
                <a:ext cx="11385933" cy="49710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indent="-457200">
                  <a:buSzPts val="3200"/>
                </a:pPr>
                <a:r>
                  <a:rPr lang="en-US" sz="1800" dirty="0" smtClean="0"/>
                  <a:t>Reward function terms breakdown:</a:t>
                </a:r>
                <a:endParaRPr lang="en-US" sz="800" dirty="0"/>
              </a:p>
              <a:p>
                <a:pPr marL="457200" lvl="1" indent="0">
                  <a:buSzPts val="32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−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𝑚𝑎𝑛𝑖𝑓𝑜𝑙𝑑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𝑠𝑡𝑎𝑙𝑙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𝑠𝑡𝑎𝑙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𝑙𝑜𝑎𝑑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𝑜𝑣𝑒𝑟𝑠𝑝𝑒𝑒𝑑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𝑜𝑣𝑒𝑟𝑠𝑝𝑒𝑒</m:t>
                          </m:r>
                          <m:sSubSup>
                            <m:sSub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𝑜𝑣𝑒𝑟𝑠</m:t>
                              </m:r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𝑜𝑜𝑡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𝑜𝑣𝑒𝑟𝑠</m:t>
                          </m:r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𝑜𝑜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r>
                  <a:rPr lang="en-US" sz="1400" b="1" dirty="0" smtClean="0">
                    <a:solidFill>
                      <a:srgbClr val="C00000"/>
                    </a:solidFill>
                    <a:latin typeface="Calibri"/>
                  </a:rPr>
                  <a:t>Truncation </a:t>
                </a:r>
                <a:r>
                  <a:rPr lang="en-US" sz="1400" b="1" dirty="0">
                    <a:solidFill>
                      <a:srgbClr val="C00000"/>
                    </a:solidFill>
                    <a:latin typeface="Calibri"/>
                  </a:rPr>
                  <a:t>Condition: </a:t>
                </a:r>
                <a:r>
                  <a:rPr lang="en-US" sz="1400" dirty="0">
                    <a:solidFill>
                      <a:srgbClr val="262626"/>
                    </a:solidFill>
                    <a:latin typeface="Calibri"/>
                  </a:rPr>
                  <a:t>A one-shot penalty of −100 is triggered on a guard-truncated step if speed exceeds </a:t>
                </a:r>
                <a:r>
                  <a:rPr lang="en-US" sz="1400" dirty="0" err="1" smtClean="0">
                    <a:solidFill>
                      <a:srgbClr val="262626"/>
                    </a:solidFill>
                    <a:latin typeface="Calibri"/>
                  </a:rPr>
                  <a:t>v</a:t>
                </a:r>
                <a:r>
                  <a:rPr lang="en-US" sz="1400" baseline="-25000" dirty="0" err="1" smtClean="0">
                    <a:solidFill>
                      <a:srgbClr val="262626"/>
                    </a:solidFill>
                    <a:latin typeface="Calibri"/>
                  </a:rPr>
                  <a:t>blowup</a:t>
                </a:r>
                <a:r>
                  <a:rPr lang="en-US" sz="1400" dirty="0" smtClean="0">
                    <a:solidFill>
                      <a:srgbClr val="262626"/>
                    </a:solidFill>
                    <a:latin typeface="Calibri"/>
                  </a:rPr>
                  <a:t> </a:t>
                </a:r>
                <a:r>
                  <a:rPr lang="en-US" sz="1400" dirty="0">
                    <a:solidFill>
                      <a:srgbClr val="262626"/>
                    </a:solidFill>
                    <a:latin typeface="Calibri"/>
                  </a:rPr>
                  <a:t>= 100</a:t>
                </a:r>
                <a:r>
                  <a:rPr lang="en-US" sz="1400" dirty="0" smtClean="0">
                    <a:solidFill>
                      <a:srgbClr val="262626"/>
                    </a:solidFill>
                    <a:latin typeface="Calibri"/>
                  </a:rPr>
                  <a:t>.</a:t>
                </a: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6000" y="1886938"/>
                <a:ext cx="11385933" cy="4971062"/>
              </a:xfrm>
              <a:prstGeom prst="rect">
                <a:avLst/>
              </a:prstGeom>
              <a:blipFill rotWithShape="0">
                <a:blip r:embed="rId3"/>
                <a:stretch>
                  <a:fillRect l="-1231" t="-245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2202707"/>
                  </p:ext>
                </p:extLst>
              </p:nvPr>
            </p:nvGraphicFramePr>
            <p:xfrm>
              <a:off x="673154" y="2759413"/>
              <a:ext cx="10728655" cy="3544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86000"/>
                    <a:gridCol w="4572000"/>
                    <a:gridCol w="3870655"/>
                  </a:tblGrid>
                  <a:tr h="369651"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sz="1400" dirty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sz="1400" dirty="0">
                              <a:solidFill>
                                <a:schemeClr val="tx1"/>
                              </a:solidFill>
                            </a:rPr>
                            <a:t>Expression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dirty="0">
                              <a:solidFill>
                                <a:schemeClr val="tx1"/>
                              </a:solidFill>
                            </a:rPr>
                            <a:t>Role</a:t>
                          </a:r>
                        </a:p>
                      </a:txBody>
                      <a:tcPr/>
                    </a:tc>
                  </a:tr>
                  <a:tr h="379379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manifold (</a:t>
                          </a:r>
                          <a:r>
                            <a:rPr sz="1400" dirty="0" smtClean="0"/>
                            <a:t>d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sz="1400" baseline="30000" dirty="0" smtClean="0"/>
                            <a:t>2</a:t>
                          </a:r>
                          <a:r>
                            <a:rPr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‖</a:t>
                          </a:r>
                          <a:r>
                            <a:rPr sz="1400" dirty="0" err="1" smtClean="0"/>
                            <a:t>p</a:t>
                          </a:r>
                          <a:r>
                            <a:rPr sz="1400" baseline="-25000" dirty="0" err="1" smtClean="0"/>
                            <a:t>expert,i</a:t>
                          </a:r>
                          <a:r>
                            <a:rPr sz="1400" dirty="0" smtClean="0"/>
                            <a:t>(t</a:t>
                          </a:r>
                          <a:r>
                            <a:rPr sz="1400" dirty="0"/>
                            <a:t>) − </a:t>
                          </a:r>
                          <a:r>
                            <a:rPr sz="1400" dirty="0" smtClean="0"/>
                            <a:t>p</a:t>
                          </a:r>
                          <a:r>
                            <a:rPr sz="1400" baseline="-25000" dirty="0" smtClean="0"/>
                            <a:t>i</a:t>
                          </a:r>
                          <a:r>
                            <a:rPr lang="en-US" sz="1400" baseline="0" dirty="0" smtClean="0"/>
                            <a:t>(t)</a:t>
                          </a:r>
                          <a:r>
                            <a:rPr sz="1400" dirty="0" smtClean="0"/>
                            <a:t>‖²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Stay on the expert loiter </a:t>
                          </a:r>
                          <a:r>
                            <a:rPr sz="1400" dirty="0" smtClean="0"/>
                            <a:t>loop</a:t>
                          </a:r>
                          <a:r>
                            <a:rPr lang="en-US" sz="1400" dirty="0" smtClean="0"/>
                            <a:t>. The goal</a:t>
                          </a:r>
                          <a:r>
                            <a:rPr lang="en-US" sz="1400" baseline="0" dirty="0" smtClean="0"/>
                            <a:t> is not to follow it exactly, but to learn the underlying orbiting behavior in general.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44749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err="1" smtClean="0"/>
                            <a:t>stall</a:t>
                          </a:r>
                          <a:r>
                            <a:rPr lang="en-US" sz="1400" i="1" baseline="-25000" dirty="0" err="1" smtClean="0"/>
                            <a:t>i</a:t>
                          </a:r>
                          <a:endParaRPr sz="1400" i="1" baseline="-25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Graced hinge below cruise floor: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d² + 1.0 · d, where d = max(0, (ε + margin) − ‖</a:t>
                          </a:r>
                          <a:r>
                            <a:rPr sz="1400" dirty="0" smtClean="0"/>
                            <a:t>v</a:t>
                          </a:r>
                          <a:r>
                            <a:rPr sz="1400" baseline="-25000" dirty="0" smtClean="0"/>
                            <a:t>i</a:t>
                          </a:r>
                          <a:r>
                            <a:rPr sz="1400" dirty="0" smtClean="0"/>
                            <a:t>‖)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Fixed-wing stall floor (prevents airspeed drop)</a:t>
                          </a:r>
                        </a:p>
                      </a:txBody>
                      <a:tcPr/>
                    </a:tc>
                  </a:tr>
                  <a:tr h="379379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load </a:t>
                          </a:r>
                          <a:r>
                            <a:rPr sz="1400" dirty="0" smtClean="0"/>
                            <a:t>track</a:t>
                          </a:r>
                          <a:r>
                            <a:rPr lang="en-US" sz="1400" dirty="0" smtClean="0"/>
                            <a:t>ing</a:t>
                          </a:r>
                          <a:r>
                            <a:rPr lang="en-US" sz="1400" baseline="0" dirty="0" smtClean="0"/>
                            <a:t>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‖</a:t>
                          </a:r>
                          <a:r>
                            <a:rPr sz="1400" dirty="0" smtClean="0"/>
                            <a:t>e</a:t>
                          </a:r>
                          <a:r>
                            <a:rPr lang="en-US" sz="1400" baseline="-25000" dirty="0" smtClean="0"/>
                            <a:t>L</a:t>
                          </a:r>
                          <a:r>
                            <a:rPr sz="1400" dirty="0" smtClean="0"/>
                            <a:t>‖²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Keep the load on </a:t>
                          </a:r>
                          <a:r>
                            <a:rPr sz="1400" dirty="0" smtClean="0"/>
                            <a:t>reference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73931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smtClean="0"/>
                            <a:t>overspeed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lang="en-US" sz="1400" baseline="30000" dirty="0" smtClean="0"/>
                            <a:t>2</a:t>
                          </a:r>
                          <a:endParaRPr sz="1400" baseline="30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smtClean="0"/>
                            <a:t>min(over² </a:t>
                          </a:r>
                          <a:r>
                            <a:rPr sz="1400" dirty="0"/>
                            <a:t>+ 2 · over, 75</a:t>
                          </a:r>
                          <a:r>
                            <a:rPr sz="1400" dirty="0" smtClean="0"/>
                            <a:t>)</a:t>
                          </a:r>
                          <a:endParaRPr lang="en-US" sz="1400" dirty="0" smtClean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where over = max(0.0, v</a:t>
                          </a:r>
                          <a:r>
                            <a:rPr lang="en-US" sz="1400" baseline="-25000" dirty="0" smtClean="0"/>
                            <a:t>i </a:t>
                          </a:r>
                          <a:r>
                            <a:rPr lang="en-US" sz="1400" dirty="0" smtClean="0"/>
                            <a:t>− </a:t>
                          </a:r>
                          <a:r>
                            <a:rPr lang="en-US" sz="1400" dirty="0" err="1" smtClean="0"/>
                            <a:t>overspeed_v</a:t>
                          </a:r>
                          <a:r>
                            <a:rPr lang="en-US" sz="1400" dirty="0" smtClean="0"/>
                            <a:t>)</a:t>
                          </a:r>
                          <a:endParaRPr lang="en-US" sz="1400" dirty="0" smtClean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Prevent carrier from speeding up unnecessarily.</a:t>
                          </a:r>
                          <a:r>
                            <a:rPr lang="en-US" sz="1400" baseline="0" dirty="0" smtClean="0"/>
                            <a:t> </a:t>
                          </a:r>
                          <a:r>
                            <a:rPr lang="en-US" sz="1400" dirty="0" smtClean="0"/>
                            <a:t>B</a:t>
                          </a:r>
                          <a:r>
                            <a:rPr sz="1400" dirty="0" smtClean="0"/>
                            <a:t>lowup guardrail</a:t>
                          </a:r>
                          <a:r>
                            <a:rPr lang="en-US" sz="1400" dirty="0" smtClean="0"/>
                            <a:t>.</a:t>
                          </a:r>
                          <a:r>
                            <a:rPr lang="en-US" sz="1400" baseline="0" dirty="0" smtClean="0"/>
                            <a:t> 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62258">
                    <a:tc>
                      <a:txBody>
                        <a:bodyPr/>
                        <a:lstStyle/>
                        <a:p>
                          <a:pPr rtl="0"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err="1" smtClean="0"/>
                            <a:t>overshoot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endParaRPr sz="1400" baseline="-25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min(over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lang="en-US" sz="1400" dirty="0" smtClean="0"/>
                            <a:t>² + 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,9)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where 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= max(0, sat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− 1)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and sat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= ‖</a:t>
                          </a:r>
                          <a:r>
                            <a:rPr lang="el-GR" sz="1400" u="none" dirty="0" smtClean="0"/>
                            <a:t>δ</a:t>
                          </a:r>
                          <a:r>
                            <a:rPr lang="el-GR" sz="1400" dirty="0" smtClean="0"/>
                            <a:t>λ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dirty="0" smtClean="0"/>
                            <a:t>‖₂ / (</a:t>
                          </a:r>
                          <a:r>
                            <a:rPr lang="el-GR" sz="1400" dirty="0" smtClean="0"/>
                            <a:t>κ</a:t>
                          </a:r>
                          <a:r>
                            <a:rPr lang="el-GR" sz="1400" baseline="-25000" dirty="0" smtClean="0"/>
                            <a:t>λ</a:t>
                          </a:r>
                          <a:r>
                            <a:rPr lang="el-GR" sz="1400" dirty="0" smtClean="0"/>
                            <a:t> · ‖λ</a:t>
                          </a:r>
                          <a:r>
                            <a:rPr lang="en-US" sz="1400" baseline="-25000" dirty="0" err="1" smtClean="0"/>
                            <a:t>i,base</a:t>
                          </a:r>
                          <a:r>
                            <a:rPr lang="en-US" sz="1400" dirty="0" smtClean="0"/>
                            <a:t>‖₂) 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l-GR" sz="1400" dirty="0" smtClean="0"/>
                            <a:t>κ</a:t>
                          </a:r>
                          <a:r>
                            <a:rPr lang="el-GR" sz="1400" baseline="-25000" dirty="0" smtClean="0"/>
                            <a:t>λ</a:t>
                          </a:r>
                          <a:r>
                            <a:rPr lang="en-US" sz="1400" dirty="0" smtClean="0"/>
                            <a:t>:</a:t>
                          </a:r>
                          <a:r>
                            <a:rPr lang="en-US" sz="1400" baseline="0" dirty="0" smtClean="0"/>
                            <a:t> the allowable fraction of the base controller magnitude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Prevents the policy</a:t>
                          </a:r>
                          <a:r>
                            <a:rPr lang="en-US" sz="1400" baseline="0" dirty="0" smtClean="0"/>
                            <a:t> from taking actions above the allowed </a:t>
                          </a:r>
                          <a:r>
                            <a:rPr lang="en-US" sz="1400" baseline="0" dirty="0" smtClean="0"/>
                            <a:t>fraction of the base controller magnitude (dead gradient, no learning). The cap prevents the policy from taking overly aggressive actions.</a:t>
                          </a:r>
                          <a:endParaRPr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2202707"/>
                  </p:ext>
                </p:extLst>
              </p:nvPr>
            </p:nvGraphicFramePr>
            <p:xfrm>
              <a:off x="673154" y="2759413"/>
              <a:ext cx="10728655" cy="3544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86000"/>
                    <a:gridCol w="4572000"/>
                    <a:gridCol w="3870655"/>
                  </a:tblGrid>
                  <a:tr h="369651"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sz="1400" dirty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sz="1400" dirty="0">
                              <a:solidFill>
                                <a:schemeClr val="tx1"/>
                              </a:solidFill>
                            </a:rPr>
                            <a:t>Expression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dirty="0">
                              <a:solidFill>
                                <a:schemeClr val="tx1"/>
                              </a:solidFill>
                            </a:rPr>
                            <a:t>Role</a:t>
                          </a:r>
                        </a:p>
                      </a:txBody>
                      <a:tcPr/>
                    </a:tc>
                  </a:tr>
                  <a:tr h="731520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manifold (</a:t>
                          </a:r>
                          <a:r>
                            <a:rPr sz="1400" dirty="0" smtClean="0"/>
                            <a:t>d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sz="1400" baseline="30000" dirty="0" smtClean="0"/>
                            <a:t>2</a:t>
                          </a:r>
                          <a:r>
                            <a:rPr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‖</a:t>
                          </a:r>
                          <a:r>
                            <a:rPr sz="1400" dirty="0" err="1" smtClean="0"/>
                            <a:t>p</a:t>
                          </a:r>
                          <a:r>
                            <a:rPr sz="1400" baseline="-25000" dirty="0" err="1" smtClean="0"/>
                            <a:t>expert,i</a:t>
                          </a:r>
                          <a:r>
                            <a:rPr sz="1400" dirty="0" smtClean="0"/>
                            <a:t>(t</a:t>
                          </a:r>
                          <a:r>
                            <a:rPr sz="1400" dirty="0"/>
                            <a:t>) − </a:t>
                          </a:r>
                          <a:r>
                            <a:rPr sz="1400" dirty="0" smtClean="0"/>
                            <a:t>p</a:t>
                          </a:r>
                          <a:r>
                            <a:rPr sz="1400" baseline="-25000" dirty="0" smtClean="0"/>
                            <a:t>i</a:t>
                          </a:r>
                          <a:r>
                            <a:rPr lang="en-US" sz="1400" baseline="0" dirty="0" smtClean="0"/>
                            <a:t>(t)</a:t>
                          </a:r>
                          <a:r>
                            <a:rPr sz="1400" dirty="0" smtClean="0"/>
                            <a:t>‖²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Stay on the expert loiter </a:t>
                          </a:r>
                          <a:r>
                            <a:rPr sz="1400" dirty="0" smtClean="0"/>
                            <a:t>loop</a:t>
                          </a:r>
                          <a:r>
                            <a:rPr lang="en-US" sz="1400" dirty="0" smtClean="0"/>
                            <a:t>. The goal</a:t>
                          </a:r>
                          <a:r>
                            <a:rPr lang="en-US" sz="1400" baseline="0" dirty="0" smtClean="0"/>
                            <a:t> is not to follow it exactly, but to learn the underlying orbiting behavior in general.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44749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err="1" smtClean="0"/>
                            <a:t>stall</a:t>
                          </a:r>
                          <a:r>
                            <a:rPr lang="en-US" sz="1400" i="1" baseline="-25000" dirty="0" err="1" smtClean="0"/>
                            <a:t>i</a:t>
                          </a:r>
                          <a:endParaRPr sz="1400" i="1" baseline="-25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Graced hinge below cruise floor: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d² + 1.0 · d, where d = max(0, (ε + margin) − ‖</a:t>
                          </a:r>
                          <a:r>
                            <a:rPr sz="1400" dirty="0" smtClean="0"/>
                            <a:t>v</a:t>
                          </a:r>
                          <a:r>
                            <a:rPr sz="1400" baseline="-25000" dirty="0" smtClean="0"/>
                            <a:t>i</a:t>
                          </a:r>
                          <a:r>
                            <a:rPr sz="1400" dirty="0" smtClean="0"/>
                            <a:t>‖)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Fixed-wing stall floor (prevents airspeed drop)</a:t>
                          </a:r>
                        </a:p>
                      </a:txBody>
                      <a:tcPr/>
                    </a:tc>
                  </a:tr>
                  <a:tr h="3793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67" t="-438710" r="-370133" b="-4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‖</a:t>
                          </a:r>
                          <a:r>
                            <a:rPr sz="1400" dirty="0" smtClean="0"/>
                            <a:t>e</a:t>
                          </a:r>
                          <a:r>
                            <a:rPr lang="en-US" sz="1400" baseline="-25000" dirty="0" smtClean="0"/>
                            <a:t>L</a:t>
                          </a:r>
                          <a:r>
                            <a:rPr sz="1400" dirty="0" smtClean="0"/>
                            <a:t>‖²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Keep the load on </a:t>
                          </a:r>
                          <a:r>
                            <a:rPr sz="1400" dirty="0" smtClean="0"/>
                            <a:t>reference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73931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smtClean="0"/>
                            <a:t>overspeed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lang="en-US" sz="1400" baseline="30000" dirty="0" smtClean="0"/>
                            <a:t>2</a:t>
                          </a:r>
                          <a:endParaRPr sz="1400" baseline="30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smtClean="0"/>
                            <a:t>min(over² </a:t>
                          </a:r>
                          <a:r>
                            <a:rPr sz="1400" dirty="0"/>
                            <a:t>+ 2 · over, 75</a:t>
                          </a:r>
                          <a:r>
                            <a:rPr sz="1400" dirty="0" smtClean="0"/>
                            <a:t>)</a:t>
                          </a:r>
                          <a:endParaRPr lang="en-US" sz="1400" dirty="0" smtClean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where over = max(0.0, v</a:t>
                          </a:r>
                          <a:r>
                            <a:rPr lang="en-US" sz="1400" baseline="-25000" dirty="0" smtClean="0"/>
                            <a:t>i </a:t>
                          </a:r>
                          <a:r>
                            <a:rPr lang="en-US" sz="1400" dirty="0" smtClean="0"/>
                            <a:t>− </a:t>
                          </a:r>
                          <a:r>
                            <a:rPr lang="en-US" sz="1400" dirty="0" err="1" smtClean="0"/>
                            <a:t>overspeed_v</a:t>
                          </a:r>
                          <a:r>
                            <a:rPr lang="en-US" sz="1400" dirty="0" smtClean="0"/>
                            <a:t>)</a:t>
                          </a:r>
                          <a:endParaRPr lang="en-US" sz="1400" dirty="0" smtClean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Prevent carrier from speeding up unnecessarily.</a:t>
                          </a:r>
                          <a:r>
                            <a:rPr lang="en-US" sz="1400" baseline="0" dirty="0" smtClean="0"/>
                            <a:t> </a:t>
                          </a:r>
                          <a:r>
                            <a:rPr lang="en-US" sz="1400" dirty="0" smtClean="0"/>
                            <a:t>B</a:t>
                          </a:r>
                          <a:r>
                            <a:rPr sz="1400" dirty="0" smtClean="0"/>
                            <a:t>lowup guardrail</a:t>
                          </a:r>
                          <a:r>
                            <a:rPr lang="en-US" sz="1400" dirty="0" smtClean="0"/>
                            <a:t>.</a:t>
                          </a:r>
                          <a:r>
                            <a:rPr lang="en-US" sz="1400" baseline="0" dirty="0" smtClean="0"/>
                            <a:t> 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944880">
                    <a:tc>
                      <a:txBody>
                        <a:bodyPr/>
                        <a:lstStyle/>
                        <a:p>
                          <a:pPr rtl="0"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err="1" smtClean="0"/>
                            <a:t>overshoot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endParaRPr sz="1400" baseline="-25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min(over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lang="en-US" sz="1400" dirty="0" smtClean="0"/>
                            <a:t>² + 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,9)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where 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= max(0, sat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− 1)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and sat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= ‖</a:t>
                          </a:r>
                          <a:r>
                            <a:rPr lang="el-GR" sz="1400" u="none" dirty="0" smtClean="0"/>
                            <a:t>δ</a:t>
                          </a:r>
                          <a:r>
                            <a:rPr lang="el-GR" sz="1400" dirty="0" smtClean="0"/>
                            <a:t>λ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dirty="0" smtClean="0"/>
                            <a:t>‖₂ / (</a:t>
                          </a:r>
                          <a:r>
                            <a:rPr lang="el-GR" sz="1400" dirty="0" smtClean="0"/>
                            <a:t>κ</a:t>
                          </a:r>
                          <a:r>
                            <a:rPr lang="el-GR" sz="1400" baseline="-25000" dirty="0" smtClean="0"/>
                            <a:t>λ</a:t>
                          </a:r>
                          <a:r>
                            <a:rPr lang="el-GR" sz="1400" dirty="0" smtClean="0"/>
                            <a:t> · ‖λ</a:t>
                          </a:r>
                          <a:r>
                            <a:rPr lang="en-US" sz="1400" baseline="-25000" dirty="0" err="1" smtClean="0"/>
                            <a:t>i,base</a:t>
                          </a:r>
                          <a:r>
                            <a:rPr lang="en-US" sz="1400" dirty="0" smtClean="0"/>
                            <a:t>‖₂) 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l-GR" sz="1400" dirty="0" smtClean="0"/>
                            <a:t>κ</a:t>
                          </a:r>
                          <a:r>
                            <a:rPr lang="el-GR" sz="1400" baseline="-25000" dirty="0" smtClean="0"/>
                            <a:t>λ</a:t>
                          </a:r>
                          <a:r>
                            <a:rPr lang="en-US" sz="1400" dirty="0" smtClean="0"/>
                            <a:t>:</a:t>
                          </a:r>
                          <a:r>
                            <a:rPr lang="en-US" sz="1400" baseline="0" dirty="0" smtClean="0"/>
                            <a:t> the allowable fraction of the base controller magnitude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Prevents the policy</a:t>
                          </a:r>
                          <a:r>
                            <a:rPr lang="en-US" sz="1400" baseline="0" dirty="0" smtClean="0"/>
                            <a:t> from taking actions above the allowed </a:t>
                          </a:r>
                          <a:r>
                            <a:rPr lang="en-US" sz="1400" baseline="0" dirty="0" smtClean="0"/>
                            <a:t>fraction of the base controller magnitude (dead gradient, no learning). The cap prevents the policy from taking overly aggressive actions.</a:t>
                          </a:r>
                          <a:endParaRPr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51874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r>
              <a:rPr lang="en-US" dirty="0" smtClean="0"/>
              <a:t>: Some Results</a:t>
            </a:r>
            <a:endParaRPr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3949" y="1918142"/>
            <a:ext cx="6404895" cy="480367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8296"/>
            <a:ext cx="5904689" cy="4371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483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391" y="1332664"/>
            <a:ext cx="10655030" cy="5285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505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017" y="1238350"/>
            <a:ext cx="11327798" cy="5619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6332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0" y="1178481"/>
            <a:ext cx="7827533" cy="608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254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660" y="1705749"/>
            <a:ext cx="6104425" cy="45783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647860"/>
            <a:ext cx="6181611" cy="4636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678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34" y="1332132"/>
            <a:ext cx="10518843" cy="5218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960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37" y="1427332"/>
            <a:ext cx="10946859" cy="5430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698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4"/>
          <p:cNvSpPr txBox="1">
            <a:spLocks noGrp="1"/>
          </p:cNvSpPr>
          <p:nvPr>
            <p:ph type="title" idx="4294967295"/>
          </p:nvPr>
        </p:nvSpPr>
        <p:spPr>
          <a:xfrm>
            <a:off x="838200" y="-13255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it-IT"/>
              <a:t>Università degli Studi di Padova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18054</TotalTime>
  <Words>1067</Words>
  <Application>Microsoft Office PowerPoint</Application>
  <PresentationFormat>Widescreen</PresentationFormat>
  <Paragraphs>222</Paragraphs>
  <Slides>32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Cambria Math</vt:lpstr>
      <vt:lpstr>Google Sans Text</vt:lpstr>
      <vt:lpstr>Tema di Office</vt:lpstr>
      <vt:lpstr>Learning Cooperative Transportation using fixed-wings drones</vt:lpstr>
      <vt:lpstr>Updates: Imitation Learning Generalization:</vt:lpstr>
      <vt:lpstr>PowerPoint Presentation</vt:lpstr>
      <vt:lpstr>Updates: Formulation 1 Generalization: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Load Tracking Performance (Average across multiple testing runs)</vt:lpstr>
      <vt:lpstr>Drone Trajectory &amp; λ Discrepancy vs. Optimizer Reference (Average across multiple testing runs)</vt:lpstr>
      <vt:lpstr>Residual MARL</vt:lpstr>
      <vt:lpstr>Residual MARL</vt:lpstr>
      <vt:lpstr>Residual MARL</vt:lpstr>
      <vt:lpstr>Residual MARL</vt:lpstr>
      <vt:lpstr>Residual MARL</vt:lpstr>
      <vt:lpstr>Residual MARL</vt:lpstr>
      <vt:lpstr>Residual MARL: Some Results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Università degli Studi di Padova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Cooperative Transportation using fixed-wings drones</dc:title>
  <dc:creator>Bocchi Giuliano</dc:creator>
  <cp:lastModifiedBy>Microsoft account</cp:lastModifiedBy>
  <cp:revision>105</cp:revision>
  <dcterms:created xsi:type="dcterms:W3CDTF">2022-07-26T10:43:33Z</dcterms:created>
  <dcterms:modified xsi:type="dcterms:W3CDTF">2026-09-02T19:59:56Z</dcterms:modified>
</cp:coreProperties>
</file>