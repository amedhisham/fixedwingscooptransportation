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73" r:id="rId4"/>
    <p:sldId id="271" r:id="rId5"/>
    <p:sldId id="275" r:id="rId6"/>
    <p:sldId id="277" r:id="rId7"/>
    <p:sldId id="278" r:id="rId8"/>
    <p:sldId id="274" r:id="rId9"/>
    <p:sldId id="281" r:id="rId10"/>
    <p:sldId id="276" r:id="rId11"/>
    <p:sldId id="279" r:id="rId12"/>
    <p:sldId id="280" r:id="rId13"/>
    <p:sldId id="267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e1wWgYMlsTmwPP8JtiEZSoLZ/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9EECCA-3B2E-439E-A9FE-AE0BB2C482AD}">
  <a:tblStyle styleId="{B49EECCA-3B2E-439E-A9FE-AE0BB2C482AD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5" autoAdjust="0"/>
  </p:normalViewPr>
  <p:slideViewPr>
    <p:cSldViewPr snapToGrid="0">
      <p:cViewPr varScale="1">
        <p:scale>
          <a:sx n="78" d="100"/>
          <a:sy n="78" d="100"/>
        </p:scale>
        <p:origin x="82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1252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4824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0304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089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08096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35738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60567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753400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73833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28535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57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7271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Currently</a:t>
            </a:r>
            <a:r>
              <a:rPr lang="en-US" baseline="0" dirty="0" smtClean="0"/>
              <a:t> I calculate it purely analytically during training (on clean states) and use a filter at deployment, this combination provided the best results, training on noise actually doesn’t make it noise resistant but makes it output more jitter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experimented with multiple inputs/outputs here :  first I tried to output only my lambda based on measured drone state and load state. The main problem is my lambda is not enough to calculate my force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I also tried without constructing the </a:t>
            </a:r>
            <a:r>
              <a:rPr lang="en-US" baseline="0" dirty="0" err="1" smtClean="0"/>
              <a:t>Vr</a:t>
            </a:r>
            <a:r>
              <a:rPr lang="en-US" baseline="0" dirty="0" smtClean="0"/>
              <a:t> outside, without the clock features(just supply wrench for example)</a:t>
            </a:r>
            <a:endParaRPr lang="ar-EG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The inputs and outputs that I chose in the end I think reflect the “true information” inputs and outputs of the optimizer while helping the network by doing all the analytical math outside instead of making it learn 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aseline="0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0" dirty="0" smtClean="0"/>
              <a:t>*From looking at the behavior of the network so far</a:t>
            </a: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0808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953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 e testo verticale">
  <p:cSld name="2_Titolo e testo vertica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41397" y="1159933"/>
            <a:ext cx="4709206" cy="210503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olo e testo verticale">
  <p:cSld name="3_Titolo e testo vertica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/>
          <p:nvPr/>
        </p:nvSpPr>
        <p:spPr>
          <a:xfrm>
            <a:off x="-1" y="0"/>
            <a:ext cx="12192001" cy="1138767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72000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6000" y="1153221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6179127" y="2592996"/>
            <a:ext cx="5663346" cy="3859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body" idx="2"/>
          </p:nvPr>
        </p:nvSpPr>
        <p:spPr>
          <a:xfrm>
            <a:off x="1215640" y="2592996"/>
            <a:ext cx="3781233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3"/>
          </p:nvPr>
        </p:nvSpPr>
        <p:spPr>
          <a:xfrm>
            <a:off x="1215640" y="4777396"/>
            <a:ext cx="3781234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6000" y="147563"/>
            <a:ext cx="1885998" cy="84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>
  <p:cSld name="Titolo e testo vertica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01098" y="2269067"/>
            <a:ext cx="5189805" cy="2319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">
  <p:cSld name="Layout personalizza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>
            <a:spLocks noGrp="1"/>
          </p:cNvSpPr>
          <p:nvPr>
            <p:ph type="ctrTitle"/>
          </p:nvPr>
        </p:nvSpPr>
        <p:spPr>
          <a:xfrm>
            <a:off x="1547591" y="3665329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ctr"/>
            <a:r>
              <a:rPr lang="en-US" b="1" dirty="0" smtClean="0"/>
              <a:t>Learning Cooperative Transportation using fixed-wings drones</a:t>
            </a:r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body" idx="1"/>
          </p:nvPr>
        </p:nvSpPr>
        <p:spPr>
          <a:xfrm>
            <a:off x="2935525" y="5295508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Meeting 5</a:t>
            </a: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Updates: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Formulation </a:t>
            </a:r>
            <a:r>
              <a:rPr lang="en-US" dirty="0" smtClean="0"/>
              <a:t>1 Generalization: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lnSpcReduction="10000"/>
              </a:bodyPr>
              <a:lstStyle/>
              <a:p>
                <a:pPr indent="-457200">
                  <a:buSzPts val="3200"/>
                </a:pPr>
                <a:r>
                  <a:rPr lang="en-US" sz="2000" dirty="0" smtClean="0"/>
                  <a:t>Action Space: </a:t>
                </a:r>
                <a:r>
                  <a:rPr lang="el-GR" sz="2000" dirty="0"/>
                  <a:t>λ ∈ </a:t>
                </a:r>
                <a:r>
                  <a:rPr lang="en-US" sz="2000" dirty="0" err="1" smtClean="0"/>
                  <a:t>R</a:t>
                </a:r>
                <a:r>
                  <a:rPr lang="en-US" sz="2000" baseline="30000" dirty="0" err="1" smtClean="0"/>
                  <a:t>n</a:t>
                </a:r>
                <a:endParaRPr lang="en-US" sz="2000" baseline="30000" dirty="0" smtClean="0"/>
              </a:p>
              <a:p>
                <a:pPr lvl="1" indent="-457200">
                  <a:buSzPts val="3200"/>
                </a:pPr>
                <a:r>
                  <a:rPr lang="en-US" sz="2000" dirty="0" smtClean="0"/>
                  <a:t>Keep wrench controller and </a:t>
                </a:r>
                <a:r>
                  <a:rPr lang="en-US" sz="2000" dirty="0" err="1" smtClean="0"/>
                  <a:t>nullspace</a:t>
                </a:r>
                <a:r>
                  <a:rPr lang="en-US" sz="2000" dirty="0" smtClean="0"/>
                  <a:t> matrix. Run decentralized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 smtClean="0"/>
                  <a:t>				𝑓 </a:t>
                </a:r>
                <a:r>
                  <a:rPr lang="en-US" sz="2000" dirty="0"/>
                  <a:t>(𝑡) = 𝑓</a:t>
                </a:r>
                <a:r>
                  <a:rPr lang="en-US" sz="2000" baseline="-25000" dirty="0"/>
                  <a:t>𝑔</a:t>
                </a:r>
                <a:r>
                  <a:rPr lang="en-US" sz="2000" dirty="0"/>
                  <a:t>(𝑡)+ </a:t>
                </a:r>
                <a:r>
                  <a:rPr lang="en-US" sz="2000" u="sng" dirty="0"/>
                  <a:t>𝑓</a:t>
                </a:r>
                <a:r>
                  <a:rPr lang="en-US" sz="2000" u="sng" baseline="-25000" dirty="0"/>
                  <a:t>𝜆</a:t>
                </a:r>
                <a:r>
                  <a:rPr lang="en-US" sz="2000" u="sng" dirty="0"/>
                  <a:t>(𝑡</a:t>
                </a:r>
                <a:r>
                  <a:rPr lang="en-US" sz="2000" u="sng" dirty="0" smtClean="0"/>
                  <a:t>),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/>
                  <a:t>𝑓</a:t>
                </a:r>
                <a:r>
                  <a:rPr lang="en-US" sz="2000" baseline="-25000" dirty="0"/>
                  <a:t>𝜆</a:t>
                </a:r>
                <a:r>
                  <a:rPr lang="en-US" sz="2000" dirty="0"/>
                  <a:t>(𝑡)</a:t>
                </a:r>
                <a:r>
                  <a:rPr lang="en-US" sz="2000" dirty="0" smtClean="0"/>
                  <a:t>= </a:t>
                </a:r>
                <a:r>
                  <a:rPr lang="en-US" sz="2000" dirty="0"/>
                  <a:t>N(</a:t>
                </a:r>
                <a:r>
                  <a:rPr lang="en-US" sz="2000" dirty="0" err="1"/>
                  <a:t>H,t</a:t>
                </a:r>
                <a:r>
                  <a:rPr lang="en-US" sz="2000" dirty="0"/>
                  <a:t>) · </a:t>
                </a:r>
                <a:r>
                  <a:rPr lang="el-GR" sz="2000" u="sng" dirty="0"/>
                  <a:t>λ(</a:t>
                </a:r>
                <a:r>
                  <a:rPr lang="en-US" sz="2000" u="sng" dirty="0"/>
                  <a:t>t</a:t>
                </a:r>
                <a:r>
                  <a:rPr lang="en-US" sz="2000" u="sng" dirty="0" smtClean="0"/>
                  <a:t>)</a:t>
                </a:r>
              </a:p>
              <a:p>
                <a:pPr marL="457200" lvl="1" indent="0">
                  <a:buSzPts val="3200"/>
                  <a:buNone/>
                </a:pPr>
                <a:endParaRPr lang="en-US" sz="2000" u="sng" dirty="0" smtClean="0"/>
              </a:p>
              <a:p>
                <a:pPr indent="-457200">
                  <a:buSzPts val="3200"/>
                </a:pPr>
                <a:r>
                  <a:rPr lang="en-US" sz="2000" dirty="0" smtClean="0"/>
                  <a:t>Observation Space: </a:t>
                </a:r>
              </a:p>
              <a:p>
                <a:pPr lvl="1" indent="-457200">
                  <a:buSzPts val="3200"/>
                </a:pPr>
                <a:r>
                  <a:rPr lang="en-US" sz="1800" dirty="0" smtClean="0"/>
                  <a:t>Time embedding 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sz="1200" dirty="0" smtClean="0"/>
                  <a:t>	</a:t>
                </a:r>
                <a:r>
                  <a:rPr lang="en-US" sz="1800" dirty="0" smtClean="0"/>
                  <a:t>ϕ(t</a:t>
                </a:r>
                <a:r>
                  <a:rPr lang="en-US" sz="1800" dirty="0"/>
                  <a:t>)  = [sin(ω</a:t>
                </a:r>
                <a:r>
                  <a:rPr lang="en-US" sz="1800" baseline="-25000" dirty="0"/>
                  <a:t>1</a:t>
                </a:r>
                <a:r>
                  <a:rPr lang="en-US" sz="1800" dirty="0"/>
                  <a:t>​t),</a:t>
                </a:r>
                <a:r>
                  <a:rPr lang="en-US" sz="1800" dirty="0" err="1"/>
                  <a:t>cos</a:t>
                </a:r>
                <a:r>
                  <a:rPr lang="en-US" sz="1800" dirty="0"/>
                  <a:t>(ω</a:t>
                </a:r>
                <a:r>
                  <a:rPr lang="en-US" sz="1800" baseline="-25000" dirty="0"/>
                  <a:t>1</a:t>
                </a:r>
                <a:r>
                  <a:rPr lang="en-US" sz="1800" dirty="0"/>
                  <a:t>​t),sin(ω</a:t>
                </a:r>
                <a:r>
                  <a:rPr lang="en-US" sz="1800" baseline="-25000" dirty="0"/>
                  <a:t>2</a:t>
                </a:r>
                <a:r>
                  <a:rPr lang="en-US" sz="1800" dirty="0"/>
                  <a:t>​t),</a:t>
                </a:r>
                <a:r>
                  <a:rPr lang="en-US" sz="1800" dirty="0" err="1"/>
                  <a:t>cos</a:t>
                </a:r>
                <a:r>
                  <a:rPr lang="en-US" sz="1800" dirty="0"/>
                  <a:t>(ω</a:t>
                </a:r>
                <a:r>
                  <a:rPr lang="en-US" sz="1800" baseline="-25000" dirty="0"/>
                  <a:t>2​</a:t>
                </a:r>
                <a:r>
                  <a:rPr lang="en-US" sz="1800" dirty="0"/>
                  <a:t>t),… sin(</a:t>
                </a:r>
                <a:r>
                  <a:rPr lang="en-US" sz="1800" dirty="0" err="1"/>
                  <a:t>ω</a:t>
                </a:r>
                <a:r>
                  <a:rPr lang="en-US" sz="1800" baseline="-25000" dirty="0" err="1"/>
                  <a:t>k</a:t>
                </a:r>
                <a:r>
                  <a:rPr lang="en-US" sz="1800" dirty="0" err="1"/>
                  <a:t>t</a:t>
                </a:r>
                <a:r>
                  <a:rPr lang="en-US" sz="1800" dirty="0"/>
                  <a:t>), </a:t>
                </a:r>
                <a:r>
                  <a:rPr lang="en-US" sz="1800" dirty="0" err="1"/>
                  <a:t>cos</a:t>
                </a:r>
                <a:r>
                  <a:rPr lang="en-US" sz="1800" dirty="0"/>
                  <a:t>(</a:t>
                </a:r>
                <a:r>
                  <a:rPr lang="en-US" sz="1800" dirty="0" err="1"/>
                  <a:t>ω</a:t>
                </a:r>
                <a:r>
                  <a:rPr lang="en-US" sz="1800" baseline="-25000" dirty="0" err="1"/>
                  <a:t>k</a:t>
                </a:r>
                <a:r>
                  <a:rPr lang="en-US" sz="1800" dirty="0" err="1"/>
                  <a:t>t</a:t>
                </a:r>
                <a:r>
                  <a:rPr lang="en-US" sz="1800" dirty="0"/>
                  <a:t>)]</a:t>
                </a:r>
                <a:endParaRPr lang="en-US" sz="1800" dirty="0" smtClean="0"/>
              </a:p>
              <a:p>
                <a:pPr lvl="1" indent="-457200">
                  <a:buSzPts val="3200"/>
                </a:pPr>
                <a:r>
                  <a:rPr lang="en-US" sz="1800" dirty="0" smtClean="0"/>
                  <a:t>R</a:t>
                </a:r>
                <a:r>
                  <a:rPr lang="en-US" sz="1800" dirty="0" smtClean="0"/>
                  <a:t>econstructed carrier velocities</a:t>
                </a:r>
              </a:p>
              <a:p>
                <a:pPr marL="1371600" lvl="3" indent="0">
                  <a:buSzPts val="3200"/>
                  <a:buNone/>
                </a:pPr>
                <a:r>
                  <a:rPr lang="en-US" sz="1600" dirty="0"/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/>
                      <m:t>p</m:t>
                    </m:r>
                    <m:r>
                      <m:rPr>
                        <m:nor/>
                      </m:rPr>
                      <a:rPr lang="en-US" sz="1600"/>
                      <m:t>̇</m:t>
                    </m:r>
                    <m:r>
                      <m:rPr>
                        <m:nor/>
                      </m:rPr>
                      <a:rPr lang="en-US" sz="1600" baseline="-25000" smtClean="0"/>
                      <m:t>Ri</m:t>
                    </m:r>
                    <m:r>
                      <m:rPr>
                        <m:nor/>
                      </m:rPr>
                      <a:rPr lang="en-US" sz="1600" smtClean="0"/>
                      <m:t>(</m:t>
                    </m:r>
                    <m:r>
                      <m:rPr>
                        <m:nor/>
                      </m:rPr>
                      <a:rPr lang="en-US" sz="1600"/>
                      <m:t>t</m:t>
                    </m:r>
                    <m:r>
                      <m:rPr>
                        <m:nor/>
                      </m:rPr>
                      <a:rPr lang="en-US" sz="1600"/>
                      <m:t>), </m:t>
                    </m:r>
                    <m:r>
                      <m:rPr>
                        <m:nor/>
                      </m:rPr>
                      <a:rPr lang="en-US" sz="1600"/>
                      <m:t>i</m:t>
                    </m:r>
                    <m:r>
                      <m:rPr>
                        <m:nor/>
                      </m:rPr>
                      <a:rPr lang="en-US" sz="1600"/>
                      <m:t>=</m:t>
                    </m:r>
                    <m:r>
                      <m:rPr>
                        <m:nor/>
                      </m:rPr>
                      <a:rPr lang="en-US" sz="1600"/>
                      <m:t>1,2,3,4</m:t>
                    </m:r>
                  </m:oMath>
                </a14:m>
                <a:endParaRPr lang="en-US" sz="1600" dirty="0" smtClean="0"/>
              </a:p>
              <a:p>
                <a:pPr lvl="1" indent="-457200">
                  <a:buSzPts val="3200"/>
                </a:pPr>
                <a:r>
                  <a:rPr lang="en-US" sz="1800" dirty="0"/>
                  <a:t>L</a:t>
                </a:r>
                <a:r>
                  <a:rPr lang="en-US" sz="1800" dirty="0" smtClean="0"/>
                  <a:t>og-spaced point taps (λ at lags 1, 2, 4, 8, 16, 32, 64, 128, 192, 256 steps)]</a:t>
                </a:r>
                <a:endParaRPr lang="ar-EG" sz="1800" dirty="0"/>
              </a:p>
              <a:p>
                <a:pPr marL="1371600" lvl="3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[</a:t>
                </a:r>
                <a:r>
                  <a:rPr lang="el-GR" dirty="0" smtClean="0"/>
                  <a:t>λ(</a:t>
                </a:r>
                <a:r>
                  <a:rPr lang="en-US" dirty="0" smtClean="0"/>
                  <a:t>t-1), </a:t>
                </a:r>
                <a:r>
                  <a:rPr lang="el-GR" dirty="0"/>
                  <a:t>λ(</a:t>
                </a:r>
                <a:r>
                  <a:rPr lang="en-US" dirty="0" smtClean="0"/>
                  <a:t>t-2), </a:t>
                </a:r>
                <a:r>
                  <a:rPr lang="el-GR" dirty="0"/>
                  <a:t>λ(</a:t>
                </a:r>
                <a:r>
                  <a:rPr lang="en-US" dirty="0" smtClean="0"/>
                  <a:t>t-4), </a:t>
                </a:r>
                <a:r>
                  <a:rPr lang="el-GR" dirty="0"/>
                  <a:t>λ(</a:t>
                </a:r>
                <a:r>
                  <a:rPr lang="en-US" dirty="0" smtClean="0"/>
                  <a:t>t-8), </a:t>
                </a:r>
                <a:r>
                  <a:rPr lang="el-GR" dirty="0"/>
                  <a:t>λ(</a:t>
                </a:r>
                <a:r>
                  <a:rPr lang="en-US" dirty="0" smtClean="0"/>
                  <a:t>t-16), </a:t>
                </a:r>
                <a:r>
                  <a:rPr lang="el-GR" dirty="0"/>
                  <a:t>λ(</a:t>
                </a:r>
                <a:r>
                  <a:rPr lang="en-US" dirty="0" smtClean="0"/>
                  <a:t>t-32), </a:t>
                </a:r>
                <a:r>
                  <a:rPr lang="el-GR" dirty="0"/>
                  <a:t>λ(</a:t>
                </a:r>
                <a:r>
                  <a:rPr lang="en-US" dirty="0" smtClean="0"/>
                  <a:t>t-64), </a:t>
                </a:r>
                <a:r>
                  <a:rPr lang="el-GR" dirty="0"/>
                  <a:t>λ(</a:t>
                </a:r>
                <a:r>
                  <a:rPr lang="en-US" dirty="0" smtClean="0"/>
                  <a:t>t-128), </a:t>
                </a:r>
                <a:r>
                  <a:rPr lang="el-GR" dirty="0"/>
                  <a:t>λ(</a:t>
                </a:r>
                <a:r>
                  <a:rPr lang="en-US" dirty="0" smtClean="0"/>
                  <a:t>t-192),</a:t>
                </a:r>
                <a:r>
                  <a:rPr lang="el-GR" dirty="0"/>
                  <a:t> λ(</a:t>
                </a:r>
                <a:r>
                  <a:rPr lang="en-US" smtClean="0"/>
                  <a:t>t-256)] </a:t>
                </a:r>
                <a:endParaRPr lang="en-US" dirty="0"/>
              </a:p>
              <a:p>
                <a:pPr marL="0" indent="0">
                  <a:buSzPts val="3200"/>
                  <a:buNone/>
                </a:pPr>
                <a:r>
                  <a:rPr lang="en-US" dirty="0" smtClean="0"/>
                  <a:t> </a:t>
                </a:r>
                <a:endParaRPr lang="en-US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8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692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Original Plan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Formulation </a:t>
            </a:r>
            <a:r>
              <a:rPr lang="ar-EG" dirty="0" smtClean="0"/>
              <a:t>2</a:t>
            </a:r>
            <a:r>
              <a:rPr lang="en-US" dirty="0" smtClean="0"/>
              <a:t>:</a:t>
            </a:r>
            <a:r>
              <a:rPr lang="ar-EG" dirty="0" smtClean="0"/>
              <a:t>  </a:t>
            </a:r>
            <a:r>
              <a:rPr lang="en-US" dirty="0" smtClean="0"/>
              <a:t>Residual RL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Action Space: </a:t>
            </a:r>
            <a:r>
              <a:rPr lang="el-GR" dirty="0" smtClean="0"/>
              <a:t>δ</a:t>
            </a:r>
            <a:r>
              <a:rPr lang="en-US" dirty="0"/>
              <a:t>𝑓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smtClean="0"/>
              <a:t>R</a:t>
            </a:r>
            <a:r>
              <a:rPr lang="en-US" baseline="30000" dirty="0" smtClean="0"/>
              <a:t>3n</a:t>
            </a:r>
            <a:r>
              <a:rPr lang="en-US" dirty="0" smtClean="0"/>
              <a:t> </a:t>
            </a:r>
          </a:p>
          <a:p>
            <a:pPr lvl="1" indent="-457200">
              <a:buSzPts val="3200"/>
            </a:pPr>
            <a:r>
              <a:rPr lang="en-US" dirty="0" smtClean="0"/>
              <a:t>Keep wrench controller and optimizer. Run decentralized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	</a:t>
            </a:r>
            <a:r>
              <a:rPr lang="en-US" dirty="0"/>
              <a:t>𝑓 (𝑡) = 𝑓</a:t>
            </a:r>
            <a:r>
              <a:rPr lang="en-US" baseline="-25000" dirty="0"/>
              <a:t>𝑔</a:t>
            </a:r>
            <a:r>
              <a:rPr lang="en-US" dirty="0"/>
              <a:t>(𝑡)+ 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 + </a:t>
            </a:r>
            <a:r>
              <a:rPr lang="el-GR" u="sng" dirty="0" smtClean="0"/>
              <a:t>δ</a:t>
            </a:r>
            <a:r>
              <a:rPr lang="en-US" u="sng" dirty="0" smtClean="0"/>
              <a:t>𝑓(t)</a:t>
            </a:r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indent="-457200">
              <a:buSzPts val="3200"/>
            </a:pPr>
            <a:r>
              <a:rPr lang="en-US" dirty="0" smtClean="0"/>
              <a:t>Reward </a:t>
            </a:r>
            <a:r>
              <a:rPr lang="en-US" dirty="0"/>
              <a:t>function: </a:t>
            </a:r>
          </a:p>
          <a:p>
            <a:pPr lvl="1" indent="-457200">
              <a:buSzPts val="3200"/>
            </a:pPr>
            <a:r>
              <a:rPr lang="en-US" dirty="0"/>
              <a:t>Penalize load tracking error + Penalize ‖</a:t>
            </a:r>
            <a:r>
              <a:rPr lang="en-US" dirty="0" err="1"/>
              <a:t>δf</a:t>
            </a:r>
            <a:r>
              <a:rPr lang="en-US" dirty="0" smtClean="0"/>
              <a:t>‖</a:t>
            </a:r>
          </a:p>
          <a:p>
            <a:pPr indent="-457200">
              <a:buSzPts val="3200"/>
            </a:pPr>
            <a:r>
              <a:rPr lang="en-US" dirty="0" smtClean="0"/>
              <a:t>Handles desynchronization</a:t>
            </a:r>
          </a:p>
          <a:p>
            <a:pPr lvl="0" indent="-457200">
              <a:buSzPts val="3200"/>
            </a:pP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Stage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1: Train formulation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2</a:t>
            </a:r>
          </a:p>
          <a:p>
            <a:pPr lvl="0" indent="-457200">
              <a:buSzPts val="3200"/>
            </a:pP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Stage 2: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Remove optimizer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and train formulation 1</a:t>
            </a:r>
            <a:r>
              <a:rPr lang="ar-EG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endParaRPr lang="ar-EG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indent="-457200">
              <a:buSzPts val="3200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C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ould also work the other way around(would be better for simulation time) or combined in one phase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indent="-457200">
              <a:buSzPts val="3200"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986476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Actual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6000" y="2100947"/>
            <a:ext cx="11385933" cy="4679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Doing formulation 2 using the classical controller + optimizer(expert) takes very long </a:t>
            </a:r>
          </a:p>
          <a:p>
            <a:pPr indent="-457200">
              <a:buSzPts val="3200"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Because it’s decentralized the optimizer has to run 4 times per each step</a:t>
            </a:r>
          </a:p>
          <a:p>
            <a:pPr indent="-457200">
              <a:buSzPts val="3200"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Episode length of 25 seconds takes 1-2 minutes in actual runtime </a:t>
            </a:r>
          </a:p>
        </p:txBody>
      </p:sp>
    </p:spTree>
    <p:extLst>
      <p:ext uri="{BB962C8B-B14F-4D97-AF65-F5344CB8AC3E}">
        <p14:creationId xmlns:p14="http://schemas.microsoft.com/office/powerpoint/2010/main" val="4164796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it-IT" dirty="0"/>
              <a:t>Formulation 1 status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100947"/>
                <a:ext cx="11385933" cy="46792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So I had to do formulation one first</a:t>
                </a:r>
                <a:endParaRPr lang="en-US" dirty="0"/>
              </a:p>
              <a:p>
                <a:pPr lvl="1" indent="-457200">
                  <a:buSzPts val="3200"/>
                </a:pPr>
                <a:r>
                  <a:rPr lang="en-US" dirty="0" smtClean="0"/>
                  <a:t>Step 1 : Imitation learning/Behavioral cloning(BC): train a NN to mimic the optimizer</a:t>
                </a:r>
                <a:endParaRPr lang="ar-EG" dirty="0" smtClean="0"/>
              </a:p>
              <a:p>
                <a:pPr lvl="2" indent="-457200">
                  <a:buSzPts val="3200"/>
                </a:pPr>
                <a:r>
                  <a:rPr lang="en-US" dirty="0" smtClean="0"/>
                  <a:t>Phase</a:t>
                </a:r>
                <a:r>
                  <a:rPr lang="ar-EG" dirty="0" smtClean="0"/>
                  <a:t> </a:t>
                </a:r>
                <a:r>
                  <a:rPr lang="en-US" dirty="0" smtClean="0"/>
                  <a:t>1 : Supervised learning : collect states and labels from expert and train</a:t>
                </a:r>
              </a:p>
              <a:p>
                <a:pPr lvl="2" indent="-457200">
                  <a:buSzPts val="3200"/>
                </a:pPr>
                <a:r>
                  <a:rPr lang="en-US" dirty="0" smtClean="0"/>
                  <a:t>Phase 2 : </a:t>
                </a:r>
                <a:r>
                  <a:rPr lang="en-US" dirty="0" err="1" smtClean="0"/>
                  <a:t>DAgger</a:t>
                </a:r>
                <a:r>
                  <a:rPr lang="en-US" dirty="0" smtClean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Action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𝑒𝑥𝑝𝑒𝑟𝑡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l-GR" dirty="0"/>
                          <m:t>β</m:t>
                        </m:r>
                      </m:e>
                    </m:d>
                    <m:r>
                      <a:rPr lang="ar-EG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𝑝𝑜𝑙𝑖𝑐𝑦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𝑎𝑐𝑡𝑖𝑜𝑛</m:t>
                    </m:r>
                  </m:oMath>
                </a14:m>
                <a:endParaRPr lang="en-US" b="0" dirty="0" smtClean="0"/>
              </a:p>
              <a:p>
                <a:pPr lvl="2" indent="-457200">
                  <a:buSzPts val="3200"/>
                </a:pPr>
                <a:r>
                  <a:rPr lang="en-US" dirty="0" smtClean="0"/>
                  <a:t>Slide </a:t>
                </a:r>
                <a:r>
                  <a:rPr lang="el-GR" dirty="0" smtClean="0"/>
                  <a:t>β</a:t>
                </a:r>
                <a:r>
                  <a:rPr lang="en-US" dirty="0" smtClean="0"/>
                  <a:t> from 1 to 0 and train after each iteration</a:t>
                </a:r>
                <a:endParaRPr lang="en-US" b="1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Action is the full lambda vector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Input to network is the full velocity vector estimated from the load state and wrench, previous lambda and “clock features/phases”  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Full velocity vector is calculated analytically like the optimizer , I tested with multiple setups here</a:t>
                </a:r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100947"/>
                <a:ext cx="11385933" cy="467923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921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305" y="1413163"/>
            <a:ext cx="1036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805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064535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Formulation 1 status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7401" y="1848254"/>
            <a:ext cx="9733198" cy="482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11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064535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Formulation 1 status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6000" y="1935576"/>
            <a:ext cx="11385933" cy="4922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Flying with the policy alone is successful</a:t>
            </a:r>
          </a:p>
          <a:p>
            <a:pPr indent="-457200">
              <a:buSzPts val="3200"/>
            </a:pPr>
            <a:r>
              <a:rPr lang="en-US" dirty="0" smtClean="0"/>
              <a:t>So far BC with </a:t>
            </a:r>
            <a:r>
              <a:rPr lang="en-US" dirty="0" err="1" smtClean="0"/>
              <a:t>DAgger</a:t>
            </a:r>
            <a:r>
              <a:rPr lang="en-US" dirty="0" smtClean="0"/>
              <a:t> alone is producing acceptable results </a:t>
            </a:r>
          </a:p>
          <a:p>
            <a:pPr indent="-457200">
              <a:buSzPts val="3200"/>
            </a:pPr>
            <a:r>
              <a:rPr lang="en-US" dirty="0"/>
              <a:t>Episode length of 25 seconds </a:t>
            </a:r>
            <a:r>
              <a:rPr lang="en-US" dirty="0" smtClean="0"/>
              <a:t>takes ~ 7 seconds in </a:t>
            </a:r>
            <a:r>
              <a:rPr lang="en-US" dirty="0"/>
              <a:t>actual </a:t>
            </a:r>
            <a:r>
              <a:rPr lang="en-US" dirty="0" smtClean="0"/>
              <a:t>runtime(10x faster) </a:t>
            </a:r>
          </a:p>
          <a:p>
            <a:pPr indent="-457200">
              <a:buSzPts val="3200"/>
            </a:pPr>
            <a:r>
              <a:rPr lang="en-US" dirty="0" smtClean="0"/>
              <a:t>I trained on limited trajectories, so generalization still needs to be done</a:t>
            </a:r>
          </a:p>
          <a:p>
            <a:pPr indent="-457200">
              <a:buSzPts val="3200"/>
            </a:pPr>
            <a:r>
              <a:rPr lang="en-US" dirty="0" smtClean="0"/>
              <a:t>As we generalize and add noise, RL becomes necessary</a:t>
            </a:r>
          </a:p>
          <a:p>
            <a:pPr indent="-457200">
              <a:buSzPts val="3200"/>
            </a:pPr>
            <a:r>
              <a:rPr lang="en-US" dirty="0" smtClean="0">
                <a:solidFill>
                  <a:schemeClr val="tx1"/>
                </a:solidFill>
              </a:rPr>
              <a:t>RL objective regularized(TRPO relaxed-like) or just normal warm starting</a:t>
            </a:r>
            <a:r>
              <a:rPr lang="en-US" dirty="0" smtClean="0"/>
              <a:t>​.</a:t>
            </a:r>
            <a:endParaRPr lang="en-US" dirty="0"/>
          </a:p>
          <a:p>
            <a:pPr indent="-457200">
              <a:buSzPts val="3200"/>
            </a:pPr>
            <a:r>
              <a:rPr lang="en-US" dirty="0" smtClean="0"/>
              <a:t>Reward function design strategy: </a:t>
            </a:r>
          </a:p>
          <a:p>
            <a:pPr lvl="1" indent="-457200">
              <a:buSzPts val="3200"/>
            </a:pPr>
            <a:r>
              <a:rPr lang="en-US" dirty="0" smtClean="0"/>
              <a:t>Study/analyze the failure modes of BC alone and choose a reward function that fights it</a:t>
            </a:r>
          </a:p>
          <a:p>
            <a:pPr lvl="1" indent="-457200">
              <a:buSzPts val="3200"/>
            </a:pPr>
            <a:r>
              <a:rPr lang="en-US" dirty="0" smtClean="0"/>
              <a:t>It will have to do with jittering and non smooth movement in general*(similar to optimizer). R</a:t>
            </a:r>
            <a:r>
              <a:rPr lang="pl-PL" dirty="0" smtClean="0"/>
              <a:t> </a:t>
            </a:r>
            <a:r>
              <a:rPr lang="pl-PL" dirty="0"/>
              <a:t>= - w_lam * sum_i (lam_i_t - </a:t>
            </a:r>
            <a:r>
              <a:rPr lang="pl-PL" dirty="0" smtClean="0"/>
              <a:t>lam_i_prev)</a:t>
            </a:r>
            <a:r>
              <a:rPr lang="en-US" dirty="0" smtClean="0"/>
              <a:t>^</a:t>
            </a:r>
            <a:r>
              <a:rPr lang="pl-PL" dirty="0" smtClean="0"/>
              <a:t>2 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890933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558" y="1337242"/>
            <a:ext cx="7002530" cy="544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5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Formulation </a:t>
            </a:r>
            <a:r>
              <a:rPr lang="ar-EG" dirty="0" smtClean="0"/>
              <a:t>2</a:t>
            </a:r>
            <a:r>
              <a:rPr lang="it-IT" dirty="0" smtClean="0"/>
              <a:t> status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6000" y="2100947"/>
            <a:ext cx="11385933" cy="4679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Currently I’m injecting noise in the load state and delay in some drones’ clocks</a:t>
            </a:r>
          </a:p>
          <a:p>
            <a:pPr indent="-457200">
              <a:buSzPts val="3200"/>
            </a:pPr>
            <a:r>
              <a:rPr lang="en-US" dirty="0" smtClean="0"/>
              <a:t>BC with </a:t>
            </a:r>
            <a:r>
              <a:rPr lang="en-US" dirty="0" err="1" smtClean="0"/>
              <a:t>DAgger</a:t>
            </a:r>
            <a:r>
              <a:rPr lang="en-US" dirty="0" smtClean="0"/>
              <a:t> alone completely failing(not sure if it’s even helping)</a:t>
            </a:r>
          </a:p>
          <a:p>
            <a:pPr indent="-457200">
              <a:buSzPts val="3200"/>
            </a:pPr>
            <a:r>
              <a:rPr lang="en-US" dirty="0" smtClean="0"/>
              <a:t>Still analyzing failure modes to try and design a good reward function</a:t>
            </a:r>
          </a:p>
          <a:p>
            <a:pPr indent="-457200">
              <a:buSzPts val="3200"/>
            </a:pPr>
            <a:r>
              <a:rPr lang="en-US" dirty="0" smtClean="0"/>
              <a:t>Load tracking as a reward struggles due to the decoupling of drone trajectories and load trajectory</a:t>
            </a:r>
          </a:p>
          <a:p>
            <a:pPr indent="-457200">
              <a:buSzPts val="3200"/>
            </a:pPr>
            <a:r>
              <a:rPr lang="en-US" dirty="0" smtClean="0"/>
              <a:t>A good reward would encourage the drones to be close to a mathematical description of the de-noised loitering  </a:t>
            </a:r>
          </a:p>
        </p:txBody>
      </p:sp>
    </p:spTree>
    <p:extLst>
      <p:ext uri="{BB962C8B-B14F-4D97-AF65-F5344CB8AC3E}">
        <p14:creationId xmlns:p14="http://schemas.microsoft.com/office/powerpoint/2010/main" val="1295314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5464" y="1210771"/>
            <a:ext cx="7230403" cy="542280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535" y="2912422"/>
            <a:ext cx="3850369" cy="2019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378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44" y="1324226"/>
            <a:ext cx="10637823" cy="527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05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"/>
          <p:cNvSpPr txBox="1"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it-IT"/>
              <a:t>Università degli Studi di Padova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14823</TotalTime>
  <Words>1856</Words>
  <Application>Microsoft Office PowerPoint</Application>
  <PresentationFormat>Widescreen</PresentationFormat>
  <Paragraphs>135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 Math</vt:lpstr>
      <vt:lpstr>Tema di Office</vt:lpstr>
      <vt:lpstr>Learning Cooperative Transportation using fixed-wings drones</vt:lpstr>
      <vt:lpstr>Updates: Formulation 1 Generalization:</vt:lpstr>
      <vt:lpstr>Original Plan Formulation 2:  Residual RL</vt:lpstr>
      <vt:lpstr>Actual</vt:lpstr>
      <vt:lpstr>Formulation 1 status</vt:lpstr>
      <vt:lpstr>PowerPoint Presentation</vt:lpstr>
      <vt:lpstr>Formulation 1 status</vt:lpstr>
      <vt:lpstr>Formulation 1 status</vt:lpstr>
      <vt:lpstr>PowerPoint Presentation</vt:lpstr>
      <vt:lpstr>Formulation 2 status</vt:lpstr>
      <vt:lpstr>PowerPoint Presentation</vt:lpstr>
      <vt:lpstr>PowerPoint Presentation</vt:lpstr>
      <vt:lpstr>Università degli Studi di Padova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Cooperative Transportation using fixed-wings drones</dc:title>
  <dc:creator>Bocchi Giuliano</dc:creator>
  <cp:lastModifiedBy>Microsoft account</cp:lastModifiedBy>
  <cp:revision>58</cp:revision>
  <dcterms:created xsi:type="dcterms:W3CDTF">2022-07-26T10:43:33Z</dcterms:created>
  <dcterms:modified xsi:type="dcterms:W3CDTF">2026-08-31T14:08:37Z</dcterms:modified>
</cp:coreProperties>
</file>