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18.png" ContentType="image/png"/>
  <Override PartName="/ppt/media/image20.png" ContentType="image/png"/>
  <Override PartName="/ppt/media/image9.png" ContentType="image/png"/>
  <Override PartName="/ppt/media/image4.png" ContentType="image/png"/>
  <Override PartName="/ppt/media/image13.png" ContentType="image/png"/>
  <Override PartName="/ppt/media/image30.png" ContentType="image/png"/>
  <Override PartName="/ppt/media/image31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dt" idx="3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ftr" idx="3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sldNum" idx="3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FB3EBC3-24A4-4896-9A6A-B0D9B4A5DA5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EA3EA8-1A14-4A51-9185-228CB6255F81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8C56C9-A248-47C5-AEBB-61F6501C56E1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CE49BF-2F5C-4C73-ACF9-DB4E299C5DDA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Preferire un carattere sans serif come Arial, Helvetica o Verdana. Font consigliabile da 30 a 40 pt.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Allineare i testi a sinistra, non giustificarli.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Utilizzare non più di tre blocchi di informazione di massimo 2/3 righe ciascuno.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Per evidenziare titoli o parole chiave, prediligere l’uso del grassetto a corsivo o colori.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Prediligere testo nero su sfondo bianco.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Evitare ombre, sfumature e gradazioni di grigio.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Secondo le linee guida sull’accessibilità, prestare attenzione ai contrasti tra i colori di sfondo e il testo.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6B7703-60DE-41B0-90A2-FDA46178E49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CD00B9A-1D02-4E14-9B86-5C357F3D1ECA}" type="slidenum"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pc="-1" strike="noStrike">
                <a:solidFill>
                  <a:schemeClr val="dk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86DF30-5A35-4E39-8B0C-F540937C3AA3}" type="slidenum"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4D236D-34BC-42A1-A6FB-D172C98275EF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00A194-BB20-440D-8392-7D9EB879BF84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390520-2A43-4134-AED6-673DBDC519A1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Preferire un carattere sans serif come Arial, Helvetica o Verdana. Font consigliabile da 30 a 40 pt.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Allineare i testi a sinistra, non giustificarli.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Utilizzare non più di tre blocchi di informazione di massimo 2/3 righe ciascuno.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Per evidenziare titoli o parole chiave, prediligere l’uso del grassetto a corsivo o colori.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Prediligere testo nero su sfondo bianco.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Evitare ombre, sfumature e gradazioni di grigio.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Secondo le linee guida sull’accessibilità, prestare attenzione ai contrasti tra i colori di sfondo e il testo.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3B633F-EF09-4666-9DF9-17850CB5B8D5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Preferire un carattere sans serif come Arial, Helvetica o Verdana. Font consigliabile da 30 a 40 pt.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Allineare i testi a sinistra, non giustificarli.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Utilizzare non più di tre blocchi di informazione di massimo 2/3 righe ciascuno.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Per evidenziare titoli o parole chiave, prediligere l’uso del grassetto a corsivo o colori.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Prediligere testo nero su sfondo bianco.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Evitare ombre, sfumature e gradazioni di grigio.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Secondo le linee guida sull’accessibilità, prestare attenzione ai contrasti tra i colori di sfondo e il testo.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8E344C-8E56-421E-B6B3-29A8C7CBECC4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Preferire un carattere sans serif come Arial, Helvetica o Verdana. Font consigliabile da 30 a 40 pt.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Allineare i testi a sinistra, non giustificarli.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Utilizzare non più di tre blocchi di informazione di massimo 2/3 righe ciascuno.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Per evidenziare titoli o parole chiave, prediligere l’uso del grassetto a corsivo o colori.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Prediligere testo nero su sfondo bianco.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Evitare ombre, sfumature e gradazioni di grigio.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Secondo le linee guida sull’accessibilità, prestare attenzione ai contrasti tra i colori di sfondo e il testo.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69D55E-EC23-4F7F-B136-0769F568A571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Preferire un carattere sans serif come Arial, Helvetica o Verdana. Font consigliabile da 30 a 40 pt.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Allineare i testi a sinistra, non giustificarli.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Utilizzare non più di tre blocchi di informazione di massimo 2/3 righe ciascuno.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Per evidenziare titoli o parole chiave, prediligere l’uso del grassetto a corsivo o colori.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Prediligere testo nero su sfondo bianco.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Evitare ombre, sfumature e gradazioni di grigio.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pc="-1" strike="noStrike">
                <a:solidFill>
                  <a:schemeClr val="dk1"/>
                </a:solidFill>
                <a:latin typeface="Calibri"/>
                <a:ea typeface="Calibri"/>
              </a:rPr>
              <a:t>Secondo le linee guida sull’accessibilità, prestare attenzione ai contrasti tra i colori di sfondo e il testo.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E5FDAAD-EFBE-4E5C-AD4D-B81CFC01BC42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2A0D58-87BB-4B5F-A5E8-85318670135D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92C9E1-D8F1-4B41-967C-794A4D94D805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C362F1-29CF-4372-8F05-7A9F67BC4DA4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3F3BF2-FA98-40BD-9B96-100E79D5891B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14D1D8-07BF-4528-B2D5-B7EF3A593382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DAB9B3-F770-4E04-9C60-ED93415E002D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200" spc="-1" strike="noStrike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C2C2F9-F7A7-4877-856C-B7CE61CC98E7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340CF7-F6FF-411C-B7F0-834334DE16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2E9A9A-CEB0-4C50-A163-D2EF31F6B3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0087632-1C6D-4405-B677-6631E7650F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D347B8F-7439-4BFC-A0F1-BF1E2D0A5F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411DC5B-93E9-44D0-9218-AF4E945C7C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0F583F3-420F-4447-922F-44F5155D72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3A8E34D8-5B7A-4DFE-AA17-92716EF39F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99F7E3D-498E-4C39-B5DD-7307CA2E7A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358559DF-BC74-44B5-9E2D-F22C1D2BFE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09C9DC0-F832-4EF9-8AA4-0B86DB8454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6;p1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aa000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rIns="360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it-IT" sz="2400" spc="-1" strike="noStrike">
                <a:solidFill>
                  <a:schemeClr val="lt1"/>
                </a:solidFill>
                <a:latin typeface="Arial"/>
                <a:ea typeface="Arial"/>
              </a:rPr>
              <a:t> 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" name="Google Shape;17;p16" descr=""/>
          <p:cNvPicPr/>
          <p:nvPr/>
        </p:nvPicPr>
        <p:blipFill>
          <a:blip r:embed="rId2"/>
          <a:stretch/>
        </p:blipFill>
        <p:spPr>
          <a:xfrm>
            <a:off x="3741480" y="1159920"/>
            <a:ext cx="4708800" cy="21045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47640" y="3286080"/>
            <a:ext cx="9096480" cy="12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2935440" y="4741200"/>
            <a:ext cx="6320520" cy="75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12497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pc="-1" strike="noStrike">
                <a:solidFill>
                  <a:srgbClr val="888888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947C5A-CDC7-4EEA-BE3E-E35AEC63398D}" type="slidenum">
              <a:rPr b="0" lang="it-IT" sz="1200" spc="-1" strike="noStrike">
                <a:solidFill>
                  <a:srgbClr val="888888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865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pc="-1" strike="noStrike">
                <a:solidFill>
                  <a:srgbClr val="888888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0ADED0-43E0-42B1-84EF-B7431ADA9933}" type="slidenum">
              <a:rPr b="0" lang="it-IT" sz="1200" spc="-1" strike="noStrike">
                <a:solidFill>
                  <a:srgbClr val="888888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pc="-1" strike="noStrike">
                <a:solidFill>
                  <a:srgbClr val="888888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56BA21-2FF0-4C0D-A4CC-E80249F1124D}" type="slidenum">
              <a:rPr b="0" lang="it-IT" sz="1200" spc="-1" strike="noStrike">
                <a:solidFill>
                  <a:srgbClr val="888888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pc="-1" strike="noStrike">
                <a:solidFill>
                  <a:srgbClr val="888888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A3DF15-CCE5-466E-B9B6-447AB45B05CB}" type="slidenum">
              <a:rPr b="0" lang="it-IT" sz="1200" spc="-1" strike="noStrike">
                <a:solidFill>
                  <a:srgbClr val="888888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1;p17"/>
          <p:cNvSpPr/>
          <p:nvPr/>
        </p:nvSpPr>
        <p:spPr>
          <a:xfrm>
            <a:off x="0" y="0"/>
            <a:ext cx="12191760" cy="1138320"/>
          </a:xfrm>
          <a:prstGeom prst="rect">
            <a:avLst/>
          </a:prstGeom>
          <a:solidFill>
            <a:srgbClr val="aa000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2000" rIns="360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1" lang="en-US" sz="2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6120" y="11530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179040" y="2593080"/>
            <a:ext cx="5663160" cy="385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76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1215720" y="2593080"/>
            <a:ext cx="3780720" cy="179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31064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1215720" y="4777560"/>
            <a:ext cx="3780720" cy="179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31064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" name="Google Shape;26;p17" descr=""/>
          <p:cNvPicPr/>
          <p:nvPr/>
        </p:nvPicPr>
        <p:blipFill>
          <a:blip r:embed="rId2"/>
          <a:stretch/>
        </p:blipFill>
        <p:spPr>
          <a:xfrm>
            <a:off x="456120" y="147600"/>
            <a:ext cx="1885680" cy="8427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8;p1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aa000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rIns="360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1" lang="en-US" sz="2400" spc="-1" strike="noStrike">
              <a:solidFill>
                <a:schemeClr val="lt1"/>
              </a:solidFill>
              <a:latin typeface="Arial"/>
              <a:ea typeface="Arial"/>
            </a:endParaRPr>
          </a:p>
        </p:txBody>
      </p:sp>
      <p:pic>
        <p:nvPicPr>
          <p:cNvPr id="30" name="Google Shape;29;p18" descr=""/>
          <p:cNvPicPr/>
          <p:nvPr/>
        </p:nvPicPr>
        <p:blipFill>
          <a:blip r:embed="rId2"/>
          <a:stretch/>
        </p:blipFill>
        <p:spPr>
          <a:xfrm>
            <a:off x="3501000" y="2269080"/>
            <a:ext cx="5189400" cy="2319480"/>
          </a:xfrm>
          <a:prstGeom prst="rect">
            <a:avLst/>
          </a:prstGeom>
          <a:ln w="0">
            <a:noFill/>
          </a:ln>
        </p:spPr>
      </p:pic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pc="-1" strike="noStrike">
                <a:solidFill>
                  <a:srgbClr val="888888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3BA9A0-7717-4DA8-8C64-F06C6B105C3B}" type="slidenum">
              <a:rPr b="0" lang="it-IT" sz="1200" spc="-1" strike="noStrike">
                <a:solidFill>
                  <a:srgbClr val="888888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pc="-1" strike="noStrike">
                <a:solidFill>
                  <a:srgbClr val="888888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78A161-03F0-44C9-9B1C-C459FFE2F602}" type="slidenum">
              <a:rPr b="0" lang="it-IT" sz="1200" spc="-1" strike="noStrike">
                <a:solidFill>
                  <a:srgbClr val="888888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37485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pc="-1" strike="noStrike">
                <a:solidFill>
                  <a:srgbClr val="888888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C3247F-A71D-4E9A-81EA-F0010C5D79EA}" type="slidenum">
              <a:rPr b="0" lang="it-IT" sz="1200" spc="-1" strike="noStrike">
                <a:solidFill>
                  <a:srgbClr val="888888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33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33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pc="-1" strike="noStrike">
                <a:solidFill>
                  <a:srgbClr val="888888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73FA96-03E6-4A37-9EF5-8CA9BE007E8A}" type="slidenum">
              <a:rPr b="0" lang="it-IT" sz="1200" spc="-1" strike="noStrike">
                <a:solidFill>
                  <a:srgbClr val="888888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1249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05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12495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05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8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pc="-1" strike="noStrike">
                <a:solidFill>
                  <a:srgbClr val="888888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F6E7DA-FE85-48BD-811B-7BD9227A75DE}" type="slidenum">
              <a:rPr b="0" lang="it-IT" sz="1200" spc="-1" strike="noStrike">
                <a:solidFill>
                  <a:srgbClr val="888888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it-IT" sz="1200" spc="-1" strike="noStrike">
                <a:solidFill>
                  <a:srgbClr val="888888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E9222E4-C18C-40E5-8E5C-9734152CBCAE}" type="slidenum">
              <a:rPr b="0" lang="it-IT" sz="1200" spc="-1" strike="noStrike">
                <a:solidFill>
                  <a:srgbClr val="888888"/>
                </a:solidFill>
                <a:latin typeface="Arial"/>
                <a:ea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547640" y="3665160"/>
            <a:ext cx="9096480" cy="12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0240"/>
          </a:bodyPr>
          <a:p>
            <a:pPr indent="0"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lt1"/>
                </a:solidFill>
                <a:latin typeface="Arial"/>
                <a:ea typeface="Arial"/>
              </a:rPr>
              <a:t>Learning Cooperative Transportation using fixed-wings drones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2935440" y="5295600"/>
            <a:ext cx="6320520" cy="75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lt1"/>
                </a:solidFill>
                <a:latin typeface="Arial"/>
                <a:ea typeface="Arial"/>
              </a:rPr>
              <a:t>Meeting 5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6120" y="11422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Updates:</a:t>
            </a:r>
            <a:br>
              <a:rPr sz="3600"/>
            </a:b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Imitation Learning Generalization: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6120" y="2178720"/>
            <a:ext cx="11385720" cy="4520520"/>
          </a:xfrm>
          <a:prstGeom prst="rect">
            <a:avLst/>
          </a:prstGeom>
          <a:blipFill rotWithShape="0">
            <a:blip r:embed="rId1"/>
            <a:stretch>
              <a:fillRect l="-1233" t="-2158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rial"/>
                <a:ea typeface="Arial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2" descr=""/>
          <p:cNvPicPr/>
          <p:nvPr/>
        </p:nvPicPr>
        <p:blipFill>
          <a:blip r:embed="rId1"/>
          <a:stretch/>
        </p:blipFill>
        <p:spPr>
          <a:xfrm>
            <a:off x="893160" y="1413000"/>
            <a:ext cx="1036764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6120" y="11422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Updates:</a:t>
            </a:r>
            <a:br>
              <a:rPr sz="3600"/>
            </a:b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Formulation 1 Generalization: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6120" y="2178720"/>
            <a:ext cx="11385720" cy="452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Behavioral Cloning with DAgger proved to be enough to generalize across trajectories so Imitation learning was enough. No RL needed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Trained by sampling random component-wise rest-to-rest quintic polynomial trajectories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Generalization across different scales, episode time and movement axes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6120" y="11530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Results of Imitation learning Generalization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Picture 6" descr=""/>
          <p:cNvPicPr/>
          <p:nvPr/>
        </p:nvPicPr>
        <p:blipFill>
          <a:blip r:embed="rId1"/>
          <a:stretch/>
        </p:blipFill>
        <p:spPr>
          <a:xfrm>
            <a:off x="2324520" y="2776320"/>
            <a:ext cx="7998480" cy="3967920"/>
          </a:xfrm>
          <a:prstGeom prst="rect">
            <a:avLst/>
          </a:prstGeom>
          <a:ln w="0">
            <a:noFill/>
          </a:ln>
        </p:spPr>
      </p:pic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6120" y="2178720"/>
            <a:ext cx="113857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Randomly Generated component-wise rest-to-rest quintic polynomial trajectory(not seen during training)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6120" y="11530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Results of Imitation learning Generalization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Picture 5" descr=""/>
          <p:cNvPicPr/>
          <p:nvPr/>
        </p:nvPicPr>
        <p:blipFill>
          <a:blip r:embed="rId1"/>
          <a:stretch/>
        </p:blipFill>
        <p:spPr>
          <a:xfrm>
            <a:off x="987480" y="2013480"/>
            <a:ext cx="9615240" cy="477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6120" y="11530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Results of Imitation learning Generalization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Picture 2" descr=""/>
          <p:cNvPicPr/>
          <p:nvPr/>
        </p:nvPicPr>
        <p:blipFill>
          <a:blip r:embed="rId1"/>
          <a:stretch/>
        </p:blipFill>
        <p:spPr>
          <a:xfrm>
            <a:off x="1967760" y="2341080"/>
            <a:ext cx="8712000" cy="432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6120" y="11530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Results of Imitation learning Generalization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Picture 3" descr=""/>
          <p:cNvPicPr/>
          <p:nvPr/>
        </p:nvPicPr>
        <p:blipFill>
          <a:blip r:embed="rId1"/>
          <a:stretch/>
        </p:blipFill>
        <p:spPr>
          <a:xfrm>
            <a:off x="1644840" y="2017080"/>
            <a:ext cx="9357480" cy="464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6120" y="11530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Results of Imitation learning Generalization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6120" y="2178720"/>
            <a:ext cx="113857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Generalization across time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Picture 2" descr=""/>
          <p:cNvPicPr/>
          <p:nvPr/>
        </p:nvPicPr>
        <p:blipFill>
          <a:blip r:embed="rId1"/>
          <a:stretch/>
        </p:blipFill>
        <p:spPr>
          <a:xfrm>
            <a:off x="2144520" y="2810520"/>
            <a:ext cx="8008920" cy="397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6120" y="11530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Results of Imitation learning Generalization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Picture 2" descr=""/>
          <p:cNvPicPr/>
          <p:nvPr/>
        </p:nvPicPr>
        <p:blipFill>
          <a:blip r:embed="rId1"/>
          <a:stretch/>
        </p:blipFill>
        <p:spPr>
          <a:xfrm>
            <a:off x="1771560" y="2146680"/>
            <a:ext cx="9104400" cy="451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6120" y="11530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Results of Imitation learning Generalization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6120" y="2178720"/>
            <a:ext cx="113857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Trajectory where A and ξ change mid-episode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Picture 3" descr=""/>
          <p:cNvPicPr/>
          <p:nvPr/>
        </p:nvPicPr>
        <p:blipFill>
          <a:blip r:embed="rId1"/>
          <a:stretch/>
        </p:blipFill>
        <p:spPr>
          <a:xfrm>
            <a:off x="2100600" y="2714040"/>
            <a:ext cx="8096400" cy="401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6120" y="11530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Results of Imitation learning Generalization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Picture 4" descr=""/>
          <p:cNvPicPr/>
          <p:nvPr/>
        </p:nvPicPr>
        <p:blipFill>
          <a:blip r:embed="rId1"/>
          <a:stretch/>
        </p:blipFill>
        <p:spPr>
          <a:xfrm>
            <a:off x="1963800" y="2341080"/>
            <a:ext cx="8719560" cy="432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6120" y="11530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Results of Imitation learning Generalization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Picture 3" descr=""/>
          <p:cNvPicPr/>
          <p:nvPr/>
        </p:nvPicPr>
        <p:blipFill>
          <a:blip r:embed="rId1"/>
          <a:stretch/>
        </p:blipFill>
        <p:spPr>
          <a:xfrm>
            <a:off x="1630800" y="2016360"/>
            <a:ext cx="9386280" cy="465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6120" y="11530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Results of Imitation learning Generalization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Picture 2" descr=""/>
          <p:cNvPicPr/>
          <p:nvPr/>
        </p:nvPicPr>
        <p:blipFill>
          <a:blip r:embed="rId1"/>
          <a:stretch/>
        </p:blipFill>
        <p:spPr>
          <a:xfrm>
            <a:off x="1828080" y="2138400"/>
            <a:ext cx="8991360" cy="446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6120" y="11530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Results of Imitation learning Generalization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Picture 3" descr=""/>
          <p:cNvPicPr/>
          <p:nvPr/>
        </p:nvPicPr>
        <p:blipFill>
          <a:blip r:embed="rId1"/>
          <a:stretch/>
        </p:blipFill>
        <p:spPr>
          <a:xfrm>
            <a:off x="1716480" y="2105280"/>
            <a:ext cx="9214920" cy="4571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6120" y="11530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Results of Imitation learning Generalization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Picture 2" descr=""/>
          <p:cNvPicPr/>
          <p:nvPr/>
        </p:nvPicPr>
        <p:blipFill>
          <a:blip r:embed="rId1"/>
          <a:stretch/>
        </p:blipFill>
        <p:spPr>
          <a:xfrm>
            <a:off x="1679040" y="2040120"/>
            <a:ext cx="9289440" cy="460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6120" y="11530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Google Sans Text"/>
                <a:ea typeface="Arial"/>
              </a:rPr>
              <a:t>Load Tracking Performance (Average across multiple testing runs)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4" name="Table 5"/>
          <p:cNvGraphicFramePr/>
          <p:nvPr/>
        </p:nvGraphicFramePr>
        <p:xfrm>
          <a:off x="838080" y="2995560"/>
          <a:ext cx="10515240" cy="1457280"/>
        </p:xfrm>
        <a:graphic>
          <a:graphicData uri="http://schemas.openxmlformats.org/drawingml/2006/table">
            <a:tbl>
              <a:tblPr/>
              <a:tblGrid>
                <a:gridCol w="3504960"/>
                <a:gridCol w="3504960"/>
                <a:gridCol w="3504960"/>
              </a:tblGrid>
              <a:tr h="0"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Metric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Policy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Optimizer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track_mean (m)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~0.03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~0.03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track_max (m)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~0.15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~0.15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Load Track MSE (m²)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~0.0035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~0.0035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358560" y="4698360"/>
            <a:ext cx="11385720" cy="53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Arial"/>
              </a:rPr>
              <a:t>Identical. Expected since the MLP does not touch the load tracking.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6120" y="11530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Drone Trajectory &amp; </a:t>
            </a:r>
            <a:r>
              <a:rPr b="1" lang="el-GR" sz="3600" spc="-1" strike="noStrike">
                <a:solidFill>
                  <a:schemeClr val="dk1"/>
                </a:solidFill>
                <a:latin typeface="Arial"/>
                <a:ea typeface="Arial"/>
              </a:rPr>
              <a:t>λ </a:t>
            </a: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Discrepancy vs. Optimizer Reference </a:t>
            </a:r>
            <a:r>
              <a:rPr b="1" lang="en-US" sz="3600" spc="-1" strike="noStrike">
                <a:solidFill>
                  <a:schemeClr val="dk1"/>
                </a:solidFill>
                <a:latin typeface="Google Sans Text"/>
                <a:ea typeface="Arial"/>
              </a:rPr>
              <a:t>(Average across multiple testing runs)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7" name="Table 2"/>
          <p:cNvGraphicFramePr/>
          <p:nvPr/>
        </p:nvGraphicFramePr>
        <p:xfrm>
          <a:off x="546480" y="2684160"/>
          <a:ext cx="10515240" cy="2185920"/>
        </p:xfrm>
        <a:graphic>
          <a:graphicData uri="http://schemas.openxmlformats.org/drawingml/2006/table">
            <a:tbl>
              <a:tblPr/>
              <a:tblGrid>
                <a:gridCol w="3504960"/>
                <a:gridCol w="3504960"/>
                <a:gridCol w="3504960"/>
              </a:tblGrid>
              <a:tr h="0"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Unit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Carrier Position MSE (m²)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Lambda MSE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Drone 1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~0.000183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~0.000507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Drone 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~0.000180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~0.000533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Drone 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~0.000180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~0.000507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Drone 4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~0.000183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~0.000533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ALL Drones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~0.000182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tIns="60840" bIns="6084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Google Sans Text"/>
                          <a:ea typeface="Arial"/>
                        </a:rPr>
                        <a:t>~0.000520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7200">
                      <a:solidFill>
                        <a:srgbClr val="c4c7c5"/>
                      </a:solidFill>
                      <a:prstDash val="solid"/>
                    </a:lnL>
                    <a:lnR w="7200">
                      <a:solidFill>
                        <a:srgbClr val="c4c7c5"/>
                      </a:solidFill>
                      <a:prstDash val="solid"/>
                    </a:lnR>
                    <a:lnT w="7200">
                      <a:solidFill>
                        <a:srgbClr val="c4c7c5"/>
                      </a:solidFill>
                      <a:prstDash val="solid"/>
                    </a:lnT>
                    <a:lnB w="7200">
                      <a:solidFill>
                        <a:srgbClr val="c4c7c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6120" y="11422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Residual MARL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6120" y="2178720"/>
            <a:ext cx="11385720" cy="452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Arial"/>
                <a:ea typeface="Arial"/>
              </a:rPr>
              <a:t>Action Space: </a:t>
            </a:r>
            <a:r>
              <a:rPr b="0" lang="el-GR" sz="2800" spc="-1" strike="noStrike">
                <a:solidFill>
                  <a:schemeClr val="dk1"/>
                </a:solidFill>
                <a:latin typeface="Arial"/>
                <a:ea typeface="Arial"/>
              </a:rPr>
              <a:t>δ</a:t>
            </a:r>
            <a:r>
              <a:rPr b="0" lang="en-US" sz="2800" spc="-1" strike="noStrike">
                <a:solidFill>
                  <a:schemeClr val="dk1"/>
                </a:solidFill>
                <a:latin typeface="Arial"/>
                <a:ea typeface="Arial"/>
              </a:rPr>
              <a:t>𝑓 ∈ R</a:t>
            </a:r>
            <a:r>
              <a:rPr b="0" lang="en-US" sz="2800" spc="-1" strike="noStrike" baseline="30000">
                <a:solidFill>
                  <a:schemeClr val="dk1"/>
                </a:solidFill>
                <a:latin typeface="Arial"/>
                <a:ea typeface="Arial"/>
              </a:rPr>
              <a:t>3n</a:t>
            </a:r>
            <a:r>
              <a:rPr b="0" lang="en-US" sz="28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Keep wrench controller and optimizer. Run decentralized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𝑓 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(𝑡) = 𝑓</a:t>
            </a:r>
            <a:r>
              <a:rPr b="0" lang="en-US" sz="2400" spc="-1" strike="noStrike" baseline="-25000">
                <a:solidFill>
                  <a:schemeClr val="dk1"/>
                </a:solidFill>
                <a:latin typeface="Arial"/>
                <a:ea typeface="Arial"/>
              </a:rPr>
              <a:t>𝑔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(𝑡)+ 𝑓</a:t>
            </a:r>
            <a:r>
              <a:rPr b="0" lang="en-US" sz="2400" spc="-1" strike="noStrike" baseline="-25000">
                <a:solidFill>
                  <a:schemeClr val="dk1"/>
                </a:solidFill>
                <a:latin typeface="Arial"/>
                <a:ea typeface="Arial"/>
              </a:rPr>
              <a:t>𝜆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(𝑡) + </a:t>
            </a:r>
            <a:r>
              <a:rPr b="0" lang="el-GR" sz="2400" spc="-1" strike="noStrike" u="sng">
                <a:solidFill>
                  <a:schemeClr val="dk1"/>
                </a:solidFill>
                <a:uFillTx/>
                <a:latin typeface="Arial"/>
                <a:ea typeface="Arial"/>
              </a:rPr>
              <a:t>δ</a:t>
            </a:r>
            <a:r>
              <a:rPr b="0" lang="en-US" sz="2400" spc="-1" strike="noStrike" u="sng">
                <a:solidFill>
                  <a:schemeClr val="dk1"/>
                </a:solidFill>
                <a:uFillTx/>
                <a:latin typeface="Arial"/>
                <a:ea typeface="Arial"/>
              </a:rPr>
              <a:t>𝑓(t)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72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Much better learning when decomposed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	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𝑓 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(𝑡) = G(t)</a:t>
            </a:r>
            <a:r>
              <a:rPr b="0" lang="en-US" sz="2400" spc="-1" strike="noStrike" baseline="30000">
                <a:solidFill>
                  <a:schemeClr val="dk1"/>
                </a:solidFill>
                <a:latin typeface="Arial"/>
                <a:ea typeface="Arial"/>
              </a:rPr>
              <a:t>† 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· (w</a:t>
            </a:r>
            <a:r>
              <a:rPr b="0" lang="en-US" sz="2400" spc="-1" strike="noStrike" baseline="-25000">
                <a:solidFill>
                  <a:schemeClr val="dk1"/>
                </a:solidFill>
                <a:latin typeface="Arial"/>
                <a:ea typeface="Arial"/>
              </a:rPr>
              <a:t>d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(t) + </a:t>
            </a:r>
            <a:r>
              <a:rPr b="0" lang="el-GR" sz="2400" spc="-1" strike="noStrike" u="sng">
                <a:solidFill>
                  <a:schemeClr val="dk1"/>
                </a:solidFill>
                <a:uFillTx/>
                <a:latin typeface="Arial"/>
                <a:ea typeface="Arial"/>
              </a:rPr>
              <a:t>δ</a:t>
            </a:r>
            <a:r>
              <a:rPr b="0" lang="en-US" sz="2400" spc="-1" strike="noStrike" u="sng">
                <a:solidFill>
                  <a:schemeClr val="dk1"/>
                </a:solidFill>
                <a:uFillTx/>
                <a:latin typeface="Arial"/>
                <a:ea typeface="Arial"/>
              </a:rPr>
              <a:t>w(t)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)  + N(t) · (</a:t>
            </a:r>
            <a:r>
              <a:rPr b="0" lang="el-GR" sz="2400" spc="-1" strike="noStrike">
                <a:solidFill>
                  <a:schemeClr val="dk1"/>
                </a:solidFill>
                <a:latin typeface="Arial"/>
                <a:ea typeface="Arial"/>
              </a:rPr>
              <a:t>λ(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t) + </a:t>
            </a:r>
            <a:r>
              <a:rPr b="0" lang="el-GR" sz="2400" spc="-1" strike="noStrike" u="sng">
                <a:solidFill>
                  <a:schemeClr val="dk1"/>
                </a:solidFill>
                <a:uFillTx/>
                <a:latin typeface="Arial"/>
                <a:ea typeface="Arial"/>
              </a:rPr>
              <a:t>δλ</a:t>
            </a:r>
            <a:r>
              <a:rPr b="0" lang="en-US" sz="2400" spc="-1" strike="noStrike" u="sng">
                <a:solidFill>
                  <a:schemeClr val="dk1"/>
                </a:solidFill>
                <a:uFillTx/>
                <a:latin typeface="Arial"/>
                <a:ea typeface="Arial"/>
              </a:rPr>
              <a:t>(t)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l-GR" sz="2400" spc="-1" strike="noStrike">
                <a:solidFill>
                  <a:schemeClr val="dk1"/>
                </a:solidFill>
                <a:latin typeface="Arial"/>
                <a:ea typeface="Arial"/>
              </a:rPr>
              <a:t>δ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w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∈ R</a:t>
            </a:r>
            <a:r>
              <a:rPr b="0" lang="en-US" sz="2400" spc="-1" strike="noStrike" baseline="30000">
                <a:solidFill>
                  <a:schemeClr val="dk1"/>
                </a:solidFill>
                <a:latin typeface="Arial"/>
                <a:ea typeface="Arial"/>
              </a:rPr>
              <a:t>6 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, </a:t>
            </a:r>
            <a:r>
              <a:rPr b="0" lang="el-GR" sz="2400" spc="-1" strike="noStrike">
                <a:solidFill>
                  <a:schemeClr val="dk1"/>
                </a:solidFill>
                <a:latin typeface="Arial"/>
                <a:ea typeface="Arial"/>
              </a:rPr>
              <a:t>δλ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∈ R</a:t>
            </a:r>
            <a:r>
              <a:rPr b="0" lang="en-US" sz="2400" spc="-1" strike="noStrike" baseline="30000">
                <a:solidFill>
                  <a:schemeClr val="dk1"/>
                </a:solidFill>
                <a:latin typeface="Arial"/>
                <a:ea typeface="Arial"/>
              </a:rPr>
              <a:t>n</a:t>
            </a:r>
            <a:r>
              <a:rPr b="0" lang="en-US" sz="24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6120" y="11422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Residual MARL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6120" y="2178720"/>
            <a:ext cx="11385720" cy="4520520"/>
          </a:xfrm>
          <a:prstGeom prst="rect">
            <a:avLst/>
          </a:prstGeom>
          <a:blipFill rotWithShape="0">
            <a:blip r:embed="rId1"/>
            <a:stretch>
              <a:fillRect l="-1233" t="-135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rial"/>
                <a:ea typeface="Arial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6120" y="11422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Residual MARL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6120" y="2013480"/>
            <a:ext cx="11385720" cy="48441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rial"/>
                <a:ea typeface="Arial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6120" y="11422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Residual MARL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6120" y="2013480"/>
            <a:ext cx="11385720" cy="4844160"/>
          </a:xfrm>
          <a:prstGeom prst="rect">
            <a:avLst/>
          </a:prstGeom>
          <a:blipFill rotWithShape="0">
            <a:blip r:embed="rId1"/>
            <a:stretch>
              <a:fillRect l="-1233" t="-1389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rial"/>
                <a:ea typeface="Arial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6120" y="11422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Residual MARL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6120" y="2013480"/>
            <a:ext cx="11385720" cy="4844160"/>
          </a:xfrm>
          <a:prstGeom prst="rect">
            <a:avLst/>
          </a:prstGeom>
          <a:blipFill rotWithShape="0">
            <a:blip r:embed="rId1"/>
            <a:stretch>
              <a:fillRect l="-1233" t="-126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rial"/>
                <a:ea typeface="Arial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6120" y="11422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Residual MARL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6120" y="1886760"/>
            <a:ext cx="11385720" cy="4970880"/>
          </a:xfrm>
          <a:prstGeom prst="rect">
            <a:avLst/>
          </a:prstGeom>
          <a:blipFill rotWithShape="0">
            <a:blip r:embed="rId1"/>
            <a:stretch>
              <a:fillRect l="-1233" t="-2455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Arial"/>
                <a:ea typeface="Arial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0" name="Table 4"/>
          <p:cNvGraphicFramePr/>
          <p:nvPr/>
        </p:nvGraphicFramePr>
        <p:xfrm>
          <a:off x="673200" y="2759400"/>
          <a:ext cx="10728360" cy="415692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3870360"/>
              </a:tblGrid>
              <a:tr h="369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dk1"/>
                          </a:solidFill>
                          <a:latin typeface="Calibri"/>
                          <a:ea typeface="Arial"/>
                        </a:rPr>
                        <a:t>Term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dk1"/>
                          </a:solidFill>
                          <a:latin typeface="Calibri"/>
                          <a:ea typeface="Arial"/>
                        </a:rPr>
                        <a:t>Expression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chemeClr val="dk1"/>
                          </a:solidFill>
                          <a:latin typeface="Calibri"/>
                          <a:ea typeface="Arial"/>
                        </a:rPr>
                        <a:t>Role</a:t>
                      </a:r>
                      <a:endParaRPr b="0" lang="en-US" sz="13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manifold (d</a:t>
                      </a:r>
                      <a:r>
                        <a:rPr b="1" lang="en-US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i</a:t>
                      </a:r>
                      <a:r>
                        <a:rPr b="1" lang="en-US" sz="1400" spc="-1" strike="noStrike" baseline="30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2</a:t>
                      </a:r>
                      <a:r>
                        <a:rPr b="1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‖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p</a:t>
                      </a:r>
                      <a:r>
                        <a:rPr b="0" lang="en-US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expert,i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(t) − p</a:t>
                      </a:r>
                      <a:r>
                        <a:rPr b="0" lang="en-US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i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(t)‖²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Stay on the expert loiter loop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. The goal is not to follow it exactly, but to learn the underlying orbiting behavior in general.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446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stall</a:t>
                      </a:r>
                      <a:r>
                        <a:rPr b="1" i="1" lang="en-US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i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Graced hinge below cruise floor: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d² + 1.0 · d, where d = max(0, (ε + margin) − ‖v</a:t>
                      </a:r>
                      <a:r>
                        <a:rPr b="0" lang="en-US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i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‖)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Fixed-wing stall floor (prevents airspeed drop)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9080">
                <a:tc>
                  <a:txBody>
                    <a:bodyPr anchor="t">
                      <a:noAutofit/>
                    </a:bodyPr>
                    <a:p>
                      <a:endParaRPr b="0" lang="en-US" sz="1400" spc="-1" strike="noStrike">
                        <a:solidFill>
                          <a:schemeClr val="dk1"/>
                        </a:solidFill>
                        <a:latin typeface="Arial"/>
                        <a:ea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blipFill rotWithShape="0">
                      <a:blip r:embed="rId2"/>
                      <a:stretch/>
                    </a:blip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‖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e</a:t>
                      </a:r>
                      <a:r>
                        <a:rPr b="0" lang="en-US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L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‖²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Keep the load on reference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738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overspeed</a:t>
                      </a:r>
                      <a:r>
                        <a:rPr b="1" lang="en-US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i</a:t>
                      </a:r>
                      <a:r>
                        <a:rPr b="1" lang="en-US" sz="1400" spc="-1" strike="noStrike" baseline="30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2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min(over² + 2 · over, 75)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where over = max(0.0, v</a:t>
                      </a:r>
                      <a:r>
                        <a:rPr b="0" lang="en-US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i 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− overspeed_v)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Prevent carrier from speeding up unnecessarily. Blowup guardrail. 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9446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overshoot</a:t>
                      </a:r>
                      <a:r>
                        <a:rPr b="1" lang="en-US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i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min(over</a:t>
                      </a:r>
                      <a:r>
                        <a:rPr b="0" lang="el-GR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λ,</a:t>
                      </a:r>
                      <a:r>
                        <a:rPr b="0" lang="en-US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i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² + over</a:t>
                      </a:r>
                      <a:r>
                        <a:rPr b="0" lang="el-GR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λ,</a:t>
                      </a:r>
                      <a:r>
                        <a:rPr b="0" lang="en-US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i 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,9)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where over</a:t>
                      </a:r>
                      <a:r>
                        <a:rPr b="0" lang="el-GR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λ,</a:t>
                      </a:r>
                      <a:r>
                        <a:rPr b="0" lang="en-US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i 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= max(0, sat</a:t>
                      </a:r>
                      <a:r>
                        <a:rPr b="0" lang="el-GR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λ,</a:t>
                      </a:r>
                      <a:r>
                        <a:rPr b="0" lang="en-US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i 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− 1)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and sat</a:t>
                      </a:r>
                      <a:r>
                        <a:rPr b="0" lang="el-GR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λ,</a:t>
                      </a:r>
                      <a:r>
                        <a:rPr b="0" lang="en-US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i 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= ‖</a:t>
                      </a:r>
                      <a:r>
                        <a:rPr b="0" lang="el-GR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δλ</a:t>
                      </a:r>
                      <a:r>
                        <a:rPr b="0" lang="en-US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i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‖₂ / (</a:t>
                      </a:r>
                      <a:r>
                        <a:rPr b="0" lang="el-GR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κ</a:t>
                      </a:r>
                      <a:r>
                        <a:rPr b="0" lang="el-GR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λ</a:t>
                      </a:r>
                      <a:r>
                        <a:rPr b="0" lang="el-GR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 · ‖λ</a:t>
                      </a:r>
                      <a:r>
                        <a:rPr b="0" lang="en-US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i,base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‖₂) 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l-GR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κ</a:t>
                      </a:r>
                      <a:r>
                        <a:rPr b="0" lang="el-GR" sz="1400" spc="-1" strike="noStrike" baseline="-25000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λ</a:t>
                      </a: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: the allowable fraction of the base controller magnitude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Calibri"/>
                          <a:ea typeface="Arial"/>
                        </a:rPr>
                        <a:t>Prevents the policy from taking actions above the allowed fraction of the base controller magnitude (dead gradient, no learning). The cap prevents the policy from taking overly aggressive actions.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6120" y="1142280"/>
            <a:ext cx="11735640" cy="1187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Arial"/>
                <a:ea typeface="Arial"/>
              </a:rPr>
              <a:t>Residual MARL: Some Results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Picture 1" descr=""/>
          <p:cNvPicPr/>
          <p:nvPr/>
        </p:nvPicPr>
        <p:blipFill>
          <a:blip r:embed="rId1"/>
          <a:stretch/>
        </p:blipFill>
        <p:spPr>
          <a:xfrm>
            <a:off x="5573880" y="1918080"/>
            <a:ext cx="6404400" cy="4803480"/>
          </a:xfrm>
          <a:prstGeom prst="rect">
            <a:avLst/>
          </a:prstGeom>
          <a:ln w="0">
            <a:noFill/>
          </a:ln>
        </p:spPr>
      </p:pic>
      <p:pic>
        <p:nvPicPr>
          <p:cNvPr id="133" name="Picture 2" descr=""/>
          <p:cNvPicPr/>
          <p:nvPr/>
        </p:nvPicPr>
        <p:blipFill>
          <a:blip r:embed="rId2"/>
          <a:stretch/>
        </p:blipFill>
        <p:spPr>
          <a:xfrm>
            <a:off x="0" y="2058120"/>
            <a:ext cx="5904360" cy="4371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icture 2" descr=""/>
          <p:cNvPicPr/>
          <p:nvPr/>
        </p:nvPicPr>
        <p:blipFill>
          <a:blip r:embed="rId1"/>
          <a:stretch/>
        </p:blipFill>
        <p:spPr>
          <a:xfrm>
            <a:off x="700560" y="1332720"/>
            <a:ext cx="10654560" cy="5285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1" descr=""/>
          <p:cNvPicPr/>
          <p:nvPr/>
        </p:nvPicPr>
        <p:blipFill>
          <a:blip r:embed="rId1"/>
          <a:stretch/>
        </p:blipFill>
        <p:spPr>
          <a:xfrm>
            <a:off x="428040" y="1238400"/>
            <a:ext cx="11327400" cy="5619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3" descr=""/>
          <p:cNvPicPr/>
          <p:nvPr/>
        </p:nvPicPr>
        <p:blipFill>
          <a:blip r:embed="rId1"/>
          <a:stretch/>
        </p:blipFill>
        <p:spPr>
          <a:xfrm>
            <a:off x="2286000" y="1178640"/>
            <a:ext cx="7827120" cy="6087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" descr=""/>
          <p:cNvPicPr/>
          <p:nvPr/>
        </p:nvPicPr>
        <p:blipFill>
          <a:blip r:embed="rId1"/>
          <a:stretch/>
        </p:blipFill>
        <p:spPr>
          <a:xfrm>
            <a:off x="5941800" y="1705680"/>
            <a:ext cx="6104160" cy="4578120"/>
          </a:xfrm>
          <a:prstGeom prst="rect">
            <a:avLst/>
          </a:prstGeom>
          <a:ln w="0">
            <a:noFill/>
          </a:ln>
        </p:spPr>
      </p:pic>
      <p:pic>
        <p:nvPicPr>
          <p:cNvPr id="138" name="Picture 3" descr=""/>
          <p:cNvPicPr/>
          <p:nvPr/>
        </p:nvPicPr>
        <p:blipFill>
          <a:blip r:embed="rId2"/>
          <a:stretch/>
        </p:blipFill>
        <p:spPr>
          <a:xfrm>
            <a:off x="0" y="1647720"/>
            <a:ext cx="6181200" cy="4635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Picture 4" descr=""/>
          <p:cNvPicPr/>
          <p:nvPr/>
        </p:nvPicPr>
        <p:blipFill>
          <a:blip r:embed="rId1"/>
          <a:stretch/>
        </p:blipFill>
        <p:spPr>
          <a:xfrm>
            <a:off x="680760" y="1332000"/>
            <a:ext cx="10518480" cy="521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2" descr=""/>
          <p:cNvPicPr/>
          <p:nvPr/>
        </p:nvPicPr>
        <p:blipFill>
          <a:blip r:embed="rId1"/>
          <a:stretch/>
        </p:blipFill>
        <p:spPr>
          <a:xfrm>
            <a:off x="680760" y="1427400"/>
            <a:ext cx="10946520" cy="543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838080" y="-13255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pc="-1" strike="noStrike">
                <a:solidFill>
                  <a:schemeClr val="dk1"/>
                </a:solidFill>
                <a:latin typeface="Arial"/>
                <a:ea typeface="Arial"/>
              </a:rPr>
              <a:t>Università degli Studi di Padova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18079</TotalTime>
  <Application>LibreOffice/24.2.7.2$Linux_X86_64 LibreOffice_project/420$Build-2</Application>
  <AppVersion>15.0000</AppVersion>
  <Words>1067</Words>
  <Paragraphs>224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2022-07-26T10:43:33Z</dcterms:created>
  <dc:creator>Bocchi Giuliano</dc:creator>
  <dc:description/>
  <dc:language>en-US</dc:language>
  <cp:lastModifiedBy/>
  <dcterms:modified xsi:type="dcterms:W3CDTF">2026-09-18T02:19:03Z</dcterms:modified>
  <cp:revision>109</cp:revision>
  <dc:subject/>
  <dc:title>Cooperative Transportation using fixed-wings drones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20</vt:i4>
  </property>
  <property fmtid="{D5CDD505-2E9C-101B-9397-08002B2CF9AE}" pid="3" name="PresentationFormat">
    <vt:lpwstr>Widescreen</vt:lpwstr>
  </property>
  <property fmtid="{D5CDD505-2E9C-101B-9397-08002B2CF9AE}" pid="4" name="Slides">
    <vt:i4>32</vt:i4>
  </property>
</Properties>
</file>