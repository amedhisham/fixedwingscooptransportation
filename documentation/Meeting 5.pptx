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34"/>
  </p:notesMasterIdLst>
  <p:sldIdLst>
    <p:sldId id="256" r:id="rId2"/>
    <p:sldId id="282" r:id="rId3"/>
    <p:sldId id="283" r:id="rId4"/>
    <p:sldId id="272" r:id="rId5"/>
    <p:sldId id="284" r:id="rId6"/>
    <p:sldId id="285" r:id="rId7"/>
    <p:sldId id="286" r:id="rId8"/>
    <p:sldId id="287" r:id="rId9"/>
    <p:sldId id="289" r:id="rId10"/>
    <p:sldId id="290" r:id="rId11"/>
    <p:sldId id="291" r:id="rId12"/>
    <p:sldId id="292" r:id="rId13"/>
    <p:sldId id="293" r:id="rId14"/>
    <p:sldId id="294" r:id="rId15"/>
    <p:sldId id="295" r:id="rId16"/>
    <p:sldId id="296" r:id="rId17"/>
    <p:sldId id="297" r:id="rId18"/>
    <p:sldId id="298" r:id="rId19"/>
    <p:sldId id="273" r:id="rId20"/>
    <p:sldId id="299" r:id="rId21"/>
    <p:sldId id="300" r:id="rId22"/>
    <p:sldId id="301" r:id="rId23"/>
    <p:sldId id="302" r:id="rId24"/>
    <p:sldId id="303" r:id="rId25"/>
    <p:sldId id="304" r:id="rId26"/>
    <p:sldId id="280" r:id="rId27"/>
    <p:sldId id="305" r:id="rId28"/>
    <p:sldId id="306" r:id="rId29"/>
    <p:sldId id="307" r:id="rId30"/>
    <p:sldId id="308" r:id="rId31"/>
    <p:sldId id="309" r:id="rId32"/>
    <p:sldId id="267" r:id="rId33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35" roundtripDataSignature="AMtx7mhe1wWgYMlsTmwPP8JtiEZSoLZ/A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B49EECCA-3B2E-439E-A9FE-AE0BB2C482AD}">
  <a:tblStyle styleId="{B49EECCA-3B2E-439E-A9FE-AE0BB2C482AD}" styleName="Table_0">
    <a:wholeTbl>
      <a:tcTxStyle b="off" i="off">
        <a:font>
          <a:latin typeface="Arial"/>
          <a:ea typeface="Arial"/>
          <a:cs typeface="Arial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BF5"/>
          </a:solidFill>
        </a:fill>
      </a:tcStyle>
    </a:wholeTbl>
    <a:band1H>
      <a:tcTxStyle/>
      <a:tcStyle>
        <a:tcBdr/>
        <a:fill>
          <a:solidFill>
            <a:srgbClr val="CDD4EA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DD4EA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Arial"/>
          <a:ea typeface="Arial"/>
          <a:cs typeface="Arial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Arial"/>
          <a:ea typeface="Arial"/>
          <a:cs typeface="Arial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Arial"/>
          <a:ea typeface="Arial"/>
          <a:cs typeface="Arial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Arial"/>
          <a:ea typeface="Arial"/>
          <a:cs typeface="Arial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87515" autoAdjust="0"/>
  </p:normalViewPr>
  <p:slideViewPr>
    <p:cSldViewPr snapToGrid="0">
      <p:cViewPr varScale="1">
        <p:scale>
          <a:sx n="78" d="100"/>
          <a:sy n="78" d="100"/>
        </p:scale>
        <p:origin x="821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customschemas.google.com/relationships/presentationmetadata" Target="metadata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4512521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4" name="Google Shape;94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" name="Google Shape;95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42482468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1" name="Google Shape;101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2" name="Google Shape;102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5875744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1" name="Google Shape;101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2" name="Google Shape;102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4308624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1" name="Google Shape;101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200" b="0" i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Preferire un carattere sans serif come Arial, Helvetica o Verdana. Font consigliabile da 30 a 40 pt.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it-IT" sz="1200" b="0" i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Allineare i testi a sinistra, non giustificarli. 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it-IT" sz="1200" b="0" i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Utilizzare non più di tre blocchi di informazione di massimo 2/3 righe ciascuno.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200" b="0" i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Per evidenziare titoli o parole chiave, prediligere l’uso del grassetto a corsivo o colori. </a:t>
            </a:r>
            <a:endParaRPr sz="1200" b="0" i="0" u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it-IT" sz="1200" b="0" i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Prediligere testo nero su sfondo bianco.</a:t>
            </a:r>
            <a:endParaRPr sz="1200" b="0" i="0" u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200" b="0" i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Evitare ombre, sfumature e gradazioni di grigio.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200" b="0" i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Secondo le linee guida sull’accessibilità, prestare attenzione ai contrasti tra i colori di sfondo e il testo.</a:t>
            </a:r>
            <a:endParaRPr/>
          </a:p>
        </p:txBody>
      </p:sp>
      <p:sp>
        <p:nvSpPr>
          <p:cNvPr id="102" name="Google Shape;102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30030404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7</a:t>
            </a:fld>
            <a:endParaRPr lang="it-IT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60247678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8</a:t>
            </a:fld>
            <a:endParaRPr lang="it-IT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11208386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1" name="Google Shape;101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2" name="Google Shape;102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19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76208983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1" name="Google Shape;101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2" name="Google Shape;102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20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28410631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1" name="Google Shape;101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2" name="Google Shape;102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21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3218789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1" name="Google Shape;101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200" b="0" i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Preferire un carattere sans serif come Arial, Helvetica o Verdana. Font consigliabile da 30 a 40 pt.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it-IT" sz="1200" b="0" i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Allineare i testi a sinistra, non giustificarli. 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it-IT" sz="1200" b="0" i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Utilizzare non più di tre blocchi di informazione di massimo 2/3 righe ciascuno.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200" b="0" i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Per evidenziare titoli o parole chiave, prediligere l’uso del grassetto a corsivo o colori. </a:t>
            </a:r>
            <a:endParaRPr sz="1200" b="0" i="0" u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it-IT" sz="1200" b="0" i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Prediligere testo nero su sfondo bianco.</a:t>
            </a:r>
            <a:endParaRPr sz="1200" b="0" i="0" u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200" b="0" i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Evitare ombre, sfumature e gradazioni di grigio.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200" b="0" i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Secondo le linee guida sull’accessibilità, prestare attenzione ai contrasti tra i colori di sfondo e il testo.</a:t>
            </a:r>
            <a:endParaRPr/>
          </a:p>
        </p:txBody>
      </p:sp>
      <p:sp>
        <p:nvSpPr>
          <p:cNvPr id="102" name="Google Shape;102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22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8178746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1" name="Google Shape;101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200" b="0" i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Preferire un carattere sans serif come Arial, Helvetica o Verdana. Font consigliabile da 30 a 40 pt.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it-IT" sz="1200" b="0" i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Allineare i testi a sinistra, non giustificarli. 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it-IT" sz="1200" b="0" i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Utilizzare non più di tre blocchi di informazione di massimo 2/3 righe ciascuno.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200" b="0" i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Per evidenziare titoli o parole chiave, prediligere l’uso del grassetto a corsivo o colori. </a:t>
            </a:r>
            <a:endParaRPr sz="1200" b="0" i="0" u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it-IT" sz="1200" b="0" i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Prediligere testo nero su sfondo bianco.</a:t>
            </a:r>
            <a:endParaRPr sz="1200" b="0" i="0" u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200" b="0" i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Evitare ombre, sfumature e gradazioni di grigio.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200" b="0" i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Secondo le linee guida sull’accessibilità, prestare attenzione ai contrasti tra i colori di sfondo e il testo.</a:t>
            </a:r>
            <a:endParaRPr/>
          </a:p>
        </p:txBody>
      </p:sp>
      <p:sp>
        <p:nvSpPr>
          <p:cNvPr id="102" name="Google Shape;102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23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84448289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1" name="Google Shape;101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200" b="0" i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Preferire un carattere sans serif come Arial, Helvetica o Verdana. Font consigliabile da 30 a 40 pt.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it-IT" sz="1200" b="0" i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Allineare i testi a sinistra, non giustificarli. 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it-IT" sz="1200" b="0" i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Utilizzare non più di tre blocchi di informazione di massimo 2/3 righe ciascuno.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200" b="0" i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Per evidenziare titoli o parole chiave, prediligere l’uso del grassetto a corsivo o colori. </a:t>
            </a:r>
            <a:endParaRPr sz="1200" b="0" i="0" u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it-IT" sz="1200" b="0" i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Prediligere testo nero su sfondo bianco.</a:t>
            </a:r>
            <a:endParaRPr sz="1200" b="0" i="0" u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200" b="0" i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Evitare ombre, sfumature e gradazioni di grigio.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200" b="0" i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Secondo le linee guida sull’accessibilità, prestare attenzione ai contrasti tra i colori di sfondo e il testo.</a:t>
            </a:r>
            <a:endParaRPr/>
          </a:p>
        </p:txBody>
      </p:sp>
      <p:sp>
        <p:nvSpPr>
          <p:cNvPr id="102" name="Google Shape;102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24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40566514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1" name="Google Shape;101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200" b="0" i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Preferire un carattere sans serif come Arial, Helvetica o Verdana. Font consigliabile da 30 a 40 pt.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it-IT" sz="1200" b="0" i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Allineare i testi a sinistra, non giustificarli. 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it-IT" sz="1200" b="0" i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Utilizzare non più di tre blocchi di informazione di massimo 2/3 righe ciascuno.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200" b="0" i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Per evidenziare titoli o parole chiave, prediligere l’uso del grassetto a corsivo o colori. </a:t>
            </a:r>
            <a:endParaRPr sz="1200" b="0" i="0" u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it-IT" sz="1200" b="0" i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Prediligere testo nero su sfondo bianco.</a:t>
            </a:r>
            <a:endParaRPr sz="1200" b="0" i="0" u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200" b="0" i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Evitare ombre, sfumature e gradazioni di grigio.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200" b="0" i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Secondo le linee guida sull’accessibilità, prestare attenzione ai contrasti tra i colori di sfondo e il testo.</a:t>
            </a:r>
            <a:endParaRPr/>
          </a:p>
        </p:txBody>
      </p:sp>
      <p:sp>
        <p:nvSpPr>
          <p:cNvPr id="102" name="Google Shape;102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70184936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1" name="Google Shape;101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2" name="Google Shape;102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26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76080857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1" name="Google Shape;101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2" name="Google Shape;102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27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37951152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1" name="Google Shape;101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2" name="Google Shape;102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28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64281380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1" name="Google Shape;101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2" name="Google Shape;102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29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04566184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1" name="Google Shape;101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2" name="Google Shape;102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30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33621710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1" name="Google Shape;101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2" name="Google Shape;102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31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76211640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6" name="Google Shape;176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7" name="Google Shape;177;p1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32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10953191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Titolo e testo verticale">
  <p:cSld name="2_Titolo e testo vertica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6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AA0004"/>
          </a:solidFill>
          <a:ln>
            <a:noFill/>
          </a:ln>
        </p:spPr>
        <p:txBody>
          <a:bodyPr spcFirstLastPara="1" wrap="square" lIns="91425" tIns="45700" rIns="360000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4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endParaRPr/>
          </a:p>
        </p:txBody>
      </p:sp>
      <p:pic>
        <p:nvPicPr>
          <p:cNvPr id="17" name="Google Shape;17;p1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741397" y="1159933"/>
            <a:ext cx="4709206" cy="2105037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18;p16"/>
          <p:cNvSpPr txBox="1">
            <a:spLocks noGrp="1"/>
          </p:cNvSpPr>
          <p:nvPr>
            <p:ph type="ctrTitle"/>
          </p:nvPr>
        </p:nvSpPr>
        <p:spPr>
          <a:xfrm>
            <a:off x="1547593" y="3285951"/>
            <a:ext cx="9096815" cy="12903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Arial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16"/>
          <p:cNvSpPr txBox="1">
            <a:spLocks noGrp="1"/>
          </p:cNvSpPr>
          <p:nvPr>
            <p:ph type="body" idx="1"/>
          </p:nvPr>
        </p:nvSpPr>
        <p:spPr>
          <a:xfrm>
            <a:off x="2935526" y="4741032"/>
            <a:ext cx="6320949" cy="7580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Titolo e testo verticale">
  <p:cSld name="3_Titolo e testo verticale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17"/>
          <p:cNvSpPr/>
          <p:nvPr/>
        </p:nvSpPr>
        <p:spPr>
          <a:xfrm>
            <a:off x="-1" y="0"/>
            <a:ext cx="12192001" cy="1138767"/>
          </a:xfrm>
          <a:prstGeom prst="rect">
            <a:avLst/>
          </a:prstGeom>
          <a:solidFill>
            <a:srgbClr val="AA0004"/>
          </a:solidFill>
          <a:ln>
            <a:noFill/>
          </a:ln>
        </p:spPr>
        <p:txBody>
          <a:bodyPr spcFirstLastPara="1" wrap="square" lIns="72000" tIns="45700" rIns="360000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sz="2400" b="1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" name="Google Shape;22;p17"/>
          <p:cNvSpPr txBox="1">
            <a:spLocks noGrp="1"/>
          </p:cNvSpPr>
          <p:nvPr>
            <p:ph type="title"/>
          </p:nvPr>
        </p:nvSpPr>
        <p:spPr>
          <a:xfrm>
            <a:off x="456000" y="1153221"/>
            <a:ext cx="11736000" cy="11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sz="3600" b="1"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17"/>
          <p:cNvSpPr txBox="1">
            <a:spLocks noGrp="1"/>
          </p:cNvSpPr>
          <p:nvPr>
            <p:ph type="body" idx="1"/>
          </p:nvPr>
        </p:nvSpPr>
        <p:spPr>
          <a:xfrm>
            <a:off x="6179127" y="2592996"/>
            <a:ext cx="5663346" cy="38595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17"/>
          <p:cNvSpPr txBox="1">
            <a:spLocks noGrp="1"/>
          </p:cNvSpPr>
          <p:nvPr>
            <p:ph type="body" idx="2"/>
          </p:nvPr>
        </p:nvSpPr>
        <p:spPr>
          <a:xfrm>
            <a:off x="1215640" y="2592996"/>
            <a:ext cx="3781233" cy="17942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5" name="Google Shape;25;p17"/>
          <p:cNvSpPr txBox="1">
            <a:spLocks noGrp="1"/>
          </p:cNvSpPr>
          <p:nvPr>
            <p:ph type="body" idx="3"/>
          </p:nvPr>
        </p:nvSpPr>
        <p:spPr>
          <a:xfrm>
            <a:off x="1215640" y="4777396"/>
            <a:ext cx="3781234" cy="17942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pic>
        <p:nvPicPr>
          <p:cNvPr id="26" name="Google Shape;26;p1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56000" y="147563"/>
            <a:ext cx="1885998" cy="8430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olo e testo verticale">
  <p:cSld name="Titolo e testo verticale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AA0004"/>
          </a:solidFill>
          <a:ln>
            <a:noFill/>
          </a:ln>
        </p:spPr>
        <p:txBody>
          <a:bodyPr spcFirstLastPara="1" wrap="square" lIns="91425" tIns="45700" rIns="360000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sz="2400" b="1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9" name="Google Shape;29;p18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01098" y="2269067"/>
            <a:ext cx="5189805" cy="231986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positiva titolo" type="title">
  <p:cSld name="TITLE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19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19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33" name="Google Shape;33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olo e contenuto" type="obj">
  <p:cSld name="OBJEC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2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20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9" name="Google Shape;39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2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ntestazione sezione" type="secHead">
  <p:cSld name="SECTION_HEADER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21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21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45" name="Google Shape;45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ue contenuti" type="twoObj">
  <p:cSld name="TWO_OBJECTS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22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0" name="Google Shape;50;p22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1" name="Google Shape;51;p22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2" name="Google Shape;52;p2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2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2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fronto" type="twoTxTwoObj">
  <p:cSld name="TWO_OBJECTS_WITH_TEXT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3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23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8" name="Google Shape;58;p23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9" name="Google Shape;59;p23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60" name="Google Shape;60;p23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1" name="Google Shape;61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olo titolo" type="titleOnly">
  <p:cSld name="TITLE_ONLY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2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uota" type="blank">
  <p:cSld name="BLANK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uto con didascalia" type="objTx">
  <p:cSld name="OBJECT_WITH_CAPTION_TEXT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26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5" name="Google Shape;75;p26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76" name="Google Shape;76;p26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77" name="Google Shape;77;p2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2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2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magine con didascalia" type="picTx">
  <p:cSld name="PICTURE_WITH_CAPTION_TEXT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7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27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83" name="Google Shape;83;p27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84" name="Google Shape;84;p2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5" name="Google Shape;85;p2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6" name="Google Shape;86;p2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Layout personalizzato">
  <p:cSld name="Layout personalizzato"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2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9" name="Google Shape;89;p2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0" name="Google Shape;90;p2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1" name="Google Shape;91;p2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/>
              <a:buNone/>
              <a:defRPr sz="4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1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" name="Google Shape;12;p1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3" name="Google Shape;13;p1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4" name="Google Shape;14;p1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"/>
          <p:cNvSpPr txBox="1">
            <a:spLocks noGrp="1"/>
          </p:cNvSpPr>
          <p:nvPr>
            <p:ph type="ctrTitle"/>
          </p:nvPr>
        </p:nvSpPr>
        <p:spPr>
          <a:xfrm>
            <a:off x="1547591" y="3665329"/>
            <a:ext cx="9096815" cy="12903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lvl="0" algn="ctr"/>
            <a:r>
              <a:rPr lang="en-US" b="1" dirty="0" smtClean="0"/>
              <a:t>Learning Cooperative Transportation using fixed-wings drones</a:t>
            </a:r>
            <a:endParaRPr dirty="0"/>
          </a:p>
        </p:txBody>
      </p:sp>
      <p:sp>
        <p:nvSpPr>
          <p:cNvPr id="98" name="Google Shape;98;p1"/>
          <p:cNvSpPr txBox="1">
            <a:spLocks noGrp="1"/>
          </p:cNvSpPr>
          <p:nvPr>
            <p:ph type="body" idx="1"/>
          </p:nvPr>
        </p:nvSpPr>
        <p:spPr>
          <a:xfrm>
            <a:off x="2935525" y="5295508"/>
            <a:ext cx="6320949" cy="7580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</a:pPr>
            <a:r>
              <a:rPr lang="en-US" sz="3200" dirty="0" smtClean="0"/>
              <a:t>Meeting 5</a:t>
            </a:r>
            <a:endParaRPr sz="32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"/>
          <p:cNvSpPr txBox="1">
            <a:spLocks noGrp="1"/>
          </p:cNvSpPr>
          <p:nvPr>
            <p:ph type="title"/>
          </p:nvPr>
        </p:nvSpPr>
        <p:spPr>
          <a:xfrm>
            <a:off x="456000" y="1142356"/>
            <a:ext cx="11736000" cy="11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</a:pPr>
            <a:r>
              <a:rPr lang="en-US" dirty="0" smtClean="0"/>
              <a:t>Updates:</a:t>
            </a:r>
            <a:r>
              <a:rPr lang="ar-EG" dirty="0"/>
              <a:t/>
            </a:r>
            <a:br>
              <a:rPr lang="ar-EG" dirty="0"/>
            </a:br>
            <a:r>
              <a:rPr lang="en-US" dirty="0" smtClean="0"/>
              <a:t>Imitation Learning Generalization: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5" name="Google Shape;105;p2"/>
              <p:cNvSpPr txBox="1">
                <a:spLocks noGrp="1"/>
              </p:cNvSpPr>
              <p:nvPr>
                <p:ph type="body" idx="4294967295"/>
              </p:nvPr>
            </p:nvSpPr>
            <p:spPr>
              <a:xfrm>
                <a:off x="455999" y="2178768"/>
                <a:ext cx="11385933" cy="45207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indent="-457200">
                  <a:buSzPts val="3200"/>
                </a:pPr>
                <a:r>
                  <a:rPr lang="en-US" sz="2000" dirty="0" smtClean="0"/>
                  <a:t>Action Space: </a:t>
                </a:r>
                <a:r>
                  <a:rPr lang="el-GR" sz="2000" dirty="0"/>
                  <a:t>λ ∈ </a:t>
                </a:r>
                <a:r>
                  <a:rPr lang="en-US" sz="2000" dirty="0" err="1" smtClean="0"/>
                  <a:t>R</a:t>
                </a:r>
                <a:r>
                  <a:rPr lang="en-US" sz="2000" baseline="30000" dirty="0" err="1" smtClean="0"/>
                  <a:t>n</a:t>
                </a:r>
                <a:endParaRPr lang="en-US" sz="2000" baseline="30000" dirty="0" smtClean="0"/>
              </a:p>
              <a:p>
                <a:pPr lvl="1" indent="-457200">
                  <a:buSzPts val="3200"/>
                </a:pPr>
                <a:r>
                  <a:rPr lang="en-US" sz="2000" dirty="0" smtClean="0"/>
                  <a:t>Keep wrench controller and </a:t>
                </a:r>
                <a:r>
                  <a:rPr lang="en-US" sz="2000" dirty="0" err="1" smtClean="0"/>
                  <a:t>nullspace</a:t>
                </a:r>
                <a:r>
                  <a:rPr lang="en-US" sz="2000" dirty="0" smtClean="0"/>
                  <a:t> matrix. Run decentralized</a:t>
                </a:r>
              </a:p>
              <a:p>
                <a:pPr marL="457200" lvl="1" indent="0">
                  <a:buSzPts val="3200"/>
                  <a:buNone/>
                </a:pPr>
                <a:r>
                  <a:rPr lang="en-US" sz="2000" dirty="0" smtClean="0"/>
                  <a:t>				𝑓 </a:t>
                </a:r>
                <a:r>
                  <a:rPr lang="en-US" sz="2000" dirty="0"/>
                  <a:t>(𝑡) = 𝑓</a:t>
                </a:r>
                <a:r>
                  <a:rPr lang="en-US" sz="2000" baseline="-25000" dirty="0"/>
                  <a:t>𝑔</a:t>
                </a:r>
                <a:r>
                  <a:rPr lang="en-US" sz="2000" dirty="0"/>
                  <a:t>(𝑡)+ </a:t>
                </a:r>
                <a:r>
                  <a:rPr lang="en-US" sz="2000" u="sng" dirty="0"/>
                  <a:t>𝑓</a:t>
                </a:r>
                <a:r>
                  <a:rPr lang="en-US" sz="2000" u="sng" baseline="-25000" dirty="0"/>
                  <a:t>𝜆</a:t>
                </a:r>
                <a:r>
                  <a:rPr lang="en-US" sz="2000" u="sng" dirty="0"/>
                  <a:t>(𝑡</a:t>
                </a:r>
                <a:r>
                  <a:rPr lang="en-US" sz="2000" u="sng" dirty="0" smtClean="0"/>
                  <a:t>),</a:t>
                </a:r>
              </a:p>
              <a:p>
                <a:pPr marL="457200" lvl="1" indent="0">
                  <a:buSzPts val="3200"/>
                  <a:buNone/>
                </a:pPr>
                <a:r>
                  <a:rPr lang="en-US" sz="2000" dirty="0"/>
                  <a:t>𝑓</a:t>
                </a:r>
                <a:r>
                  <a:rPr lang="en-US" sz="2000" baseline="-25000" dirty="0"/>
                  <a:t>𝜆</a:t>
                </a:r>
                <a:r>
                  <a:rPr lang="en-US" sz="2000" dirty="0"/>
                  <a:t>(𝑡)</a:t>
                </a:r>
                <a:r>
                  <a:rPr lang="en-US" sz="2000" dirty="0" smtClean="0"/>
                  <a:t>= </a:t>
                </a:r>
                <a:r>
                  <a:rPr lang="en-US" sz="2000" dirty="0"/>
                  <a:t>N(</a:t>
                </a:r>
                <a:r>
                  <a:rPr lang="en-US" sz="2000" dirty="0" err="1"/>
                  <a:t>H,t</a:t>
                </a:r>
                <a:r>
                  <a:rPr lang="en-US" sz="2000" dirty="0"/>
                  <a:t>) · </a:t>
                </a:r>
                <a:r>
                  <a:rPr lang="el-GR" sz="2000" u="sng" dirty="0"/>
                  <a:t>λ(</a:t>
                </a:r>
                <a:r>
                  <a:rPr lang="en-US" sz="2000" u="sng" dirty="0"/>
                  <a:t>t</a:t>
                </a:r>
                <a:r>
                  <a:rPr lang="en-US" sz="2000" u="sng" dirty="0" smtClean="0"/>
                  <a:t>)</a:t>
                </a:r>
              </a:p>
              <a:p>
                <a:pPr marL="457200" lvl="1" indent="0">
                  <a:buSzPts val="3200"/>
                  <a:buNone/>
                </a:pPr>
                <a:endParaRPr lang="en-US" sz="2000" u="sng" dirty="0" smtClean="0"/>
              </a:p>
              <a:p>
                <a:pPr indent="-457200">
                  <a:buSzPts val="3200"/>
                </a:pPr>
                <a:r>
                  <a:rPr lang="en-US" sz="2000" dirty="0" smtClean="0"/>
                  <a:t>Observation Space: </a:t>
                </a:r>
              </a:p>
              <a:p>
                <a:pPr lvl="1" indent="-457200">
                  <a:buSzPts val="3200"/>
                </a:pPr>
                <a:r>
                  <a:rPr lang="en-US" sz="2000" dirty="0" smtClean="0"/>
                  <a:t>Fourier time embedding/features</a:t>
                </a:r>
              </a:p>
              <a:p>
                <a:pPr marL="914400" lvl="2" indent="0">
                  <a:buSzPts val="3200"/>
                  <a:buNone/>
                </a:pPr>
                <a:r>
                  <a:rPr lang="en-US" dirty="0" smtClean="0"/>
                  <a:t>	ϕ(t)  = [sin(ω</a:t>
                </a:r>
                <a:r>
                  <a:rPr lang="en-US" baseline="-25000" dirty="0" smtClean="0"/>
                  <a:t>1</a:t>
                </a:r>
                <a:r>
                  <a:rPr lang="en-US" dirty="0" smtClean="0"/>
                  <a:t>​t),</a:t>
                </a:r>
                <a:r>
                  <a:rPr lang="en-US" dirty="0" err="1" smtClean="0"/>
                  <a:t>cos</a:t>
                </a:r>
                <a:r>
                  <a:rPr lang="en-US" dirty="0" smtClean="0"/>
                  <a:t>(ω</a:t>
                </a:r>
                <a:r>
                  <a:rPr lang="en-US" baseline="-25000" dirty="0" smtClean="0"/>
                  <a:t>1</a:t>
                </a:r>
                <a:r>
                  <a:rPr lang="en-US" dirty="0" smtClean="0"/>
                  <a:t>​t),sin(ω</a:t>
                </a:r>
                <a:r>
                  <a:rPr lang="en-US" baseline="-25000" dirty="0" smtClean="0"/>
                  <a:t>2</a:t>
                </a:r>
                <a:r>
                  <a:rPr lang="en-US" dirty="0" smtClean="0"/>
                  <a:t>​t),</a:t>
                </a:r>
                <a:r>
                  <a:rPr lang="en-US" dirty="0" err="1" smtClean="0"/>
                  <a:t>cos</a:t>
                </a:r>
                <a:r>
                  <a:rPr lang="en-US" dirty="0" smtClean="0"/>
                  <a:t>(ω</a:t>
                </a:r>
                <a:r>
                  <a:rPr lang="en-US" baseline="-25000" dirty="0" smtClean="0"/>
                  <a:t>2​</a:t>
                </a:r>
                <a:r>
                  <a:rPr lang="en-US" dirty="0" smtClean="0"/>
                  <a:t>t),… sin(</a:t>
                </a:r>
                <a:r>
                  <a:rPr lang="en-US" dirty="0" err="1" smtClean="0"/>
                  <a:t>ω</a:t>
                </a:r>
                <a:r>
                  <a:rPr lang="en-US" baseline="-25000" dirty="0" err="1" smtClean="0"/>
                  <a:t>k</a:t>
                </a:r>
                <a:r>
                  <a:rPr lang="en-US" dirty="0" err="1" smtClean="0"/>
                  <a:t>t</a:t>
                </a:r>
                <a:r>
                  <a:rPr lang="en-US" dirty="0" smtClean="0"/>
                  <a:t>), </a:t>
                </a:r>
                <a:r>
                  <a:rPr lang="en-US" dirty="0" err="1" smtClean="0"/>
                  <a:t>cos</a:t>
                </a:r>
                <a:r>
                  <a:rPr lang="en-US" dirty="0" smtClean="0"/>
                  <a:t>(</a:t>
                </a:r>
                <a:r>
                  <a:rPr lang="en-US" dirty="0" err="1" smtClean="0"/>
                  <a:t>ω</a:t>
                </a:r>
                <a:r>
                  <a:rPr lang="en-US" baseline="-25000" dirty="0" err="1" smtClean="0"/>
                  <a:t>k</a:t>
                </a:r>
                <a:r>
                  <a:rPr lang="en-US" dirty="0" err="1" smtClean="0"/>
                  <a:t>t</a:t>
                </a:r>
                <a:r>
                  <a:rPr lang="en-US" dirty="0" smtClean="0"/>
                  <a:t>)]</a:t>
                </a:r>
              </a:p>
              <a:p>
                <a:pPr lvl="1" indent="-457200">
                  <a:buSzPts val="3200"/>
                </a:pPr>
                <a:r>
                  <a:rPr lang="en-US" sz="2000" dirty="0" smtClean="0"/>
                  <a:t>Reconstructed carrier velocities</a:t>
                </a:r>
              </a:p>
              <a:p>
                <a:pPr marL="1371600" lvl="3" indent="0">
                  <a:buSzPts val="3200"/>
                  <a:buNone/>
                </a:pPr>
                <a:r>
                  <a:rPr lang="en-US" sz="2000" dirty="0"/>
                  <a:t>	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sz="2000"/>
                      <m:t>p</m:t>
                    </m:r>
                    <m:r>
                      <m:rPr>
                        <m:nor/>
                      </m:rPr>
                      <a:rPr lang="en-US" sz="2000"/>
                      <m:t>̇</m:t>
                    </m:r>
                    <m:r>
                      <m:rPr>
                        <m:nor/>
                      </m:rPr>
                      <a:rPr lang="en-US" sz="2000" baseline="-25000" smtClean="0"/>
                      <m:t>Ri</m:t>
                    </m:r>
                    <m:r>
                      <m:rPr>
                        <m:nor/>
                      </m:rPr>
                      <a:rPr lang="en-US" sz="2000" smtClean="0"/>
                      <m:t>(</m:t>
                    </m:r>
                    <m:r>
                      <m:rPr>
                        <m:nor/>
                      </m:rPr>
                      <a:rPr lang="en-US" sz="2000"/>
                      <m:t>t</m:t>
                    </m:r>
                    <m:r>
                      <m:rPr>
                        <m:nor/>
                      </m:rPr>
                      <a:rPr lang="en-US" sz="2000"/>
                      <m:t>), </m:t>
                    </m:r>
                    <m:r>
                      <m:rPr>
                        <m:nor/>
                      </m:rPr>
                      <a:rPr lang="en-US" sz="2000"/>
                      <m:t>i</m:t>
                    </m:r>
                    <m:r>
                      <m:rPr>
                        <m:nor/>
                      </m:rPr>
                      <a:rPr lang="en-US" sz="2000"/>
                      <m:t>=</m:t>
                    </m:r>
                    <m:r>
                      <m:rPr>
                        <m:nor/>
                      </m:rPr>
                      <a:rPr lang="en-US" sz="2000"/>
                      <m:t>1,2,3,4</m:t>
                    </m:r>
                  </m:oMath>
                </a14:m>
                <a:endParaRPr lang="en-US" sz="2000" dirty="0" smtClean="0"/>
              </a:p>
              <a:p>
                <a:pPr lvl="1" indent="-457200">
                  <a:buSzPts val="3200"/>
                </a:pPr>
                <a:r>
                  <a:rPr lang="en-US" sz="2000" dirty="0"/>
                  <a:t>L</a:t>
                </a:r>
                <a:r>
                  <a:rPr lang="en-US" sz="2000" dirty="0" smtClean="0"/>
                  <a:t>og-spaced point taps (λ at lags 1, 2, 4, 8, 16, 32, 64, 128, 192, 256 steps)]</a:t>
                </a:r>
                <a:endParaRPr lang="ar-EG" sz="2000" dirty="0"/>
              </a:p>
              <a:p>
                <a:pPr marL="1371600" lvl="3" indent="0">
                  <a:buSzPts val="3200"/>
                  <a:buNone/>
                </a:pPr>
                <a:r>
                  <a:rPr lang="en-US" sz="2000" dirty="0"/>
                  <a:t>	</a:t>
                </a:r>
                <a:r>
                  <a:rPr lang="en-US" sz="2000" dirty="0" smtClean="0"/>
                  <a:t>[</a:t>
                </a:r>
                <a:r>
                  <a:rPr lang="el-GR" sz="2000" dirty="0" smtClean="0"/>
                  <a:t>λ(</a:t>
                </a:r>
                <a:r>
                  <a:rPr lang="en-US" sz="2000" dirty="0" smtClean="0"/>
                  <a:t>t-1), </a:t>
                </a:r>
                <a:r>
                  <a:rPr lang="el-GR" sz="2000" dirty="0"/>
                  <a:t>λ(</a:t>
                </a:r>
                <a:r>
                  <a:rPr lang="en-US" sz="2000" dirty="0" smtClean="0"/>
                  <a:t>t-2), </a:t>
                </a:r>
                <a:r>
                  <a:rPr lang="el-GR" sz="2000" dirty="0"/>
                  <a:t>λ(</a:t>
                </a:r>
                <a:r>
                  <a:rPr lang="en-US" sz="2000" dirty="0" smtClean="0"/>
                  <a:t>t-4), </a:t>
                </a:r>
                <a:r>
                  <a:rPr lang="el-GR" sz="2000" dirty="0"/>
                  <a:t>λ(</a:t>
                </a:r>
                <a:r>
                  <a:rPr lang="en-US" sz="2000" dirty="0" smtClean="0"/>
                  <a:t>t-8), </a:t>
                </a:r>
                <a:r>
                  <a:rPr lang="el-GR" sz="2000" dirty="0"/>
                  <a:t>λ(</a:t>
                </a:r>
                <a:r>
                  <a:rPr lang="en-US" sz="2000" dirty="0" smtClean="0"/>
                  <a:t>t-16), </a:t>
                </a:r>
                <a:r>
                  <a:rPr lang="el-GR" sz="2000" dirty="0"/>
                  <a:t>λ(</a:t>
                </a:r>
                <a:r>
                  <a:rPr lang="en-US" sz="2000" dirty="0" smtClean="0"/>
                  <a:t>t-32), </a:t>
                </a:r>
                <a:r>
                  <a:rPr lang="el-GR" sz="2000" dirty="0"/>
                  <a:t>λ(</a:t>
                </a:r>
                <a:r>
                  <a:rPr lang="en-US" sz="2000" dirty="0" smtClean="0"/>
                  <a:t>t-64), </a:t>
                </a:r>
                <a:r>
                  <a:rPr lang="el-GR" sz="2000" dirty="0"/>
                  <a:t>λ(</a:t>
                </a:r>
                <a:r>
                  <a:rPr lang="en-US" sz="2000" dirty="0" smtClean="0"/>
                  <a:t>t-128), </a:t>
                </a:r>
                <a:r>
                  <a:rPr lang="el-GR" sz="2000" dirty="0"/>
                  <a:t>λ(</a:t>
                </a:r>
                <a:r>
                  <a:rPr lang="en-US" sz="2000" dirty="0" smtClean="0"/>
                  <a:t>t-192),</a:t>
                </a:r>
                <a:r>
                  <a:rPr lang="el-GR" sz="2000" dirty="0"/>
                  <a:t> λ(</a:t>
                </a:r>
                <a:r>
                  <a:rPr lang="en-US" sz="2000" dirty="0" smtClean="0"/>
                  <a:t>t-256)] </a:t>
                </a:r>
                <a:endParaRPr lang="en-US" sz="2000" dirty="0"/>
              </a:p>
              <a:p>
                <a:pPr marL="0" indent="0">
                  <a:buSzPts val="3200"/>
                  <a:buNone/>
                </a:pPr>
                <a:r>
                  <a:rPr lang="en-US" sz="2000" dirty="0" smtClean="0"/>
                  <a:t> </a:t>
                </a:r>
              </a:p>
            </p:txBody>
          </p:sp>
        </mc:Choice>
        <mc:Fallback xmlns="">
          <p:sp>
            <p:nvSpPr>
              <p:cNvPr id="105" name="Google Shape;105;p2"/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4294967295"/>
              </p:nvPr>
            </p:nvSpPr>
            <p:spPr>
              <a:xfrm>
                <a:off x="455999" y="2178768"/>
                <a:ext cx="11385933" cy="4520796"/>
              </a:xfrm>
              <a:prstGeom prst="rect">
                <a:avLst/>
              </a:prstGeom>
              <a:blipFill rotWithShape="0">
                <a:blip r:embed="rId3"/>
                <a:stretch>
                  <a:fillRect l="-1231" t="-2156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143920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3305" y="1413163"/>
            <a:ext cx="10368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385732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"/>
          <p:cNvSpPr txBox="1">
            <a:spLocks noGrp="1"/>
          </p:cNvSpPr>
          <p:nvPr>
            <p:ph type="title"/>
          </p:nvPr>
        </p:nvSpPr>
        <p:spPr>
          <a:xfrm>
            <a:off x="456000" y="1142356"/>
            <a:ext cx="11736000" cy="11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</a:pPr>
            <a:r>
              <a:rPr lang="en-US" dirty="0" smtClean="0"/>
              <a:t>Updates:</a:t>
            </a:r>
            <a:r>
              <a:rPr lang="ar-EG" dirty="0"/>
              <a:t/>
            </a:r>
            <a:br>
              <a:rPr lang="ar-EG" dirty="0"/>
            </a:br>
            <a:r>
              <a:rPr lang="en-US" dirty="0" smtClean="0"/>
              <a:t>Formulation 1 Generalization:</a:t>
            </a:r>
            <a:endParaRPr dirty="0"/>
          </a:p>
        </p:txBody>
      </p:sp>
      <p:sp>
        <p:nvSpPr>
          <p:cNvPr id="105" name="Google Shape;105;p2"/>
          <p:cNvSpPr txBox="1">
            <a:spLocks noGrp="1"/>
          </p:cNvSpPr>
          <p:nvPr>
            <p:ph type="body" idx="4294967295"/>
          </p:nvPr>
        </p:nvSpPr>
        <p:spPr>
          <a:xfrm>
            <a:off x="455999" y="2178768"/>
            <a:ext cx="11385933" cy="45207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indent="-457200">
              <a:buSzPts val="3200"/>
            </a:pPr>
            <a:r>
              <a:rPr lang="en-US" sz="2000" dirty="0" smtClean="0"/>
              <a:t>Behavioral Cloning with </a:t>
            </a:r>
            <a:r>
              <a:rPr lang="en-US" sz="2000" dirty="0" err="1" smtClean="0"/>
              <a:t>DAgger</a:t>
            </a:r>
            <a:r>
              <a:rPr lang="en-US" sz="2000" dirty="0" smtClean="0"/>
              <a:t> proved to be enough to generalize across trajectories so Imitation learning was enough. No RL needed</a:t>
            </a:r>
          </a:p>
          <a:p>
            <a:pPr marL="0" indent="0">
              <a:buSzPts val="3200"/>
              <a:buNone/>
            </a:pPr>
            <a:endParaRPr lang="en-US" sz="2000" dirty="0" smtClean="0"/>
          </a:p>
          <a:p>
            <a:pPr indent="-457200">
              <a:buSzPts val="3200"/>
            </a:pPr>
            <a:r>
              <a:rPr lang="en-US" sz="2000" dirty="0" smtClean="0"/>
              <a:t>Trained by sampling </a:t>
            </a:r>
            <a:r>
              <a:rPr lang="en-US" sz="2000" dirty="0"/>
              <a:t>random component-wise rest-to-rest </a:t>
            </a:r>
            <a:r>
              <a:rPr lang="en-US" sz="2000" dirty="0" err="1"/>
              <a:t>quintic</a:t>
            </a:r>
            <a:r>
              <a:rPr lang="en-US" sz="2000" dirty="0"/>
              <a:t> polynomial </a:t>
            </a:r>
            <a:r>
              <a:rPr lang="en-US" sz="2000" dirty="0" smtClean="0"/>
              <a:t>trajectories</a:t>
            </a:r>
          </a:p>
          <a:p>
            <a:pPr indent="-457200">
              <a:buSzPts val="3200"/>
            </a:pPr>
            <a:endParaRPr lang="en-US" sz="2000" dirty="0" smtClean="0"/>
          </a:p>
          <a:p>
            <a:pPr indent="-457200">
              <a:buSzPts val="3200"/>
            </a:pPr>
            <a:r>
              <a:rPr lang="en-US" sz="2000" dirty="0" smtClean="0"/>
              <a:t>Generalization across different scales, episode time and movement axes</a:t>
            </a:r>
          </a:p>
          <a:p>
            <a:pPr indent="-457200">
              <a:buSzPts val="3200"/>
            </a:pPr>
            <a:endParaRPr lang="en-US" sz="2000" dirty="0"/>
          </a:p>
          <a:p>
            <a:pPr marL="0" indent="0">
              <a:buSzPts val="3200"/>
              <a:buNone/>
            </a:pPr>
            <a:r>
              <a:rPr lang="en-US" sz="2000" dirty="0" smtClean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8876926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Results of Imitation learning Generalization</a:t>
            </a:r>
            <a:endParaRPr lang="en-US" dirty="0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24611" y="2776147"/>
            <a:ext cx="7998778" cy="3968144"/>
          </a:xfrm>
          <a:prstGeom prst="rect">
            <a:avLst/>
          </a:prstGeom>
        </p:spPr>
      </p:pic>
      <p:sp>
        <p:nvSpPr>
          <p:cNvPr id="8" name="Google Shape;105;p2"/>
          <p:cNvSpPr txBox="1">
            <a:spLocks noGrp="1"/>
          </p:cNvSpPr>
          <p:nvPr>
            <p:ph type="body" idx="4294967295"/>
          </p:nvPr>
        </p:nvSpPr>
        <p:spPr>
          <a:xfrm>
            <a:off x="455999" y="2178768"/>
            <a:ext cx="11385933" cy="535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indent="-457200">
              <a:buSzPts val="3200"/>
            </a:pPr>
            <a:r>
              <a:rPr lang="en-US" sz="2000" dirty="0" smtClean="0"/>
              <a:t>Randomly Generated component-wise </a:t>
            </a:r>
            <a:r>
              <a:rPr lang="en-US" sz="2000" dirty="0"/>
              <a:t>rest-to-rest </a:t>
            </a:r>
            <a:r>
              <a:rPr lang="en-US" sz="2000" dirty="0" err="1"/>
              <a:t>quintic</a:t>
            </a:r>
            <a:r>
              <a:rPr lang="en-US" sz="2000" dirty="0"/>
              <a:t> polynomial </a:t>
            </a:r>
            <a:r>
              <a:rPr lang="en-US" sz="2000" dirty="0" smtClean="0"/>
              <a:t>trajectory(not seen during training)</a:t>
            </a:r>
          </a:p>
        </p:txBody>
      </p:sp>
    </p:spTree>
    <p:extLst>
      <p:ext uri="{BB962C8B-B14F-4D97-AF65-F5344CB8AC3E}">
        <p14:creationId xmlns:p14="http://schemas.microsoft.com/office/powerpoint/2010/main" val="26003340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Results of Imitation learning Generalization</a:t>
            </a:r>
            <a:endParaRPr lang="en-US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425" y="2013626"/>
            <a:ext cx="9615725" cy="47703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46852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Results of Imitation learning Generalization</a:t>
            </a:r>
            <a:endParaRPr lang="en-US" dirty="0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67740" y="2341221"/>
            <a:ext cx="8712520" cy="43222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33912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Results of Imitation learning Generalization</a:t>
            </a:r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44996" y="2017221"/>
            <a:ext cx="9358008" cy="4642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1886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Results of Imitation learning Generalization</a:t>
            </a:r>
            <a:endParaRPr lang="en-US" dirty="0"/>
          </a:p>
        </p:txBody>
      </p:sp>
      <p:sp>
        <p:nvSpPr>
          <p:cNvPr id="8" name="Google Shape;105;p2"/>
          <p:cNvSpPr txBox="1">
            <a:spLocks noGrp="1"/>
          </p:cNvSpPr>
          <p:nvPr>
            <p:ph type="body" idx="4294967295"/>
          </p:nvPr>
        </p:nvSpPr>
        <p:spPr>
          <a:xfrm>
            <a:off x="455999" y="2178768"/>
            <a:ext cx="11385933" cy="535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indent="-457200">
              <a:buSzPts val="3200"/>
            </a:pPr>
            <a:r>
              <a:rPr lang="en-US" sz="2000" dirty="0" smtClean="0"/>
              <a:t>Generalization across time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4412" y="2810660"/>
            <a:ext cx="8009106" cy="39732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18092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Results of Imitation learning Generalization</a:t>
            </a:r>
            <a:endParaRPr lang="en-US" dirty="0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1656" y="2146668"/>
            <a:ext cx="9104688" cy="45167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511448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Results of Imitation learning Generalization</a:t>
            </a:r>
            <a:endParaRPr lang="en-US" dirty="0"/>
          </a:p>
        </p:txBody>
      </p:sp>
      <p:sp>
        <p:nvSpPr>
          <p:cNvPr id="8" name="Google Shape;105;p2"/>
          <p:cNvSpPr txBox="1">
            <a:spLocks noGrp="1"/>
          </p:cNvSpPr>
          <p:nvPr>
            <p:ph type="body" idx="4294967295"/>
          </p:nvPr>
        </p:nvSpPr>
        <p:spPr>
          <a:xfrm>
            <a:off x="455999" y="2178768"/>
            <a:ext cx="11385933" cy="535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indent="-457200">
              <a:buSzPts val="3200"/>
            </a:pPr>
            <a:r>
              <a:rPr lang="en-US" sz="2000" dirty="0" smtClean="0"/>
              <a:t>Trajectory where A and ξ change mid-episode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0638" y="2714017"/>
            <a:ext cx="8096654" cy="40166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73211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Results of Imitation learning Generalization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63962" y="2341221"/>
            <a:ext cx="8720075" cy="43259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528684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Results of Imitation learning Generalization</a:t>
            </a:r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0684" y="2016526"/>
            <a:ext cx="9386632" cy="46566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657389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Results of Imitation learning Generalization</a:t>
            </a:r>
            <a:endParaRPr lang="en-US" dirty="0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8200" y="2138425"/>
            <a:ext cx="8991600" cy="44606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244116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Results of Imitation learning Generalization</a:t>
            </a:r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16332" y="2105253"/>
            <a:ext cx="9215336" cy="45716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452802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Results of Imitation learning Generalization</a:t>
            </a:r>
            <a:endParaRPr lang="en-US" dirty="0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79042" y="2040161"/>
            <a:ext cx="9289916" cy="46086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011900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lv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dirty="0">
                <a:solidFill>
                  <a:schemeClr val="tx1"/>
                </a:solidFill>
                <a:latin typeface="Google Sans Text"/>
              </a:rPr>
              <a:t>Load Tracking Performance </a:t>
            </a:r>
            <a:r>
              <a:rPr lang="en-US" dirty="0" smtClean="0">
                <a:solidFill>
                  <a:schemeClr val="tx1"/>
                </a:solidFill>
                <a:latin typeface="Google Sans Text"/>
              </a:rPr>
              <a:t>(Average across multiple testing runs)</a:t>
            </a:r>
            <a:endParaRPr lang="en-US" b="0" dirty="0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22482887"/>
              </p:ext>
            </p:extLst>
          </p:nvPr>
        </p:nvGraphicFramePr>
        <p:xfrm>
          <a:off x="838200" y="2995454"/>
          <a:ext cx="10515600" cy="1341120"/>
        </p:xfrm>
        <a:graphic>
          <a:graphicData uri="http://schemas.openxmlformats.org/drawingml/2006/table">
            <a:tbl>
              <a:tblPr/>
              <a:tblGrid>
                <a:gridCol w="3505200"/>
                <a:gridCol w="3505200"/>
                <a:gridCol w="3505200"/>
              </a:tblGrid>
              <a:tr h="0">
                <a:tc>
                  <a:txBody>
                    <a:bodyPr/>
                    <a:lstStyle/>
                    <a:p>
                      <a:r>
                        <a:rPr lang="en-US" b="1" dirty="0">
                          <a:effectLst/>
                          <a:latin typeface="Google Sans Text"/>
                        </a:rPr>
                        <a:t>Metric</a:t>
                      </a:r>
                      <a:endParaRPr lang="en-US" dirty="0">
                        <a:effectLst/>
                        <a:latin typeface="Google Sans Text"/>
                      </a:endParaRPr>
                    </a:p>
                  </a:txBody>
                  <a:tcPr marT="60960" marB="6096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 smtClean="0">
                          <a:effectLst/>
                          <a:latin typeface="Google Sans Text"/>
                        </a:rPr>
                        <a:t>Policy</a:t>
                      </a:r>
                      <a:endParaRPr lang="en-US" dirty="0">
                        <a:effectLst/>
                        <a:latin typeface="Google Sans Text"/>
                      </a:endParaRPr>
                    </a:p>
                  </a:txBody>
                  <a:tcPr marT="60960" marB="6096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b="1">
                          <a:effectLst/>
                          <a:latin typeface="Google Sans Text"/>
                        </a:rPr>
                        <a:t>Optimizer</a:t>
                      </a:r>
                      <a:endParaRPr lang="en-US">
                        <a:effectLst/>
                        <a:latin typeface="Google Sans Text"/>
                      </a:endParaRPr>
                    </a:p>
                  </a:txBody>
                  <a:tcPr marT="60960" marB="6096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en-US" b="1">
                          <a:effectLst/>
                          <a:latin typeface="Google Sans Text"/>
                        </a:rPr>
                        <a:t>track_mean (m)</a:t>
                      </a:r>
                      <a:endParaRPr lang="en-US">
                        <a:effectLst/>
                        <a:latin typeface="Google Sans Text"/>
                      </a:endParaRPr>
                    </a:p>
                  </a:txBody>
                  <a:tcPr marT="60960" marB="6096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smtClean="0">
                          <a:effectLst/>
                          <a:latin typeface="Google Sans Text"/>
                        </a:rPr>
                        <a:t>~0.03</a:t>
                      </a:r>
                      <a:endParaRPr lang="en-US" dirty="0">
                        <a:effectLst/>
                        <a:latin typeface="Google Sans Text"/>
                      </a:endParaRPr>
                    </a:p>
                  </a:txBody>
                  <a:tcPr marT="60960" marB="6096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smtClean="0">
                          <a:effectLst/>
                          <a:latin typeface="Google Sans Text"/>
                        </a:rPr>
                        <a:t>~0.03</a:t>
                      </a:r>
                      <a:endParaRPr lang="en-US" dirty="0">
                        <a:effectLst/>
                        <a:latin typeface="Google Sans Text"/>
                      </a:endParaRPr>
                    </a:p>
                  </a:txBody>
                  <a:tcPr marT="60960" marB="6096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en-US" b="1">
                          <a:effectLst/>
                          <a:latin typeface="Google Sans Text"/>
                        </a:rPr>
                        <a:t>track_max (m)</a:t>
                      </a:r>
                      <a:endParaRPr lang="en-US">
                        <a:effectLst/>
                        <a:latin typeface="Google Sans Text"/>
                      </a:endParaRPr>
                    </a:p>
                  </a:txBody>
                  <a:tcPr marT="60960" marB="6096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smtClean="0">
                          <a:effectLst/>
                          <a:latin typeface="Google Sans Text"/>
                        </a:rPr>
                        <a:t>~0.15</a:t>
                      </a:r>
                      <a:endParaRPr lang="en-US" dirty="0">
                        <a:effectLst/>
                        <a:latin typeface="Google Sans Text"/>
                      </a:endParaRPr>
                    </a:p>
                  </a:txBody>
                  <a:tcPr marT="60960" marB="6096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smtClean="0">
                          <a:effectLst/>
                          <a:latin typeface="Google Sans Text"/>
                        </a:rPr>
                        <a:t>~0.15</a:t>
                      </a:r>
                      <a:endParaRPr lang="en-US" dirty="0">
                        <a:effectLst/>
                        <a:latin typeface="Google Sans Text"/>
                      </a:endParaRPr>
                    </a:p>
                  </a:txBody>
                  <a:tcPr marT="60960" marB="6096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>
                          <a:effectLst/>
                          <a:latin typeface="Google Sans Text"/>
                        </a:rPr>
                        <a:t>Load Track MSE (m²)</a:t>
                      </a:r>
                      <a:endParaRPr lang="en-US" dirty="0">
                        <a:effectLst/>
                        <a:latin typeface="Google Sans Text"/>
                      </a:endParaRPr>
                    </a:p>
                  </a:txBody>
                  <a:tcPr marT="60960" marB="6096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smtClean="0">
                          <a:effectLst/>
                          <a:latin typeface="Google Sans Text"/>
                        </a:rPr>
                        <a:t>~0.0035</a:t>
                      </a:r>
                      <a:endParaRPr lang="en-US" dirty="0">
                        <a:effectLst/>
                        <a:latin typeface="Google Sans Text"/>
                      </a:endParaRPr>
                    </a:p>
                  </a:txBody>
                  <a:tcPr marT="60960" marB="6096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smtClean="0">
                          <a:effectLst/>
                          <a:latin typeface="Google Sans Text"/>
                        </a:rPr>
                        <a:t>~0.0035</a:t>
                      </a:r>
                      <a:endParaRPr lang="en-US" dirty="0">
                        <a:effectLst/>
                        <a:latin typeface="Google Sans Text"/>
                      </a:endParaRPr>
                    </a:p>
                  </a:txBody>
                  <a:tcPr marT="60960" marB="6096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Google Shape;105;p2"/>
          <p:cNvSpPr txBox="1">
            <a:spLocks noGrp="1"/>
          </p:cNvSpPr>
          <p:nvPr>
            <p:ph type="body" idx="4294967295"/>
          </p:nvPr>
        </p:nvSpPr>
        <p:spPr>
          <a:xfrm>
            <a:off x="358723" y="4698232"/>
            <a:ext cx="11385933" cy="535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indent="-457200">
              <a:buSzPts val="3200"/>
            </a:pPr>
            <a:r>
              <a:rPr lang="en-US" sz="2000" dirty="0" smtClean="0"/>
              <a:t>Identical. Expected since the MLP does not touch the load tracking. </a:t>
            </a:r>
          </a:p>
        </p:txBody>
      </p:sp>
    </p:spTree>
    <p:extLst>
      <p:ext uri="{BB962C8B-B14F-4D97-AF65-F5344CB8AC3E}">
        <p14:creationId xmlns:p14="http://schemas.microsoft.com/office/powerpoint/2010/main" val="342436499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lv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dirty="0"/>
              <a:t>Drone Trajectory &amp; </a:t>
            </a:r>
            <a:r>
              <a:rPr lang="el-GR" dirty="0"/>
              <a:t>λ </a:t>
            </a:r>
            <a:r>
              <a:rPr lang="en-US" dirty="0" smtClean="0"/>
              <a:t>Discrepancy vs. </a:t>
            </a:r>
            <a:r>
              <a:rPr lang="en-US" dirty="0"/>
              <a:t>Optimizer </a:t>
            </a:r>
            <a:r>
              <a:rPr lang="en-US" dirty="0" smtClean="0"/>
              <a:t>Reference </a:t>
            </a:r>
            <a:r>
              <a:rPr lang="en-US" dirty="0" smtClean="0">
                <a:solidFill>
                  <a:schemeClr val="tx1"/>
                </a:solidFill>
                <a:latin typeface="Google Sans Text"/>
              </a:rPr>
              <a:t>(Average across multiple testing runs)</a:t>
            </a:r>
            <a:endParaRPr lang="en-US" b="0" dirty="0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37212550"/>
              </p:ext>
            </p:extLst>
          </p:nvPr>
        </p:nvGraphicFramePr>
        <p:xfrm>
          <a:off x="546371" y="2684169"/>
          <a:ext cx="10515600" cy="2011680"/>
        </p:xfrm>
        <a:graphic>
          <a:graphicData uri="http://schemas.openxmlformats.org/drawingml/2006/table">
            <a:tbl>
              <a:tblPr/>
              <a:tblGrid>
                <a:gridCol w="3505200"/>
                <a:gridCol w="3505200"/>
                <a:gridCol w="3505200"/>
              </a:tblGrid>
              <a:tr h="0">
                <a:tc>
                  <a:txBody>
                    <a:bodyPr/>
                    <a:lstStyle/>
                    <a:p>
                      <a:r>
                        <a:rPr lang="en-US" b="1" dirty="0" smtClean="0">
                          <a:effectLst/>
                          <a:latin typeface="Google Sans Text"/>
                        </a:rPr>
                        <a:t>Unit</a:t>
                      </a:r>
                      <a:endParaRPr lang="en-US" dirty="0">
                        <a:effectLst/>
                        <a:latin typeface="Google Sans Text"/>
                      </a:endParaRPr>
                    </a:p>
                  </a:txBody>
                  <a:tcPr marT="60960" marB="6096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effectLst/>
                          <a:latin typeface="Google Sans Text"/>
                        </a:rPr>
                        <a:t>Carrier </a:t>
                      </a:r>
                      <a:r>
                        <a:rPr lang="en-US" b="1" dirty="0" smtClean="0">
                          <a:effectLst/>
                          <a:latin typeface="Google Sans Text"/>
                        </a:rPr>
                        <a:t>Position MSE </a:t>
                      </a:r>
                      <a:r>
                        <a:rPr lang="en-US" b="1" dirty="0">
                          <a:effectLst/>
                          <a:latin typeface="Google Sans Text"/>
                        </a:rPr>
                        <a:t>(m²)</a:t>
                      </a:r>
                      <a:endParaRPr lang="en-US" dirty="0">
                        <a:effectLst/>
                        <a:latin typeface="Google Sans Text"/>
                      </a:endParaRPr>
                    </a:p>
                  </a:txBody>
                  <a:tcPr marT="60960" marB="6096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b="1">
                          <a:effectLst/>
                          <a:latin typeface="Google Sans Text"/>
                        </a:rPr>
                        <a:t>Lambda MSE</a:t>
                      </a:r>
                      <a:endParaRPr lang="en-US">
                        <a:effectLst/>
                        <a:latin typeface="Google Sans Text"/>
                      </a:endParaRPr>
                    </a:p>
                  </a:txBody>
                  <a:tcPr marT="60960" marB="6096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en-US" b="1">
                          <a:effectLst/>
                          <a:latin typeface="Google Sans Text"/>
                        </a:rPr>
                        <a:t>Drone 1</a:t>
                      </a:r>
                      <a:endParaRPr lang="en-US">
                        <a:effectLst/>
                        <a:latin typeface="Google Sans Text"/>
                      </a:endParaRPr>
                    </a:p>
                  </a:txBody>
                  <a:tcPr marT="60960" marB="6096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smtClean="0">
                          <a:effectLst/>
                          <a:latin typeface="Google Sans Text"/>
                        </a:rPr>
                        <a:t>~0.000183</a:t>
                      </a:r>
                      <a:endParaRPr lang="en-US" dirty="0">
                        <a:effectLst/>
                        <a:latin typeface="Google Sans Text"/>
                      </a:endParaRPr>
                    </a:p>
                  </a:txBody>
                  <a:tcPr marT="60960" marB="6096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smtClean="0">
                          <a:effectLst/>
                          <a:latin typeface="Google Sans Text"/>
                        </a:rPr>
                        <a:t>~0.000507</a:t>
                      </a:r>
                      <a:endParaRPr lang="en-US" dirty="0">
                        <a:effectLst/>
                        <a:latin typeface="Google Sans Text"/>
                      </a:endParaRPr>
                    </a:p>
                  </a:txBody>
                  <a:tcPr marT="60960" marB="6096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en-US" b="1">
                          <a:effectLst/>
                          <a:latin typeface="Google Sans Text"/>
                        </a:rPr>
                        <a:t>Drone 2</a:t>
                      </a:r>
                      <a:endParaRPr lang="en-US">
                        <a:effectLst/>
                        <a:latin typeface="Google Sans Text"/>
                      </a:endParaRPr>
                    </a:p>
                  </a:txBody>
                  <a:tcPr marT="60960" marB="6096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smtClean="0">
                          <a:effectLst/>
                          <a:latin typeface="Google Sans Text"/>
                        </a:rPr>
                        <a:t>~0.000180</a:t>
                      </a:r>
                      <a:endParaRPr lang="en-US" dirty="0">
                        <a:effectLst/>
                        <a:latin typeface="Google Sans Text"/>
                      </a:endParaRPr>
                    </a:p>
                  </a:txBody>
                  <a:tcPr marT="60960" marB="6096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smtClean="0">
                          <a:effectLst/>
                          <a:latin typeface="Google Sans Text"/>
                        </a:rPr>
                        <a:t>~0.000533</a:t>
                      </a:r>
                      <a:endParaRPr lang="en-US" dirty="0">
                        <a:effectLst/>
                        <a:latin typeface="Google Sans Text"/>
                      </a:endParaRPr>
                    </a:p>
                  </a:txBody>
                  <a:tcPr marT="60960" marB="6096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en-US" b="1">
                          <a:effectLst/>
                          <a:latin typeface="Google Sans Text"/>
                        </a:rPr>
                        <a:t>Drone 3</a:t>
                      </a:r>
                      <a:endParaRPr lang="en-US">
                        <a:effectLst/>
                        <a:latin typeface="Google Sans Text"/>
                      </a:endParaRPr>
                    </a:p>
                  </a:txBody>
                  <a:tcPr marT="60960" marB="6096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smtClean="0">
                          <a:effectLst/>
                          <a:latin typeface="Google Sans Text"/>
                        </a:rPr>
                        <a:t>~0.000180</a:t>
                      </a:r>
                      <a:endParaRPr lang="en-US" dirty="0">
                        <a:effectLst/>
                        <a:latin typeface="Google Sans Text"/>
                      </a:endParaRPr>
                    </a:p>
                  </a:txBody>
                  <a:tcPr marT="60960" marB="6096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smtClean="0">
                          <a:effectLst/>
                          <a:latin typeface="Google Sans Text"/>
                        </a:rPr>
                        <a:t>~0.000507</a:t>
                      </a:r>
                      <a:endParaRPr lang="en-US" dirty="0">
                        <a:effectLst/>
                        <a:latin typeface="Google Sans Text"/>
                      </a:endParaRPr>
                    </a:p>
                  </a:txBody>
                  <a:tcPr marT="60960" marB="6096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en-US" b="1">
                          <a:effectLst/>
                          <a:latin typeface="Google Sans Text"/>
                        </a:rPr>
                        <a:t>Drone 4</a:t>
                      </a:r>
                      <a:endParaRPr lang="en-US">
                        <a:effectLst/>
                        <a:latin typeface="Google Sans Text"/>
                      </a:endParaRPr>
                    </a:p>
                  </a:txBody>
                  <a:tcPr marT="60960" marB="6096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smtClean="0">
                          <a:effectLst/>
                          <a:latin typeface="Google Sans Text"/>
                        </a:rPr>
                        <a:t>~0.000183</a:t>
                      </a:r>
                      <a:endParaRPr lang="en-US" dirty="0">
                        <a:effectLst/>
                        <a:latin typeface="Google Sans Text"/>
                      </a:endParaRPr>
                    </a:p>
                  </a:txBody>
                  <a:tcPr marT="60960" marB="6096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smtClean="0">
                          <a:effectLst/>
                          <a:latin typeface="Google Sans Text"/>
                        </a:rPr>
                        <a:t>~0.000533</a:t>
                      </a:r>
                      <a:endParaRPr lang="en-US" dirty="0">
                        <a:effectLst/>
                        <a:latin typeface="Google Sans Text"/>
                      </a:endParaRPr>
                    </a:p>
                  </a:txBody>
                  <a:tcPr marT="60960" marB="6096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en-US" b="1">
                          <a:effectLst/>
                          <a:latin typeface="Google Sans Text"/>
                        </a:rPr>
                        <a:t>ALL Drones</a:t>
                      </a:r>
                      <a:endParaRPr lang="en-US">
                        <a:effectLst/>
                        <a:latin typeface="Google Sans Text"/>
                      </a:endParaRPr>
                    </a:p>
                  </a:txBody>
                  <a:tcPr marT="60960" marB="6096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 smtClean="0">
                          <a:effectLst/>
                          <a:latin typeface="Google Sans Text"/>
                        </a:rPr>
                        <a:t>~0.000182</a:t>
                      </a:r>
                      <a:r>
                        <a:rPr lang="en-US" dirty="0" smtClean="0">
                          <a:effectLst/>
                          <a:latin typeface="Google Sans Text"/>
                        </a:rPr>
                        <a:t> </a:t>
                      </a:r>
                      <a:r>
                        <a:rPr lang="en-US" i="1" dirty="0">
                          <a:effectLst/>
                          <a:latin typeface="Google Sans Text"/>
                        </a:rPr>
                        <a:t>(RMSE 0.01327 m)</a:t>
                      </a:r>
                      <a:endParaRPr lang="en-US" dirty="0">
                        <a:effectLst/>
                        <a:latin typeface="Google Sans Text"/>
                      </a:endParaRPr>
                    </a:p>
                  </a:txBody>
                  <a:tcPr marT="60960" marB="6096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 smtClean="0">
                          <a:effectLst/>
                          <a:latin typeface="Google Sans Text"/>
                        </a:rPr>
                        <a:t>~0.000520</a:t>
                      </a:r>
                      <a:endParaRPr lang="en-US" dirty="0">
                        <a:effectLst/>
                        <a:latin typeface="Google Sans Text"/>
                      </a:endParaRPr>
                    </a:p>
                  </a:txBody>
                  <a:tcPr marT="60960" marB="6096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3947088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"/>
          <p:cNvSpPr txBox="1">
            <a:spLocks noGrp="1"/>
          </p:cNvSpPr>
          <p:nvPr>
            <p:ph type="title"/>
          </p:nvPr>
        </p:nvSpPr>
        <p:spPr>
          <a:xfrm>
            <a:off x="456000" y="1142356"/>
            <a:ext cx="11736000" cy="11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</a:pPr>
            <a:r>
              <a:rPr lang="en-US" dirty="0" smtClean="0"/>
              <a:t>Residual MARL</a:t>
            </a:r>
            <a:endParaRPr dirty="0"/>
          </a:p>
        </p:txBody>
      </p:sp>
      <p:sp>
        <p:nvSpPr>
          <p:cNvPr id="105" name="Google Shape;105;p2"/>
          <p:cNvSpPr txBox="1">
            <a:spLocks noGrp="1"/>
          </p:cNvSpPr>
          <p:nvPr>
            <p:ph type="body" idx="4294967295"/>
          </p:nvPr>
        </p:nvSpPr>
        <p:spPr>
          <a:xfrm>
            <a:off x="455999" y="2178768"/>
            <a:ext cx="11385933" cy="45207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indent="-457200">
              <a:buSzPts val="3200"/>
            </a:pPr>
            <a:r>
              <a:rPr lang="en-US" dirty="0" smtClean="0"/>
              <a:t>Action Space: </a:t>
            </a:r>
            <a:r>
              <a:rPr lang="el-GR" dirty="0" smtClean="0"/>
              <a:t>δ</a:t>
            </a:r>
            <a:r>
              <a:rPr lang="en-US" dirty="0"/>
              <a:t>𝑓</a:t>
            </a:r>
            <a:r>
              <a:rPr lang="en-US" dirty="0" smtClean="0"/>
              <a:t> </a:t>
            </a:r>
            <a:r>
              <a:rPr lang="en-US" dirty="0"/>
              <a:t>∈ </a:t>
            </a:r>
            <a:r>
              <a:rPr lang="en-US" dirty="0" smtClean="0"/>
              <a:t>R</a:t>
            </a:r>
            <a:r>
              <a:rPr lang="en-US" baseline="30000" dirty="0" smtClean="0"/>
              <a:t>3n</a:t>
            </a:r>
            <a:r>
              <a:rPr lang="en-US" dirty="0" smtClean="0"/>
              <a:t> </a:t>
            </a:r>
          </a:p>
          <a:p>
            <a:pPr lvl="1" indent="-457200">
              <a:buSzPts val="3200"/>
            </a:pPr>
            <a:r>
              <a:rPr lang="en-US" dirty="0" smtClean="0"/>
              <a:t>Keep wrench controller and optimizer. Run decentralized</a:t>
            </a:r>
          </a:p>
          <a:p>
            <a:pPr marL="457200" lvl="1" indent="0">
              <a:buSzPts val="3200"/>
              <a:buNone/>
            </a:pPr>
            <a:r>
              <a:rPr lang="en-US" dirty="0" smtClean="0"/>
              <a:t>				</a:t>
            </a:r>
            <a:r>
              <a:rPr lang="en-US" dirty="0"/>
              <a:t>𝑓 (𝑡) = 𝑓</a:t>
            </a:r>
            <a:r>
              <a:rPr lang="en-US" baseline="-25000" dirty="0"/>
              <a:t>𝑔</a:t>
            </a:r>
            <a:r>
              <a:rPr lang="en-US" dirty="0"/>
              <a:t>(𝑡)+ 𝑓</a:t>
            </a:r>
            <a:r>
              <a:rPr lang="en-US" baseline="-25000" dirty="0"/>
              <a:t>𝜆</a:t>
            </a:r>
            <a:r>
              <a:rPr lang="en-US" dirty="0"/>
              <a:t>(𝑡</a:t>
            </a:r>
            <a:r>
              <a:rPr lang="en-US" dirty="0" smtClean="0"/>
              <a:t>) + </a:t>
            </a:r>
            <a:r>
              <a:rPr lang="el-GR" u="sng" dirty="0" smtClean="0"/>
              <a:t>δ</a:t>
            </a:r>
            <a:r>
              <a:rPr lang="en-US" u="sng" dirty="0" smtClean="0"/>
              <a:t>𝑓(t)</a:t>
            </a:r>
          </a:p>
          <a:p>
            <a:pPr marL="457200" lvl="1" indent="0">
              <a:buSzPts val="3200"/>
              <a:buNone/>
            </a:pPr>
            <a:endParaRPr lang="en-US" u="sng" dirty="0" smtClean="0"/>
          </a:p>
          <a:p>
            <a:pPr marL="457200" lvl="1" indent="0">
              <a:buSzPts val="3200"/>
              <a:buNone/>
            </a:pPr>
            <a:endParaRPr lang="en-US" u="sng" dirty="0" smtClean="0"/>
          </a:p>
          <a:p>
            <a:pPr lvl="1" indent="-457200">
              <a:buSzPts val="3200"/>
            </a:pPr>
            <a:r>
              <a:rPr lang="en-US" dirty="0" smtClean="0"/>
              <a:t>Much better learning when decomposed</a:t>
            </a:r>
            <a:endParaRPr lang="en-US" dirty="0"/>
          </a:p>
          <a:p>
            <a:pPr marL="457200" lvl="1" indent="0">
              <a:buSzPts val="3200"/>
              <a:buNone/>
            </a:pPr>
            <a:r>
              <a:rPr lang="en-US" dirty="0"/>
              <a:t>			</a:t>
            </a:r>
            <a:r>
              <a:rPr lang="en-US" dirty="0" smtClean="0"/>
              <a:t>𝑓 </a:t>
            </a:r>
            <a:r>
              <a:rPr lang="en-US" dirty="0"/>
              <a:t>(𝑡)</a:t>
            </a:r>
            <a:r>
              <a:rPr lang="en-US" dirty="0" smtClean="0"/>
              <a:t> </a:t>
            </a:r>
            <a:r>
              <a:rPr lang="en-US" dirty="0"/>
              <a:t>= </a:t>
            </a:r>
            <a:r>
              <a:rPr lang="en-US" dirty="0" smtClean="0"/>
              <a:t>G(t)</a:t>
            </a:r>
            <a:r>
              <a:rPr lang="en-US" baseline="30000" dirty="0" smtClean="0"/>
              <a:t>† </a:t>
            </a:r>
            <a:r>
              <a:rPr lang="en-US" dirty="0" smtClean="0"/>
              <a:t>· (w</a:t>
            </a:r>
            <a:r>
              <a:rPr lang="en-US" baseline="-25000" dirty="0" smtClean="0"/>
              <a:t>d</a:t>
            </a:r>
            <a:r>
              <a:rPr lang="en-US" dirty="0" smtClean="0"/>
              <a:t>(t) + </a:t>
            </a:r>
            <a:r>
              <a:rPr lang="el-GR" u="sng" dirty="0" smtClean="0"/>
              <a:t>δ</a:t>
            </a:r>
            <a:r>
              <a:rPr lang="en-US" u="sng" dirty="0" smtClean="0"/>
              <a:t>w(t)</a:t>
            </a:r>
            <a:r>
              <a:rPr lang="en-US" dirty="0" smtClean="0"/>
              <a:t>)  + N(t) </a:t>
            </a:r>
            <a:r>
              <a:rPr lang="en-US" dirty="0"/>
              <a:t>· </a:t>
            </a:r>
            <a:r>
              <a:rPr lang="en-US" dirty="0" smtClean="0"/>
              <a:t>(</a:t>
            </a:r>
            <a:r>
              <a:rPr lang="el-GR" dirty="0" smtClean="0"/>
              <a:t>λ(</a:t>
            </a:r>
            <a:r>
              <a:rPr lang="en-US" dirty="0"/>
              <a:t>t</a:t>
            </a:r>
            <a:r>
              <a:rPr lang="en-US" dirty="0" smtClean="0"/>
              <a:t>) + </a:t>
            </a:r>
            <a:r>
              <a:rPr lang="el-GR" u="sng" dirty="0" smtClean="0"/>
              <a:t>δλ</a:t>
            </a:r>
            <a:r>
              <a:rPr lang="en-US" u="sng" dirty="0" smtClean="0"/>
              <a:t>(t)</a:t>
            </a:r>
            <a:r>
              <a:rPr lang="en-US" dirty="0" smtClean="0"/>
              <a:t>)</a:t>
            </a:r>
            <a:endParaRPr lang="ar-EG" dirty="0"/>
          </a:p>
          <a:p>
            <a:pPr marL="457200" lvl="1" indent="0">
              <a:buSzPts val="3200"/>
              <a:buNone/>
            </a:pPr>
            <a:r>
              <a:rPr lang="el-GR" dirty="0" smtClean="0"/>
              <a:t>δ</a:t>
            </a:r>
            <a:r>
              <a:rPr lang="en-US" dirty="0" smtClean="0"/>
              <a:t>w</a:t>
            </a:r>
            <a:r>
              <a:rPr lang="ar-EG" dirty="0" smtClean="0"/>
              <a:t> </a:t>
            </a:r>
            <a:r>
              <a:rPr lang="en-US" dirty="0" smtClean="0"/>
              <a:t>∈ R</a:t>
            </a:r>
            <a:r>
              <a:rPr lang="ar-EG" baseline="30000" dirty="0" smtClean="0"/>
              <a:t>6</a:t>
            </a:r>
            <a:r>
              <a:rPr lang="en-US" baseline="30000" dirty="0"/>
              <a:t> </a:t>
            </a:r>
            <a:r>
              <a:rPr lang="en-US" dirty="0" smtClean="0"/>
              <a:t>, </a:t>
            </a:r>
            <a:r>
              <a:rPr lang="el-GR" dirty="0" smtClean="0"/>
              <a:t>δλ</a:t>
            </a:r>
            <a:r>
              <a:rPr lang="en-US" dirty="0" smtClean="0"/>
              <a:t> </a:t>
            </a:r>
            <a:r>
              <a:rPr lang="en-US" dirty="0"/>
              <a:t>∈ </a:t>
            </a:r>
            <a:r>
              <a:rPr lang="en-US" dirty="0" err="1" smtClean="0"/>
              <a:t>R</a:t>
            </a:r>
            <a:r>
              <a:rPr lang="en-US" baseline="30000" dirty="0" err="1"/>
              <a:t>n</a:t>
            </a:r>
            <a:r>
              <a:rPr lang="en-US" dirty="0" smtClean="0"/>
              <a:t>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864761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"/>
          <p:cNvSpPr txBox="1">
            <a:spLocks noGrp="1"/>
          </p:cNvSpPr>
          <p:nvPr>
            <p:ph type="title"/>
          </p:nvPr>
        </p:nvSpPr>
        <p:spPr>
          <a:xfrm>
            <a:off x="456000" y="1142356"/>
            <a:ext cx="11736000" cy="11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</a:pPr>
            <a:r>
              <a:rPr lang="en-US" dirty="0" smtClean="0"/>
              <a:t>Residual MARL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5" name="Google Shape;105;p2"/>
              <p:cNvSpPr txBox="1">
                <a:spLocks noGrp="1"/>
              </p:cNvSpPr>
              <p:nvPr>
                <p:ph type="body" idx="4294967295"/>
              </p:nvPr>
            </p:nvSpPr>
            <p:spPr>
              <a:xfrm>
                <a:off x="455999" y="2178768"/>
                <a:ext cx="11385933" cy="45207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rmAutofit/>
              </a:bodyPr>
              <a:lstStyle/>
              <a:p>
                <a:pPr indent="-457200">
                  <a:buSzPts val="3200"/>
                </a:pPr>
                <a:r>
                  <a:rPr lang="en-US" dirty="0" smtClean="0"/>
                  <a:t>Observation Space (Original) </a:t>
                </a:r>
                <a:r>
                  <a:rPr lang="en-US" dirty="0"/>
                  <a:t>∈ </a:t>
                </a:r>
                <a:r>
                  <a:rPr lang="en-US" dirty="0" smtClean="0"/>
                  <a:t>R</a:t>
                </a:r>
                <a:r>
                  <a:rPr lang="en-US" baseline="30000" dirty="0" smtClean="0"/>
                  <a:t>44</a:t>
                </a:r>
                <a:r>
                  <a:rPr lang="en-US" dirty="0" smtClean="0"/>
                  <a:t> : </a:t>
                </a:r>
              </a:p>
              <a:p>
                <a:pPr lvl="1" indent="-457200">
                  <a:buSzPts val="3200"/>
                </a:pPr>
                <a:r>
                  <a:rPr lang="en-US" dirty="0" smtClean="0"/>
                  <a:t>Measured load state </a:t>
                </a:r>
                <a:r>
                  <a:rPr lang="en-US" dirty="0"/>
                  <a:t>∈ </a:t>
                </a:r>
                <a:r>
                  <a:rPr lang="en-US" dirty="0" smtClean="0"/>
                  <a:t>R</a:t>
                </a:r>
                <a:r>
                  <a:rPr lang="en-US" baseline="30000" dirty="0" smtClean="0"/>
                  <a:t>18</a:t>
                </a:r>
                <a:r>
                  <a:rPr lang="en-US" dirty="0" smtClean="0"/>
                  <a:t> </a:t>
                </a:r>
              </a:p>
              <a:p>
                <a:pPr marL="457200" lvl="1" indent="0">
                  <a:buSzPts val="3200"/>
                  <a:buNone/>
                </a:pPr>
                <a:r>
                  <a:rPr lang="en-US" dirty="0"/>
                  <a:t>	</a:t>
                </a:r>
                <a:r>
                  <a:rPr lang="en-US" dirty="0" smtClean="0"/>
                  <a:t>			[</a:t>
                </a:r>
                <a:r>
                  <a:rPr lang="en-US" dirty="0" err="1" smtClean="0"/>
                  <a:t>p</a:t>
                </a:r>
                <a:r>
                  <a:rPr lang="en-US" baseline="-25000" dirty="0" err="1" smtClean="0"/>
                  <a:t>L</a:t>
                </a:r>
                <a:r>
                  <a:rPr lang="en-US" dirty="0" smtClean="0"/>
                  <a:t>(t</a:t>
                </a:r>
                <a:r>
                  <a:rPr lang="en-US" dirty="0"/>
                  <a:t>), </a:t>
                </a:r>
                <a:r>
                  <a:rPr lang="en-US" dirty="0" smtClean="0"/>
                  <a:t>R</a:t>
                </a:r>
                <a:r>
                  <a:rPr lang="en-US" baseline="-25000" dirty="0" smtClean="0"/>
                  <a:t>L</a:t>
                </a:r>
                <a:r>
                  <a:rPr lang="en-US" dirty="0" smtClean="0"/>
                  <a:t>(t</a:t>
                </a:r>
                <a:r>
                  <a:rPr lang="en-US" dirty="0"/>
                  <a:t>), 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/>
                      <m:t>p</m:t>
                    </m:r>
                    <m:r>
                      <m:rPr>
                        <m:nor/>
                      </m:rPr>
                      <a:rPr lang="en-US"/>
                      <m:t>̇</m:t>
                    </m:r>
                  </m:oMath>
                </a14:m>
                <a:r>
                  <a:rPr lang="en-US" baseline="-25000" dirty="0" smtClean="0"/>
                  <a:t>L</a:t>
                </a:r>
                <a:r>
                  <a:rPr lang="en-US" dirty="0" smtClean="0"/>
                  <a:t>(t</a:t>
                </a:r>
                <a:r>
                  <a:rPr lang="en-US" dirty="0"/>
                  <a:t>),  </a:t>
                </a:r>
                <a:r>
                  <a:rPr lang="en-US" dirty="0" err="1" smtClean="0"/>
                  <a:t>ω</a:t>
                </a:r>
                <a:r>
                  <a:rPr lang="en-US" baseline="-25000" dirty="0" err="1" smtClean="0"/>
                  <a:t>L</a:t>
                </a:r>
                <a:r>
                  <a:rPr lang="en-US" dirty="0" smtClean="0"/>
                  <a:t>(t)]</a:t>
                </a:r>
                <a:endParaRPr lang="en-US" baseline="-25000" dirty="0" smtClean="0"/>
              </a:p>
              <a:p>
                <a:pPr lvl="1" indent="-457200">
                  <a:buSzPts val="3200"/>
                </a:pPr>
                <a:r>
                  <a:rPr lang="en-US" dirty="0" smtClean="0"/>
                  <a:t>Own carrier position and velocity </a:t>
                </a:r>
                <a:r>
                  <a:rPr lang="en-US" dirty="0"/>
                  <a:t>∈ </a:t>
                </a:r>
                <a:r>
                  <a:rPr lang="en-US" dirty="0" smtClean="0"/>
                  <a:t>R</a:t>
                </a:r>
                <a:r>
                  <a:rPr lang="en-US" baseline="30000" dirty="0"/>
                  <a:t>6</a:t>
                </a:r>
                <a:r>
                  <a:rPr lang="en-US" dirty="0" smtClean="0"/>
                  <a:t> </a:t>
                </a:r>
              </a:p>
              <a:p>
                <a:pPr marL="457200" lvl="1" indent="0">
                  <a:buSzPts val="3200"/>
                  <a:buNone/>
                </a:pPr>
                <a:r>
                  <a:rPr lang="en-US" dirty="0"/>
                  <a:t>	</a:t>
                </a:r>
                <a:r>
                  <a:rPr lang="en-US" dirty="0" smtClean="0"/>
                  <a:t>			</a:t>
                </a:r>
                <a:r>
                  <a:rPr lang="en-US" dirty="0"/>
                  <a:t>	</a:t>
                </a:r>
                <a:r>
                  <a:rPr lang="en-US" dirty="0" smtClean="0"/>
                  <a:t>[</a:t>
                </a:r>
                <a:r>
                  <a:rPr lang="en-US" dirty="0" err="1" smtClean="0"/>
                  <a:t>p</a:t>
                </a:r>
                <a:r>
                  <a:rPr lang="en-US" baseline="-25000" dirty="0" err="1" smtClean="0"/>
                  <a:t>R</a:t>
                </a:r>
                <a:r>
                  <a:rPr lang="en-US" dirty="0" smtClean="0"/>
                  <a:t>(t</a:t>
                </a:r>
                <a:r>
                  <a:rPr lang="en-US" dirty="0"/>
                  <a:t>)</a:t>
                </a:r>
                <a:r>
                  <a:rPr lang="en-US" dirty="0" smtClean="0"/>
                  <a:t>,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/>
                      <m:t>p</m:t>
                    </m:r>
                    <m:r>
                      <m:rPr>
                        <m:nor/>
                      </m:rPr>
                      <a:rPr lang="en-US"/>
                      <m:t>̇</m:t>
                    </m:r>
                    <m:r>
                      <m:rPr>
                        <m:nor/>
                      </m:rPr>
                      <a:rPr lang="en-US" b="0" i="0" baseline="-25000" smtClean="0"/>
                      <m:t>R</m:t>
                    </m:r>
                  </m:oMath>
                </a14:m>
                <a:r>
                  <a:rPr lang="en-US" dirty="0"/>
                  <a:t>(t</a:t>
                </a:r>
                <a:r>
                  <a:rPr lang="en-US" dirty="0" smtClean="0"/>
                  <a:t>)]</a:t>
                </a:r>
              </a:p>
              <a:p>
                <a:pPr lvl="1" indent="-457200">
                  <a:buSzPts val="3200"/>
                </a:pPr>
                <a:r>
                  <a:rPr lang="en-US" dirty="0" smtClean="0"/>
                  <a:t>Base force components</a:t>
                </a:r>
              </a:p>
              <a:p>
                <a:pPr marL="457200" lvl="1" indent="0">
                  <a:buSzPts val="3200"/>
                  <a:buNone/>
                </a:pPr>
                <a:r>
                  <a:rPr lang="en-US" dirty="0"/>
                  <a:t>	</a:t>
                </a:r>
                <a:r>
                  <a:rPr lang="en-US" dirty="0" smtClean="0"/>
                  <a:t>				[</a:t>
                </a:r>
                <a:r>
                  <a:rPr lang="en-US" dirty="0"/>
                  <a:t>𝑓</a:t>
                </a:r>
                <a:r>
                  <a:rPr lang="en-US" baseline="-25000" dirty="0"/>
                  <a:t>𝑔</a:t>
                </a:r>
                <a:r>
                  <a:rPr lang="en-US" dirty="0"/>
                  <a:t>(𝑡</a:t>
                </a:r>
                <a:r>
                  <a:rPr lang="en-US" dirty="0" smtClean="0"/>
                  <a:t>), </a:t>
                </a:r>
                <a:r>
                  <a:rPr lang="en-US" dirty="0"/>
                  <a:t>𝑓</a:t>
                </a:r>
                <a:r>
                  <a:rPr lang="en-US" baseline="-25000" dirty="0"/>
                  <a:t>𝜆</a:t>
                </a:r>
                <a:r>
                  <a:rPr lang="en-US" dirty="0"/>
                  <a:t>(𝑡</a:t>
                </a:r>
                <a:r>
                  <a:rPr lang="en-US" dirty="0" smtClean="0"/>
                  <a:t>)]</a:t>
                </a:r>
              </a:p>
              <a:p>
                <a:pPr lvl="1" indent="-457200">
                  <a:buSzPts val="3200"/>
                </a:pPr>
                <a:r>
                  <a:rPr lang="en-US" dirty="0" smtClean="0"/>
                  <a:t>Fourier </a:t>
                </a:r>
                <a:r>
                  <a:rPr lang="en-US" dirty="0"/>
                  <a:t>time embedding/features</a:t>
                </a:r>
              </a:p>
              <a:p>
                <a:pPr marL="914400" lvl="2" indent="0">
                  <a:buSzPts val="3200"/>
                  <a:buNone/>
                </a:pPr>
                <a:r>
                  <a:rPr lang="en-US" sz="2400" dirty="0"/>
                  <a:t>	ϕ(t)  = [sin(ω</a:t>
                </a:r>
                <a:r>
                  <a:rPr lang="en-US" sz="2400" baseline="-25000" dirty="0"/>
                  <a:t>1</a:t>
                </a:r>
                <a:r>
                  <a:rPr lang="en-US" sz="2400" dirty="0"/>
                  <a:t>​t),</a:t>
                </a:r>
                <a:r>
                  <a:rPr lang="en-US" sz="2400" dirty="0" err="1"/>
                  <a:t>cos</a:t>
                </a:r>
                <a:r>
                  <a:rPr lang="en-US" sz="2400" dirty="0"/>
                  <a:t>(ω</a:t>
                </a:r>
                <a:r>
                  <a:rPr lang="en-US" sz="2400" baseline="-25000" dirty="0"/>
                  <a:t>1</a:t>
                </a:r>
                <a:r>
                  <a:rPr lang="en-US" sz="2400" dirty="0"/>
                  <a:t>​t),sin(ω</a:t>
                </a:r>
                <a:r>
                  <a:rPr lang="en-US" sz="2400" baseline="-25000" dirty="0"/>
                  <a:t>2</a:t>
                </a:r>
                <a:r>
                  <a:rPr lang="en-US" sz="2400" dirty="0"/>
                  <a:t>​t),</a:t>
                </a:r>
                <a:r>
                  <a:rPr lang="en-US" sz="2400" dirty="0" err="1"/>
                  <a:t>cos</a:t>
                </a:r>
                <a:r>
                  <a:rPr lang="en-US" sz="2400" dirty="0"/>
                  <a:t>(ω</a:t>
                </a:r>
                <a:r>
                  <a:rPr lang="en-US" sz="2400" baseline="-25000" dirty="0"/>
                  <a:t>2​</a:t>
                </a:r>
                <a:r>
                  <a:rPr lang="en-US" sz="2400" dirty="0"/>
                  <a:t>t),… sin(</a:t>
                </a:r>
                <a:r>
                  <a:rPr lang="en-US" sz="2400" dirty="0" err="1"/>
                  <a:t>ω</a:t>
                </a:r>
                <a:r>
                  <a:rPr lang="en-US" sz="2400" baseline="-25000" dirty="0" err="1"/>
                  <a:t>k</a:t>
                </a:r>
                <a:r>
                  <a:rPr lang="en-US" sz="2400" dirty="0" err="1"/>
                  <a:t>t</a:t>
                </a:r>
                <a:r>
                  <a:rPr lang="en-US" sz="2400" dirty="0"/>
                  <a:t>), </a:t>
                </a:r>
                <a:r>
                  <a:rPr lang="en-US" sz="2400" dirty="0" err="1"/>
                  <a:t>cos</a:t>
                </a:r>
                <a:r>
                  <a:rPr lang="en-US" sz="2400" dirty="0"/>
                  <a:t>(</a:t>
                </a:r>
                <a:r>
                  <a:rPr lang="en-US" sz="2400" dirty="0" err="1"/>
                  <a:t>ω</a:t>
                </a:r>
                <a:r>
                  <a:rPr lang="en-US" sz="2400" baseline="-25000" dirty="0" err="1"/>
                  <a:t>k</a:t>
                </a:r>
                <a:r>
                  <a:rPr lang="en-US" sz="2400" dirty="0" err="1"/>
                  <a:t>t</a:t>
                </a:r>
                <a:r>
                  <a:rPr lang="en-US" sz="2400" dirty="0" smtClean="0"/>
                  <a:t>)]</a:t>
                </a:r>
                <a:endParaRPr lang="en-US" u="sng" dirty="0" smtClean="0"/>
              </a:p>
            </p:txBody>
          </p:sp>
        </mc:Choice>
        <mc:Fallback xmlns="">
          <p:sp>
            <p:nvSpPr>
              <p:cNvPr id="105" name="Google Shape;105;p2"/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4294967295"/>
              </p:nvPr>
            </p:nvSpPr>
            <p:spPr>
              <a:xfrm>
                <a:off x="455999" y="2178768"/>
                <a:ext cx="11385933" cy="4520796"/>
              </a:xfrm>
              <a:prstGeom prst="rect">
                <a:avLst/>
              </a:prstGeom>
              <a:blipFill rotWithShape="0">
                <a:blip r:embed="rId3"/>
                <a:stretch>
                  <a:fillRect l="-1231" t="-13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402547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"/>
          <p:cNvSpPr txBox="1">
            <a:spLocks noGrp="1"/>
          </p:cNvSpPr>
          <p:nvPr>
            <p:ph type="title"/>
          </p:nvPr>
        </p:nvSpPr>
        <p:spPr>
          <a:xfrm>
            <a:off x="456000" y="1142356"/>
            <a:ext cx="11736000" cy="11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</a:pPr>
            <a:r>
              <a:rPr lang="en-US" dirty="0" smtClean="0"/>
              <a:t>Residual MARL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5" name="Google Shape;105;p2"/>
              <p:cNvSpPr txBox="1">
                <a:spLocks noGrp="1"/>
              </p:cNvSpPr>
              <p:nvPr>
                <p:ph type="body" idx="4294967295"/>
              </p:nvPr>
            </p:nvSpPr>
            <p:spPr>
              <a:xfrm>
                <a:off x="456000" y="2013398"/>
                <a:ext cx="11385933" cy="48446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rmAutofit lnSpcReduction="10000"/>
              </a:bodyPr>
              <a:lstStyle/>
              <a:p>
                <a:pPr indent="-457200">
                  <a:buSzPts val="3200"/>
                </a:pPr>
                <a:r>
                  <a:rPr lang="en-US" dirty="0" smtClean="0"/>
                  <a:t>Observation Space (Augmented) </a:t>
                </a:r>
                <a:r>
                  <a:rPr lang="en-US" dirty="0"/>
                  <a:t>∈ </a:t>
                </a:r>
                <a:r>
                  <a:rPr lang="en-US" dirty="0" smtClean="0"/>
                  <a:t>R</a:t>
                </a:r>
                <a:r>
                  <a:rPr lang="en-US" baseline="30000" dirty="0" smtClean="0"/>
                  <a:t>98</a:t>
                </a:r>
                <a:r>
                  <a:rPr lang="en-US" dirty="0" smtClean="0"/>
                  <a:t> :</a:t>
                </a:r>
              </a:p>
              <a:p>
                <a:pPr indent="-457200">
                  <a:buSzPts val="3200"/>
                </a:pPr>
                <a:r>
                  <a:rPr lang="en-US" sz="2400" dirty="0"/>
                  <a:t>Original Observation Space in addition to: </a:t>
                </a:r>
              </a:p>
              <a:p>
                <a:pPr lvl="1" indent="-457200">
                  <a:buSzPts val="3200"/>
                </a:pPr>
                <a:r>
                  <a:rPr lang="en-US" dirty="0"/>
                  <a:t>The last two measured load states ∈ R</a:t>
                </a:r>
                <a:r>
                  <a:rPr lang="en-US" baseline="30000" dirty="0"/>
                  <a:t>24</a:t>
                </a:r>
                <a:endParaRPr lang="en-US" baseline="-25000" dirty="0"/>
              </a:p>
              <a:p>
                <a:pPr marL="457200" lvl="1" indent="0">
                  <a:buSzPts val="3200"/>
                  <a:buNone/>
                </a:pPr>
                <a:r>
                  <a:rPr lang="en-US" dirty="0"/>
                  <a:t>				[</a:t>
                </a:r>
                <a:r>
                  <a:rPr lang="en-US" dirty="0" err="1"/>
                  <a:t>p</a:t>
                </a:r>
                <a:r>
                  <a:rPr lang="en-US" baseline="-25000" dirty="0" err="1"/>
                  <a:t>L</a:t>
                </a:r>
                <a:r>
                  <a:rPr lang="en-US" dirty="0"/>
                  <a:t>(t-1), R</a:t>
                </a:r>
                <a:r>
                  <a:rPr lang="en-US" baseline="-25000" dirty="0"/>
                  <a:t>L</a:t>
                </a:r>
                <a:r>
                  <a:rPr lang="en-US" dirty="0"/>
                  <a:t>(t-1), 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/>
                      <m:t>p</m:t>
                    </m:r>
                    <m:r>
                      <m:rPr>
                        <m:nor/>
                      </m:rPr>
                      <a:rPr lang="en-US"/>
                      <m:t>̇</m:t>
                    </m:r>
                  </m:oMath>
                </a14:m>
                <a:r>
                  <a:rPr lang="en-US" baseline="-25000" dirty="0"/>
                  <a:t>L</a:t>
                </a:r>
                <a:r>
                  <a:rPr lang="en-US" dirty="0"/>
                  <a:t>(t-1),  </a:t>
                </a:r>
                <a:r>
                  <a:rPr lang="en-US" dirty="0" err="1"/>
                  <a:t>ω</a:t>
                </a:r>
                <a:r>
                  <a:rPr lang="en-US" baseline="-25000" dirty="0" err="1"/>
                  <a:t>L</a:t>
                </a:r>
                <a:r>
                  <a:rPr lang="en-US" dirty="0"/>
                  <a:t>(t-1)]</a:t>
                </a:r>
                <a:endParaRPr lang="en-US" baseline="-25000" dirty="0"/>
              </a:p>
              <a:p>
                <a:pPr marL="457200" lvl="1" indent="0">
                  <a:buSzPts val="3200"/>
                  <a:buNone/>
                </a:pPr>
                <a:r>
                  <a:rPr lang="en-US" dirty="0"/>
                  <a:t>				[</a:t>
                </a:r>
                <a:r>
                  <a:rPr lang="en-US" dirty="0" err="1"/>
                  <a:t>p</a:t>
                </a:r>
                <a:r>
                  <a:rPr lang="en-US" baseline="-25000" dirty="0" err="1"/>
                  <a:t>L</a:t>
                </a:r>
                <a:r>
                  <a:rPr lang="en-US" dirty="0"/>
                  <a:t>(t-2), R</a:t>
                </a:r>
                <a:r>
                  <a:rPr lang="en-US" baseline="-25000" dirty="0"/>
                  <a:t>L</a:t>
                </a:r>
                <a:r>
                  <a:rPr lang="en-US" dirty="0"/>
                  <a:t>(t-2), 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/>
                      <m:t>p</m:t>
                    </m:r>
                    <m:r>
                      <m:rPr>
                        <m:nor/>
                      </m:rPr>
                      <a:rPr lang="en-US"/>
                      <m:t>̇</m:t>
                    </m:r>
                  </m:oMath>
                </a14:m>
                <a:r>
                  <a:rPr lang="en-US" baseline="-25000" dirty="0"/>
                  <a:t>L</a:t>
                </a:r>
                <a:r>
                  <a:rPr lang="en-US" dirty="0"/>
                  <a:t>(t-2),  </a:t>
                </a:r>
                <a:r>
                  <a:rPr lang="en-US" dirty="0" err="1"/>
                  <a:t>ω</a:t>
                </a:r>
                <a:r>
                  <a:rPr lang="en-US" baseline="-25000" dirty="0" err="1"/>
                  <a:t>L</a:t>
                </a:r>
                <a:r>
                  <a:rPr lang="en-US" dirty="0"/>
                  <a:t>(t-2)]</a:t>
                </a:r>
              </a:p>
              <a:p>
                <a:pPr lvl="1" indent="-457200">
                  <a:buSzPts val="3200"/>
                </a:pPr>
                <a:r>
                  <a:rPr lang="en-US" dirty="0"/>
                  <a:t>The last two own carrier position and velocity ∈ R</a:t>
                </a:r>
                <a:r>
                  <a:rPr lang="en-US" baseline="30000" dirty="0"/>
                  <a:t>12</a:t>
                </a:r>
              </a:p>
              <a:p>
                <a:pPr marL="457200" lvl="1" indent="0">
                  <a:buSzPts val="3200"/>
                  <a:buNone/>
                </a:pPr>
                <a:r>
                  <a:rPr lang="en-US" dirty="0"/>
                  <a:t>					  [</a:t>
                </a:r>
                <a:r>
                  <a:rPr lang="en-US" dirty="0" err="1"/>
                  <a:t>p</a:t>
                </a:r>
                <a:r>
                  <a:rPr lang="en-US" baseline="-25000" dirty="0" err="1"/>
                  <a:t>R</a:t>
                </a:r>
                <a:r>
                  <a:rPr lang="en-US" dirty="0"/>
                  <a:t>(t-1),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/>
                      <m:t>p</m:t>
                    </m:r>
                    <m:r>
                      <m:rPr>
                        <m:nor/>
                      </m:rPr>
                      <a:rPr lang="en-US"/>
                      <m:t>̇</m:t>
                    </m:r>
                    <m:r>
                      <m:rPr>
                        <m:nor/>
                      </m:rPr>
                      <a:rPr lang="en-US" baseline="-25000"/>
                      <m:t>R</m:t>
                    </m:r>
                  </m:oMath>
                </a14:m>
                <a:r>
                  <a:rPr lang="en-US" dirty="0"/>
                  <a:t>(t-1)]</a:t>
                </a:r>
              </a:p>
              <a:p>
                <a:pPr marL="457200" lvl="1" indent="0">
                  <a:buSzPts val="3200"/>
                  <a:buNone/>
                </a:pPr>
                <a:r>
                  <a:rPr lang="en-US" dirty="0"/>
                  <a:t>					  [</a:t>
                </a:r>
                <a:r>
                  <a:rPr lang="en-US" dirty="0" err="1"/>
                  <a:t>p</a:t>
                </a:r>
                <a:r>
                  <a:rPr lang="en-US" baseline="-25000" dirty="0" err="1"/>
                  <a:t>R</a:t>
                </a:r>
                <a:r>
                  <a:rPr lang="en-US" dirty="0"/>
                  <a:t>(t-2),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/>
                      <m:t>p</m:t>
                    </m:r>
                    <m:r>
                      <m:rPr>
                        <m:nor/>
                      </m:rPr>
                      <a:rPr lang="en-US"/>
                      <m:t>̇</m:t>
                    </m:r>
                    <m:r>
                      <m:rPr>
                        <m:nor/>
                      </m:rPr>
                      <a:rPr lang="en-US" baseline="-25000"/>
                      <m:t>R</m:t>
                    </m:r>
                  </m:oMath>
                </a14:m>
                <a:r>
                  <a:rPr lang="en-US" dirty="0"/>
                  <a:t>(t-2)]</a:t>
                </a:r>
              </a:p>
              <a:p>
                <a:pPr lvl="1" indent="-457200">
                  <a:buSzPts val="3200"/>
                </a:pPr>
                <a:r>
                  <a:rPr lang="en-US" dirty="0"/>
                  <a:t>Reference load state at current time ∈ R</a:t>
                </a:r>
                <a:r>
                  <a:rPr lang="en-US" baseline="30000" dirty="0"/>
                  <a:t>18</a:t>
                </a:r>
                <a:r>
                  <a:rPr lang="en-US" dirty="0"/>
                  <a:t> </a:t>
                </a:r>
              </a:p>
              <a:p>
                <a:pPr marL="457200" lvl="1" indent="0">
                  <a:buSzPts val="3200"/>
                  <a:buNone/>
                </a:pPr>
                <a:r>
                  <a:rPr lang="en-US" dirty="0"/>
                  <a:t>				[</a:t>
                </a:r>
                <a:r>
                  <a:rPr lang="en-US" dirty="0" err="1"/>
                  <a:t>p</a:t>
                </a:r>
                <a:r>
                  <a:rPr lang="en-US" baseline="-25000" dirty="0" err="1"/>
                  <a:t>Ld</a:t>
                </a:r>
                <a:r>
                  <a:rPr lang="en-US" dirty="0"/>
                  <a:t>(t), </a:t>
                </a:r>
                <a:r>
                  <a:rPr lang="en-US" dirty="0" err="1"/>
                  <a:t>R</a:t>
                </a:r>
                <a:r>
                  <a:rPr lang="en-US" baseline="-25000" dirty="0" err="1"/>
                  <a:t>Ld</a:t>
                </a:r>
                <a:r>
                  <a:rPr lang="en-US" dirty="0"/>
                  <a:t>(t), 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/>
                      <m:t>p</m:t>
                    </m:r>
                    <m:r>
                      <m:rPr>
                        <m:nor/>
                      </m:rPr>
                      <a:rPr lang="en-US"/>
                      <m:t>̇</m:t>
                    </m:r>
                  </m:oMath>
                </a14:m>
                <a:r>
                  <a:rPr lang="en-US" baseline="-25000" dirty="0" err="1"/>
                  <a:t>Ld</a:t>
                </a:r>
                <a:r>
                  <a:rPr lang="en-US" dirty="0"/>
                  <a:t>(t),  </a:t>
                </a:r>
                <a:r>
                  <a:rPr lang="en-US" dirty="0" err="1"/>
                  <a:t>ω</a:t>
                </a:r>
                <a:r>
                  <a:rPr lang="en-US" baseline="-25000" dirty="0" err="1"/>
                  <a:t>Ld</a:t>
                </a:r>
                <a:r>
                  <a:rPr lang="en-US" dirty="0"/>
                  <a:t>(t)]</a:t>
                </a:r>
              </a:p>
              <a:p>
                <a:pPr indent="-457200">
                  <a:buSzPts val="3200"/>
                </a:pPr>
                <a:endParaRPr lang="en-US" sz="2400" dirty="0"/>
              </a:p>
              <a:p>
                <a:pPr indent="-457200">
                  <a:buSzPts val="3200"/>
                </a:pPr>
                <a:r>
                  <a:rPr lang="en-US" sz="2400" dirty="0" smtClean="0"/>
                  <a:t>Did not lead to an improvement</a:t>
                </a:r>
                <a:endParaRPr lang="en-US" dirty="0" smtClean="0"/>
              </a:p>
            </p:txBody>
          </p:sp>
        </mc:Choice>
        <mc:Fallback xmlns="">
          <p:sp>
            <p:nvSpPr>
              <p:cNvPr id="105" name="Google Shape;105;p2"/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4294967295"/>
              </p:nvPr>
            </p:nvSpPr>
            <p:spPr>
              <a:xfrm>
                <a:off x="456000" y="2013398"/>
                <a:ext cx="11385933" cy="4844602"/>
              </a:xfrm>
              <a:prstGeom prst="rect">
                <a:avLst/>
              </a:prstGeom>
              <a:blipFill rotWithShape="0">
                <a:blip r:embed="rId3"/>
                <a:stretch>
                  <a:fillRect l="-1231" t="-1006" b="-503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247079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"/>
          <p:cNvSpPr txBox="1">
            <a:spLocks noGrp="1"/>
          </p:cNvSpPr>
          <p:nvPr>
            <p:ph type="title"/>
          </p:nvPr>
        </p:nvSpPr>
        <p:spPr>
          <a:xfrm>
            <a:off x="456000" y="1142356"/>
            <a:ext cx="11736000" cy="11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</a:pPr>
            <a:r>
              <a:rPr lang="en-US" dirty="0" smtClean="0"/>
              <a:t>Residual MARL</a:t>
            </a:r>
            <a:endParaRPr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5" name="Google Shape;105;p2"/>
              <p:cNvSpPr txBox="1">
                <a:spLocks noGrp="1"/>
              </p:cNvSpPr>
              <p:nvPr>
                <p:ph type="body" idx="4294967295"/>
              </p:nvPr>
            </p:nvSpPr>
            <p:spPr>
              <a:xfrm>
                <a:off x="456000" y="2013398"/>
                <a:ext cx="11385933" cy="48446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rmAutofit fontScale="92500" lnSpcReduction="10000"/>
              </a:bodyPr>
              <a:lstStyle/>
              <a:p>
                <a:pPr indent="-457200">
                  <a:buSzPts val="3200"/>
                </a:pPr>
                <a:r>
                  <a:rPr lang="en-US" dirty="0" smtClean="0"/>
                  <a:t>Critic state </a:t>
                </a:r>
                <a:r>
                  <a:rPr lang="en-US" dirty="0"/>
                  <a:t>∈ </a:t>
                </a:r>
                <a:r>
                  <a:rPr lang="en-US" dirty="0" smtClean="0"/>
                  <a:t>R</a:t>
                </a:r>
                <a:r>
                  <a:rPr lang="en-US" baseline="30000" dirty="0" smtClean="0"/>
                  <a:t>76</a:t>
                </a:r>
                <a:endParaRPr lang="en-US" dirty="0" smtClean="0"/>
              </a:p>
              <a:p>
                <a:pPr lvl="1" indent="-457200">
                  <a:buSzPts val="3200"/>
                </a:pPr>
                <a:r>
                  <a:rPr lang="en-US" dirty="0" smtClean="0"/>
                  <a:t>True </a:t>
                </a:r>
                <a:r>
                  <a:rPr lang="en-US" dirty="0"/>
                  <a:t>load state ∈ R</a:t>
                </a:r>
                <a:r>
                  <a:rPr lang="en-US" baseline="30000" dirty="0"/>
                  <a:t>18</a:t>
                </a:r>
                <a:r>
                  <a:rPr lang="en-US" dirty="0"/>
                  <a:t> </a:t>
                </a:r>
              </a:p>
              <a:p>
                <a:pPr marL="457200" lvl="1" indent="0">
                  <a:buSzPts val="3200"/>
                  <a:buNone/>
                </a:pPr>
                <a:r>
                  <a:rPr lang="en-US" dirty="0"/>
                  <a:t>				[</a:t>
                </a:r>
                <a:r>
                  <a:rPr lang="en-US" dirty="0" err="1"/>
                  <a:t>p</a:t>
                </a:r>
                <a:r>
                  <a:rPr lang="en-US" baseline="-25000" dirty="0" err="1"/>
                  <a:t>L</a:t>
                </a:r>
                <a:r>
                  <a:rPr lang="en-US" dirty="0"/>
                  <a:t>(t), R</a:t>
                </a:r>
                <a:r>
                  <a:rPr lang="en-US" baseline="-25000" dirty="0"/>
                  <a:t>L</a:t>
                </a:r>
                <a:r>
                  <a:rPr lang="en-US" dirty="0"/>
                  <a:t>(t), 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/>
                      <m:t>p</m:t>
                    </m:r>
                    <m:r>
                      <m:rPr>
                        <m:nor/>
                      </m:rPr>
                      <a:rPr lang="en-US"/>
                      <m:t>̇</m:t>
                    </m:r>
                  </m:oMath>
                </a14:m>
                <a:r>
                  <a:rPr lang="en-US" baseline="-25000" dirty="0"/>
                  <a:t>L</a:t>
                </a:r>
                <a:r>
                  <a:rPr lang="en-US" dirty="0"/>
                  <a:t>(t),  </a:t>
                </a:r>
                <a:r>
                  <a:rPr lang="en-US" dirty="0" err="1"/>
                  <a:t>ω</a:t>
                </a:r>
                <a:r>
                  <a:rPr lang="en-US" baseline="-25000" dirty="0" err="1"/>
                  <a:t>L</a:t>
                </a:r>
                <a:r>
                  <a:rPr lang="en-US" dirty="0"/>
                  <a:t>(t)]</a:t>
                </a:r>
                <a:endParaRPr lang="en-US" baseline="-25000" dirty="0"/>
              </a:p>
              <a:p>
                <a:pPr lvl="1" indent="-457200">
                  <a:buSzPts val="3200"/>
                </a:pPr>
                <a:r>
                  <a:rPr lang="en-US" dirty="0"/>
                  <a:t>All carriers’ positions ∈ R</a:t>
                </a:r>
                <a:r>
                  <a:rPr lang="en-US" baseline="30000" dirty="0"/>
                  <a:t>12</a:t>
                </a:r>
                <a:r>
                  <a:rPr lang="en-US" dirty="0"/>
                  <a:t> </a:t>
                </a:r>
              </a:p>
              <a:p>
                <a:pPr marL="457200" lvl="1" indent="0">
                  <a:buSzPts val="3200"/>
                  <a:buNone/>
                </a:pPr>
                <a:r>
                  <a:rPr lang="en-US" dirty="0"/>
                  <a:t>				 [p</a:t>
                </a:r>
                <a:r>
                  <a:rPr lang="en-US" baseline="-25000" dirty="0"/>
                  <a:t>R1</a:t>
                </a:r>
                <a:r>
                  <a:rPr lang="en-US" dirty="0"/>
                  <a:t>(t), p</a:t>
                </a:r>
                <a:r>
                  <a:rPr lang="en-US" baseline="-25000" dirty="0"/>
                  <a:t>R2</a:t>
                </a:r>
                <a:r>
                  <a:rPr lang="en-US" dirty="0"/>
                  <a:t>(t), p</a:t>
                </a:r>
                <a:r>
                  <a:rPr lang="en-US" baseline="-25000" dirty="0"/>
                  <a:t>R3</a:t>
                </a:r>
                <a:r>
                  <a:rPr lang="en-US" dirty="0"/>
                  <a:t>(t), p</a:t>
                </a:r>
                <a:r>
                  <a:rPr lang="en-US" baseline="-25000" dirty="0"/>
                  <a:t>R4</a:t>
                </a:r>
                <a:r>
                  <a:rPr lang="en-US" dirty="0"/>
                  <a:t>(t</a:t>
                </a:r>
                <a:r>
                  <a:rPr lang="en-US" dirty="0" smtClean="0"/>
                  <a:t>)]</a:t>
                </a:r>
              </a:p>
              <a:p>
                <a:pPr lvl="1" indent="-457200">
                  <a:buSzPts val="3200"/>
                </a:pPr>
                <a:r>
                  <a:rPr lang="en-US" dirty="0"/>
                  <a:t>All carriers’ velocities ∈ R</a:t>
                </a:r>
                <a:r>
                  <a:rPr lang="en-US" baseline="30000" dirty="0"/>
                  <a:t>12</a:t>
                </a:r>
                <a:r>
                  <a:rPr lang="en-US" dirty="0"/>
                  <a:t> </a:t>
                </a:r>
              </a:p>
              <a:p>
                <a:pPr marL="457200" lvl="1" indent="0">
                  <a:buSzPts val="3200"/>
                  <a:buNone/>
                </a:pPr>
                <a:r>
                  <a:rPr lang="en-US" dirty="0"/>
                  <a:t>				 [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/>
                      <m:t>p</m:t>
                    </m:r>
                    <m:r>
                      <m:rPr>
                        <m:nor/>
                      </m:rPr>
                      <a:rPr lang="en-US"/>
                      <m:t>̇</m:t>
                    </m:r>
                    <m:r>
                      <m:rPr>
                        <m:nor/>
                      </m:rPr>
                      <a:rPr lang="en-US" baseline="-25000"/>
                      <m:t>R</m:t>
                    </m:r>
                    <m:r>
                      <m:rPr>
                        <m:nor/>
                      </m:rPr>
                      <a:rPr lang="en-US" baseline="-25000"/>
                      <m:t>1</m:t>
                    </m:r>
                  </m:oMath>
                </a14:m>
                <a:r>
                  <a:rPr lang="en-US" dirty="0"/>
                  <a:t>(t),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/>
                      <m:t>p</m:t>
                    </m:r>
                    <m:r>
                      <m:rPr>
                        <m:nor/>
                      </m:rPr>
                      <a:rPr lang="en-US"/>
                      <m:t>̇</m:t>
                    </m:r>
                    <m:r>
                      <m:rPr>
                        <m:nor/>
                      </m:rPr>
                      <a:rPr lang="en-US" baseline="-25000"/>
                      <m:t>R</m:t>
                    </m:r>
                    <m:r>
                      <m:rPr>
                        <m:nor/>
                      </m:rPr>
                      <a:rPr lang="en-US" baseline="-25000"/>
                      <m:t>2</m:t>
                    </m:r>
                  </m:oMath>
                </a14:m>
                <a:r>
                  <a:rPr lang="en-US" dirty="0"/>
                  <a:t>(t),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/>
                      <m:t>p</m:t>
                    </m:r>
                    <m:r>
                      <m:rPr>
                        <m:nor/>
                      </m:rPr>
                      <a:rPr lang="en-US"/>
                      <m:t>̇</m:t>
                    </m:r>
                    <m:r>
                      <m:rPr>
                        <m:nor/>
                      </m:rPr>
                      <a:rPr lang="en-US" baseline="-25000"/>
                      <m:t>R</m:t>
                    </m:r>
                    <m:r>
                      <m:rPr>
                        <m:nor/>
                      </m:rPr>
                      <a:rPr lang="en-US" baseline="-25000"/>
                      <m:t>3</m:t>
                    </m:r>
                  </m:oMath>
                </a14:m>
                <a:r>
                  <a:rPr lang="en-US" dirty="0"/>
                  <a:t>(t),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/>
                      <m:t>p</m:t>
                    </m:r>
                    <m:r>
                      <m:rPr>
                        <m:nor/>
                      </m:rPr>
                      <a:rPr lang="en-US"/>
                      <m:t>̇</m:t>
                    </m:r>
                    <m:r>
                      <m:rPr>
                        <m:nor/>
                      </m:rPr>
                      <a:rPr lang="en-US" baseline="-25000"/>
                      <m:t>R</m:t>
                    </m:r>
                    <m:r>
                      <m:rPr>
                        <m:nor/>
                      </m:rPr>
                      <a:rPr lang="en-US" baseline="-25000"/>
                      <m:t>4</m:t>
                    </m:r>
                  </m:oMath>
                </a14:m>
                <a:r>
                  <a:rPr lang="en-US" dirty="0"/>
                  <a:t>(t</a:t>
                </a:r>
                <a:r>
                  <a:rPr lang="en-US" dirty="0" smtClean="0"/>
                  <a:t>)]</a:t>
                </a:r>
              </a:p>
              <a:p>
                <a:pPr lvl="1" indent="-457200">
                  <a:buSzPts val="3200"/>
                </a:pPr>
                <a:r>
                  <a:rPr lang="en-US" dirty="0" smtClean="0"/>
                  <a:t>Expert-generated carrier position </a:t>
                </a:r>
                <a:r>
                  <a:rPr lang="en-US" dirty="0"/>
                  <a:t>∈ </a:t>
                </a:r>
                <a:r>
                  <a:rPr lang="en-US" dirty="0" smtClean="0"/>
                  <a:t>R</a:t>
                </a:r>
                <a:r>
                  <a:rPr lang="en-US" baseline="30000" dirty="0" smtClean="0"/>
                  <a:t>12</a:t>
                </a:r>
                <a:r>
                  <a:rPr lang="en-US" dirty="0" smtClean="0"/>
                  <a:t> </a:t>
                </a:r>
                <a:endParaRPr lang="en-US" dirty="0"/>
              </a:p>
              <a:p>
                <a:pPr marL="457200" lvl="1" indent="0">
                  <a:buSzPts val="3200"/>
                  <a:buNone/>
                </a:pPr>
                <a:r>
                  <a:rPr lang="en-US" dirty="0"/>
                  <a:t>				[</a:t>
                </a:r>
                <a:r>
                  <a:rPr lang="en-US" dirty="0" smtClean="0"/>
                  <a:t>p</a:t>
                </a:r>
                <a:r>
                  <a:rPr lang="en-US" baseline="-25000" dirty="0" smtClean="0"/>
                  <a:t>Re1</a:t>
                </a:r>
                <a:r>
                  <a:rPr lang="en-US" dirty="0" smtClean="0"/>
                  <a:t>(t</a:t>
                </a:r>
                <a:r>
                  <a:rPr lang="en-US" dirty="0"/>
                  <a:t>), </a:t>
                </a:r>
                <a:r>
                  <a:rPr lang="en-US" dirty="0" smtClean="0"/>
                  <a:t>p</a:t>
                </a:r>
                <a:r>
                  <a:rPr lang="en-US" baseline="-25000" dirty="0" smtClean="0"/>
                  <a:t>Re2</a:t>
                </a:r>
                <a:r>
                  <a:rPr lang="en-US" dirty="0" smtClean="0"/>
                  <a:t>(t</a:t>
                </a:r>
                <a:r>
                  <a:rPr lang="en-US" dirty="0"/>
                  <a:t>), </a:t>
                </a:r>
                <a:r>
                  <a:rPr lang="en-US" dirty="0" smtClean="0"/>
                  <a:t>p</a:t>
                </a:r>
                <a:r>
                  <a:rPr lang="en-US" baseline="-25000" dirty="0" smtClean="0"/>
                  <a:t>Re3</a:t>
                </a:r>
                <a:r>
                  <a:rPr lang="en-US" dirty="0" smtClean="0"/>
                  <a:t>(t</a:t>
                </a:r>
                <a:r>
                  <a:rPr lang="en-US" dirty="0"/>
                  <a:t>), </a:t>
                </a:r>
                <a:r>
                  <a:rPr lang="en-US" dirty="0" smtClean="0"/>
                  <a:t>p</a:t>
                </a:r>
                <a:r>
                  <a:rPr lang="en-US" baseline="-25000" dirty="0" smtClean="0"/>
                  <a:t>Re4</a:t>
                </a:r>
                <a:r>
                  <a:rPr lang="en-US" dirty="0" smtClean="0"/>
                  <a:t>(t</a:t>
                </a:r>
                <a:r>
                  <a:rPr lang="en-US" dirty="0"/>
                  <a:t>)]</a:t>
                </a:r>
              </a:p>
              <a:p>
                <a:pPr lvl="1" indent="-457200">
                  <a:buSzPts val="3200"/>
                </a:pPr>
                <a:r>
                  <a:rPr lang="en-US" dirty="0"/>
                  <a:t>Reference load state at current time ∈ R</a:t>
                </a:r>
                <a:r>
                  <a:rPr lang="en-US" baseline="30000" dirty="0"/>
                  <a:t>18</a:t>
                </a:r>
                <a:r>
                  <a:rPr lang="en-US" dirty="0"/>
                  <a:t> </a:t>
                </a:r>
              </a:p>
              <a:p>
                <a:pPr marL="457200" lvl="1" indent="0">
                  <a:buSzPts val="3200"/>
                  <a:buNone/>
                </a:pPr>
                <a:r>
                  <a:rPr lang="en-US" dirty="0"/>
                  <a:t>				[</a:t>
                </a:r>
                <a:r>
                  <a:rPr lang="en-US" dirty="0" err="1"/>
                  <a:t>p</a:t>
                </a:r>
                <a:r>
                  <a:rPr lang="en-US" baseline="-25000" dirty="0" err="1"/>
                  <a:t>Ld</a:t>
                </a:r>
                <a:r>
                  <a:rPr lang="en-US" dirty="0"/>
                  <a:t>(t), </a:t>
                </a:r>
                <a:r>
                  <a:rPr lang="en-US" dirty="0" err="1"/>
                  <a:t>R</a:t>
                </a:r>
                <a:r>
                  <a:rPr lang="en-US" baseline="-25000" dirty="0" err="1"/>
                  <a:t>Ld</a:t>
                </a:r>
                <a:r>
                  <a:rPr lang="en-US" dirty="0"/>
                  <a:t>(t), 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/>
                      <m:t>p</m:t>
                    </m:r>
                    <m:r>
                      <m:rPr>
                        <m:nor/>
                      </m:rPr>
                      <a:rPr lang="en-US"/>
                      <m:t>̇</m:t>
                    </m:r>
                  </m:oMath>
                </a14:m>
                <a:r>
                  <a:rPr lang="en-US" baseline="-25000" dirty="0" err="1"/>
                  <a:t>Ld</a:t>
                </a:r>
                <a:r>
                  <a:rPr lang="en-US" dirty="0"/>
                  <a:t>(t),  </a:t>
                </a:r>
                <a:r>
                  <a:rPr lang="en-US" dirty="0" err="1"/>
                  <a:t>ω</a:t>
                </a:r>
                <a:r>
                  <a:rPr lang="en-US" baseline="-25000" dirty="0" err="1"/>
                  <a:t>Ld</a:t>
                </a:r>
                <a:r>
                  <a:rPr lang="en-US" dirty="0"/>
                  <a:t>(t</a:t>
                </a:r>
                <a:r>
                  <a:rPr lang="en-US" dirty="0" smtClean="0"/>
                  <a:t>)]</a:t>
                </a:r>
                <a:endParaRPr lang="en-US" dirty="0" smtClean="0"/>
              </a:p>
              <a:p>
                <a:pPr lvl="1" indent="-457200">
                  <a:buSzPts val="3200"/>
                </a:pPr>
                <a:r>
                  <a:rPr lang="en-US" dirty="0" smtClean="0"/>
                  <a:t>Delay </a:t>
                </a:r>
                <a:r>
                  <a:rPr lang="en-US" dirty="0" smtClean="0"/>
                  <a:t>of each carrier load measurement </a:t>
                </a:r>
                <a:r>
                  <a:rPr lang="en-US" dirty="0"/>
                  <a:t>∈ </a:t>
                </a:r>
                <a:r>
                  <a:rPr lang="en-US" dirty="0" smtClean="0"/>
                  <a:t>R</a:t>
                </a:r>
                <a:r>
                  <a:rPr lang="en-US" baseline="30000" dirty="0"/>
                  <a:t>4</a:t>
                </a:r>
                <a:endParaRPr lang="en-US" dirty="0" smtClean="0"/>
              </a:p>
              <a:p>
                <a:pPr marL="457200" lvl="1" indent="0">
                  <a:buSzPts val="3200"/>
                  <a:buNone/>
                </a:pPr>
                <a:r>
                  <a:rPr lang="en-US" dirty="0"/>
                  <a:t>	</a:t>
                </a:r>
                <a:r>
                  <a:rPr lang="en-US" dirty="0" smtClean="0"/>
                  <a:t>				[</a:t>
                </a:r>
                <a:r>
                  <a:rPr lang="en-US" dirty="0" smtClean="0"/>
                  <a:t>d</a:t>
                </a:r>
                <a:r>
                  <a:rPr lang="en-US" baseline="-25000" dirty="0" smtClean="0"/>
                  <a:t>1</a:t>
                </a:r>
                <a:r>
                  <a:rPr lang="en-US" dirty="0" smtClean="0"/>
                  <a:t>,d</a:t>
                </a:r>
                <a:r>
                  <a:rPr lang="en-US" baseline="-25000" dirty="0" smtClean="0"/>
                  <a:t>2</a:t>
                </a:r>
                <a:r>
                  <a:rPr lang="en-US" dirty="0" smtClean="0"/>
                  <a:t>,d</a:t>
                </a:r>
                <a:r>
                  <a:rPr lang="en-US" baseline="-25000" dirty="0" smtClean="0"/>
                  <a:t>3</a:t>
                </a:r>
                <a:r>
                  <a:rPr lang="en-US" dirty="0" smtClean="0"/>
                  <a:t>,d</a:t>
                </a:r>
                <a:r>
                  <a:rPr lang="en-US" baseline="-25000" dirty="0" smtClean="0"/>
                  <a:t>4</a:t>
                </a:r>
                <a:r>
                  <a:rPr lang="en-US" dirty="0" smtClean="0"/>
                  <a:t>]</a:t>
                </a:r>
              </a:p>
              <a:p>
                <a:pPr marL="457200" lvl="1" indent="0">
                  <a:buSzPts val="3200"/>
                  <a:buNone/>
                </a:pPr>
                <a:endParaRPr lang="en-US" dirty="0" smtClean="0"/>
              </a:p>
              <a:p>
                <a:pPr marL="457200" lvl="1" indent="0">
                  <a:buSzPts val="3200"/>
                  <a:buNone/>
                </a:pPr>
                <a:endParaRPr lang="en-US" dirty="0">
                  <a:effectLst/>
                </a:endParaRPr>
              </a:p>
            </p:txBody>
          </p:sp>
        </mc:Choice>
        <mc:Fallback>
          <p:sp>
            <p:nvSpPr>
              <p:cNvPr id="105" name="Google Shape;105;p2"/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4294967295"/>
              </p:nvPr>
            </p:nvSpPr>
            <p:spPr>
              <a:xfrm>
                <a:off x="456000" y="2013398"/>
                <a:ext cx="11385933" cy="4844602"/>
              </a:xfrm>
              <a:prstGeom prst="rect">
                <a:avLst/>
              </a:prstGeom>
              <a:blipFill rotWithShape="0">
                <a:blip r:embed="rId3"/>
                <a:stretch>
                  <a:fillRect l="-1231" t="-1384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0034873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"/>
          <p:cNvSpPr txBox="1">
            <a:spLocks noGrp="1"/>
          </p:cNvSpPr>
          <p:nvPr>
            <p:ph type="title"/>
          </p:nvPr>
        </p:nvSpPr>
        <p:spPr>
          <a:xfrm>
            <a:off x="456000" y="1142356"/>
            <a:ext cx="11736000" cy="11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</a:pPr>
            <a:r>
              <a:rPr lang="en-US" dirty="0" smtClean="0"/>
              <a:t>Residual MARL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5" name="Google Shape;105;p2"/>
              <p:cNvSpPr txBox="1">
                <a:spLocks noGrp="1"/>
              </p:cNvSpPr>
              <p:nvPr>
                <p:ph type="body" idx="4294967295"/>
              </p:nvPr>
            </p:nvSpPr>
            <p:spPr>
              <a:xfrm>
                <a:off x="456000" y="2013398"/>
                <a:ext cx="11385933" cy="48446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rmAutofit/>
              </a:bodyPr>
              <a:lstStyle/>
              <a:p>
                <a:pPr indent="-457200">
                  <a:buSzPts val="3200"/>
                </a:pPr>
                <a:r>
                  <a:rPr lang="en-US" dirty="0" smtClean="0"/>
                  <a:t>Reward function</a:t>
                </a:r>
              </a:p>
              <a:p>
                <a:pPr lvl="1" indent="-457200">
                  <a:buSzPts val="3200"/>
                </a:pPr>
                <a:r>
                  <a:rPr lang="en-US" dirty="0" smtClean="0"/>
                  <a:t>Design Methodology: Start simple and add terms by observing failure modes</a:t>
                </a:r>
              </a:p>
              <a:p>
                <a:pPr lvl="1" indent="-457200">
                  <a:buSzPts val="3200"/>
                </a:pPr>
                <a:r>
                  <a:rPr lang="en-US" dirty="0"/>
                  <a:t>Per drone reward is:</a:t>
                </a:r>
              </a:p>
              <a:p>
                <a:pPr lvl="1" indent="-457200">
                  <a:buSzPts val="3200"/>
                </a:pPr>
                <a:endParaRPr lang="en-US" dirty="0"/>
              </a:p>
              <a:p>
                <a:pPr marL="457200" lvl="1" indent="0">
                  <a:buSzPts val="32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1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1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 −</m:t>
                      </m:r>
                      <m:d>
                        <m:dPr>
                          <m:ctrlPr>
                            <a:rPr lang="en-US" sz="1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𝑚𝑎𝑛𝑖𝑓𝑜𝑙𝑑</m:t>
                              </m:r>
                            </m:sub>
                          </m:sSub>
                          <m:sSubSup>
                            <m:sSubSupPr>
                              <m:ctrlP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r>
                            <a:rPr lang="en-US" sz="1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 </m:t>
                          </m:r>
                          <m:sSub>
                            <m:sSubPr>
                              <m:ctrlP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𝑠𝑡𝑎𝑙𝑙</m:t>
                              </m:r>
                            </m:sub>
                          </m:sSub>
                          <m:r>
                            <a:rPr lang="en-US" sz="1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𝑠𝑡𝑎𝑙</m:t>
                          </m:r>
                          <m:sSub>
                            <m:sSubPr>
                              <m:ctrlP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e>
                            <m:sub>
                              <m: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1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 </m:t>
                          </m:r>
                          <m:sSub>
                            <m:sSubPr>
                              <m:ctrlP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𝑙𝑜𝑎𝑑</m:t>
                              </m:r>
                            </m:sub>
                          </m:sSub>
                          <m:sSup>
                            <m:sSupPr>
                              <m:ctrlP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sz="18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sz="18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800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𝑒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𝐿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1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 </m:t>
                          </m:r>
                          <m:sSub>
                            <m:sSubPr>
                              <m:ctrlP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𝑜𝑣𝑒𝑟𝑠𝑝𝑒𝑒𝑑</m:t>
                              </m:r>
                            </m:sub>
                          </m:sSub>
                          <m:r>
                            <a:rPr lang="en-US" sz="1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𝑜𝑣𝑒𝑟𝑠𝑝𝑒𝑒</m:t>
                          </m:r>
                          <m:sSubSup>
                            <m:sSubSupPr>
                              <m:ctrlP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r>
                            <a:rPr lang="en-US" sz="1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 </m:t>
                          </m:r>
                          <m:sSub>
                            <m:sSubPr>
                              <m:ctrlP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𝑜𝑣𝑒𝑟𝑠h𝑜𝑜𝑡</m:t>
                              </m:r>
                            </m:sub>
                          </m:sSub>
                          <m:r>
                            <a:rPr lang="en-US" sz="1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𝑜𝑣𝑒𝑟𝑠h𝑜𝑜</m:t>
                          </m:r>
                          <m:sSub>
                            <m:sSubPr>
                              <m:ctrlP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2000" dirty="0"/>
              </a:p>
              <a:p>
                <a:pPr lvl="1" indent="-457200">
                  <a:buSzPts val="3200"/>
                </a:pPr>
                <a:endParaRPr lang="en-US" dirty="0" smtClean="0"/>
              </a:p>
              <a:p>
                <a:pPr lvl="1" indent="-457200">
                  <a:buSzPts val="3200"/>
                </a:pPr>
                <a:r>
                  <a:rPr lang="en-US" dirty="0" smtClean="0"/>
                  <a:t>Team reward:</a:t>
                </a:r>
              </a:p>
              <a:p>
                <a:pPr lvl="1" indent="-457200">
                  <a:buSzPts val="3200"/>
                </a:pPr>
                <a:endParaRPr lang="en-US" dirty="0" smtClean="0"/>
              </a:p>
              <a:p>
                <a:pPr marL="5080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𝑡𝑒𝑎𝑚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</a:rPr>
                        <m:t>= </m:t>
                      </m:r>
                      <m:nary>
                        <m:naryPr>
                          <m:chr m:val="∑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𝑟𝑖</m:t>
                          </m:r>
                        </m:e>
                      </m:nary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05" name="Google Shape;105;p2"/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4294967295"/>
              </p:nvPr>
            </p:nvSpPr>
            <p:spPr>
              <a:xfrm>
                <a:off x="456000" y="2013398"/>
                <a:ext cx="11385933" cy="4844602"/>
              </a:xfrm>
              <a:prstGeom prst="rect">
                <a:avLst/>
              </a:prstGeom>
              <a:blipFill rotWithShape="0">
                <a:blip r:embed="rId3"/>
                <a:stretch>
                  <a:fillRect l="-1231" t="-126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572190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"/>
          <p:cNvSpPr txBox="1">
            <a:spLocks noGrp="1"/>
          </p:cNvSpPr>
          <p:nvPr>
            <p:ph type="title"/>
          </p:nvPr>
        </p:nvSpPr>
        <p:spPr>
          <a:xfrm>
            <a:off x="456000" y="1142356"/>
            <a:ext cx="11736000" cy="11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</a:pPr>
            <a:r>
              <a:rPr lang="en-US" dirty="0" smtClean="0"/>
              <a:t>Residual MARL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5" name="Google Shape;105;p2"/>
              <p:cNvSpPr txBox="1">
                <a:spLocks noGrp="1"/>
              </p:cNvSpPr>
              <p:nvPr>
                <p:ph type="body" idx="4294967295"/>
              </p:nvPr>
            </p:nvSpPr>
            <p:spPr>
              <a:xfrm>
                <a:off x="456000" y="1886938"/>
                <a:ext cx="11385933" cy="497106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rmAutofit/>
              </a:bodyPr>
              <a:lstStyle/>
              <a:p>
                <a:pPr indent="-457200">
                  <a:buSzPts val="3200"/>
                </a:pPr>
                <a:r>
                  <a:rPr lang="en-US" sz="1800" dirty="0" smtClean="0"/>
                  <a:t>Reward function terms breakdown:</a:t>
                </a:r>
                <a:endParaRPr lang="en-US" sz="800" dirty="0"/>
              </a:p>
              <a:p>
                <a:pPr marL="457200" lvl="1" indent="0">
                  <a:buSzPts val="32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1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1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 −</m:t>
                      </m:r>
                      <m:d>
                        <m:dPr>
                          <m:ctrlPr>
                            <a:rPr lang="en-US" sz="1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𝑚𝑎𝑛𝑖𝑓𝑜𝑙𝑑</m:t>
                              </m:r>
                            </m:sub>
                          </m:sSub>
                          <m:sSubSup>
                            <m:sSubSupPr>
                              <m:ctrlP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r>
                            <a:rPr lang="en-US" sz="1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 </m:t>
                          </m:r>
                          <m:sSub>
                            <m:sSubPr>
                              <m:ctrlP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𝑠𝑡𝑎𝑙𝑙</m:t>
                              </m:r>
                            </m:sub>
                          </m:sSub>
                          <m:r>
                            <a:rPr lang="en-US" sz="1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𝑠𝑡𝑎𝑙</m:t>
                          </m:r>
                          <m:sSub>
                            <m:sSubPr>
                              <m:ctrlP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e>
                            <m:sub>
                              <m: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1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 </m:t>
                          </m:r>
                          <m:sSub>
                            <m:sSubPr>
                              <m:ctrlP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𝑙𝑜𝑎𝑑</m:t>
                              </m:r>
                            </m:sub>
                          </m:sSub>
                          <m:sSup>
                            <m:sSupPr>
                              <m:ctrlP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sz="18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sz="18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800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𝑒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𝐿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1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 </m:t>
                          </m:r>
                          <m:sSub>
                            <m:sSubPr>
                              <m:ctrlP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𝑜𝑣𝑒𝑟𝑠𝑝𝑒𝑒𝑑</m:t>
                              </m:r>
                            </m:sub>
                          </m:sSub>
                          <m:r>
                            <a:rPr lang="en-US" sz="1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𝑜𝑣𝑒𝑟𝑠𝑝𝑒𝑒</m:t>
                          </m:r>
                          <m:sSubSup>
                            <m:sSubSupPr>
                              <m:ctrlP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r>
                            <a:rPr lang="en-US" sz="1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 </m:t>
                          </m:r>
                          <m:sSub>
                            <m:sSubPr>
                              <m:ctrlP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𝑜𝑣𝑒𝑟𝑠</m:t>
                              </m:r>
                              <m: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  <m: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𝑜𝑜𝑡</m:t>
                              </m:r>
                            </m:sub>
                          </m:sSub>
                          <m:r>
                            <a:rPr lang="en-US" sz="1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𝑜𝑣𝑒𝑟𝑠</m:t>
                          </m:r>
                          <m:r>
                            <a:rPr lang="en-US" sz="1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sz="1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𝑜𝑜</m:t>
                          </m:r>
                          <m:sSub>
                            <m:sSubPr>
                              <m:ctrlP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1800" dirty="0" smtClean="0">
                  <a:solidFill>
                    <a:srgbClr val="000000"/>
                  </a:solidFill>
                </a:endParaRPr>
              </a:p>
              <a:p>
                <a:pPr marL="457200" lvl="1" indent="0">
                  <a:buSzPts val="3200"/>
                  <a:buNone/>
                </a:pPr>
                <a:endParaRPr lang="en-US" sz="1800" dirty="0">
                  <a:solidFill>
                    <a:srgbClr val="000000"/>
                  </a:solidFill>
                </a:endParaRPr>
              </a:p>
              <a:p>
                <a:pPr marL="457200" lvl="1" indent="0">
                  <a:buSzPts val="3200"/>
                  <a:buNone/>
                </a:pPr>
                <a:endParaRPr lang="en-US" sz="1800" dirty="0" smtClean="0">
                  <a:solidFill>
                    <a:srgbClr val="000000"/>
                  </a:solidFill>
                </a:endParaRPr>
              </a:p>
              <a:p>
                <a:pPr marL="457200" lvl="1" indent="0">
                  <a:buSzPts val="3200"/>
                  <a:buNone/>
                </a:pPr>
                <a:endParaRPr lang="en-US" sz="1800" dirty="0">
                  <a:solidFill>
                    <a:srgbClr val="000000"/>
                  </a:solidFill>
                </a:endParaRPr>
              </a:p>
              <a:p>
                <a:pPr marL="457200" lvl="1" indent="0">
                  <a:buSzPts val="3200"/>
                  <a:buNone/>
                </a:pPr>
                <a:endParaRPr lang="en-US" sz="1800" dirty="0" smtClean="0">
                  <a:solidFill>
                    <a:srgbClr val="000000"/>
                  </a:solidFill>
                </a:endParaRPr>
              </a:p>
              <a:p>
                <a:pPr marL="457200" lvl="1" indent="0">
                  <a:buSzPts val="3200"/>
                  <a:buNone/>
                </a:pPr>
                <a:endParaRPr lang="en-US" sz="1800" dirty="0">
                  <a:solidFill>
                    <a:srgbClr val="000000"/>
                  </a:solidFill>
                </a:endParaRPr>
              </a:p>
              <a:p>
                <a:pPr marL="457200" lvl="1" indent="0">
                  <a:buSzPts val="3200"/>
                  <a:buNone/>
                </a:pPr>
                <a:endParaRPr lang="en-US" sz="1800" dirty="0" smtClean="0">
                  <a:solidFill>
                    <a:srgbClr val="000000"/>
                  </a:solidFill>
                </a:endParaRPr>
              </a:p>
              <a:p>
                <a:pPr marL="457200" lvl="1" indent="0">
                  <a:buSzPts val="3200"/>
                  <a:buNone/>
                </a:pPr>
                <a:endParaRPr lang="en-US" sz="1800" dirty="0">
                  <a:solidFill>
                    <a:srgbClr val="000000"/>
                  </a:solidFill>
                </a:endParaRPr>
              </a:p>
              <a:p>
                <a:pPr marL="457200" lvl="1" indent="0">
                  <a:buSzPts val="3200"/>
                  <a:buNone/>
                </a:pPr>
                <a:endParaRPr lang="en-US" sz="1800" dirty="0" smtClean="0">
                  <a:solidFill>
                    <a:srgbClr val="000000"/>
                  </a:solidFill>
                </a:endParaRPr>
              </a:p>
              <a:p>
                <a:pPr marL="457200" lvl="1" indent="0">
                  <a:buSzPts val="3200"/>
                  <a:buNone/>
                </a:pPr>
                <a:endParaRPr lang="en-US" sz="1800" dirty="0" smtClean="0">
                  <a:solidFill>
                    <a:srgbClr val="000000"/>
                  </a:solidFill>
                </a:endParaRPr>
              </a:p>
              <a:p>
                <a:pPr marL="457200" lvl="1" indent="0">
                  <a:buSzPts val="3200"/>
                  <a:buNone/>
                </a:pPr>
                <a:endParaRPr lang="en-US" sz="1800" dirty="0">
                  <a:solidFill>
                    <a:srgbClr val="000000"/>
                  </a:solidFill>
                </a:endParaRPr>
              </a:p>
              <a:p>
                <a:pPr marL="457200" lvl="1" indent="0">
                  <a:buSzPts val="3200"/>
                  <a:buNone/>
                </a:pPr>
                <a:endParaRPr lang="en-US" sz="1800" dirty="0" smtClean="0">
                  <a:solidFill>
                    <a:srgbClr val="000000"/>
                  </a:solidFill>
                </a:endParaRPr>
              </a:p>
              <a:p>
                <a:pPr marL="457200" lvl="1" indent="0">
                  <a:buSzPts val="3200"/>
                  <a:buNone/>
                </a:pPr>
                <a:endParaRPr lang="en-US" sz="1800" dirty="0">
                  <a:solidFill>
                    <a:srgbClr val="000000"/>
                  </a:solidFill>
                </a:endParaRPr>
              </a:p>
              <a:p>
                <a:pPr marL="457200" lvl="1" indent="0">
                  <a:buSzPts val="3200"/>
                  <a:buNone/>
                </a:pPr>
                <a:r>
                  <a:rPr lang="en-US" sz="1400" b="1" dirty="0" smtClean="0">
                    <a:solidFill>
                      <a:srgbClr val="C00000"/>
                    </a:solidFill>
                    <a:latin typeface="Calibri"/>
                  </a:rPr>
                  <a:t>Truncation </a:t>
                </a:r>
                <a:r>
                  <a:rPr lang="en-US" sz="1400" b="1" dirty="0">
                    <a:solidFill>
                      <a:srgbClr val="C00000"/>
                    </a:solidFill>
                    <a:latin typeface="Calibri"/>
                  </a:rPr>
                  <a:t>Condition: </a:t>
                </a:r>
                <a:r>
                  <a:rPr lang="en-US" sz="1400" dirty="0">
                    <a:solidFill>
                      <a:srgbClr val="262626"/>
                    </a:solidFill>
                    <a:latin typeface="Calibri"/>
                  </a:rPr>
                  <a:t>A one-shot penalty of −100 is triggered on a guard-truncated step if speed exceeds </a:t>
                </a:r>
                <a:r>
                  <a:rPr lang="en-US" sz="1400" dirty="0" err="1" smtClean="0">
                    <a:solidFill>
                      <a:srgbClr val="262626"/>
                    </a:solidFill>
                    <a:latin typeface="Calibri"/>
                  </a:rPr>
                  <a:t>v</a:t>
                </a:r>
                <a:r>
                  <a:rPr lang="en-US" sz="1400" baseline="-25000" dirty="0" err="1" smtClean="0">
                    <a:solidFill>
                      <a:srgbClr val="262626"/>
                    </a:solidFill>
                    <a:latin typeface="Calibri"/>
                  </a:rPr>
                  <a:t>blowup</a:t>
                </a:r>
                <a:r>
                  <a:rPr lang="en-US" sz="1400" dirty="0" smtClean="0">
                    <a:solidFill>
                      <a:srgbClr val="262626"/>
                    </a:solidFill>
                    <a:latin typeface="Calibri"/>
                  </a:rPr>
                  <a:t> </a:t>
                </a:r>
                <a:r>
                  <a:rPr lang="en-US" sz="1400" dirty="0">
                    <a:solidFill>
                      <a:srgbClr val="262626"/>
                    </a:solidFill>
                    <a:latin typeface="Calibri"/>
                  </a:rPr>
                  <a:t>= 100</a:t>
                </a:r>
                <a:r>
                  <a:rPr lang="en-US" sz="1400" dirty="0" smtClean="0">
                    <a:solidFill>
                      <a:srgbClr val="262626"/>
                    </a:solidFill>
                    <a:latin typeface="Calibri"/>
                  </a:rPr>
                  <a:t>.</a:t>
                </a:r>
                <a:endParaRPr lang="en-US" sz="1800" dirty="0" smtClean="0">
                  <a:solidFill>
                    <a:srgbClr val="000000"/>
                  </a:solidFill>
                </a:endParaRPr>
              </a:p>
              <a:p>
                <a:pPr marL="457200" lvl="1" indent="0">
                  <a:buSzPts val="3200"/>
                  <a:buNone/>
                </a:pPr>
                <a:endParaRPr lang="en-US" sz="1800" dirty="0" smtClean="0">
                  <a:solidFill>
                    <a:srgbClr val="000000"/>
                  </a:solidFill>
                </a:endParaRPr>
              </a:p>
            </p:txBody>
          </p:sp>
        </mc:Choice>
        <mc:Fallback xmlns="">
          <p:sp>
            <p:nvSpPr>
              <p:cNvPr id="105" name="Google Shape;105;p2"/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4294967295"/>
              </p:nvPr>
            </p:nvSpPr>
            <p:spPr>
              <a:xfrm>
                <a:off x="456000" y="1886938"/>
                <a:ext cx="11385933" cy="4971062"/>
              </a:xfrm>
              <a:prstGeom prst="rect">
                <a:avLst/>
              </a:prstGeom>
              <a:blipFill rotWithShape="0">
                <a:blip r:embed="rId3"/>
                <a:stretch>
                  <a:fillRect l="-1231" t="-2454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Table 4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692202707"/>
                  </p:ext>
                </p:extLst>
              </p:nvPr>
            </p:nvGraphicFramePr>
            <p:xfrm>
              <a:off x="673154" y="2759413"/>
              <a:ext cx="10728655" cy="3544110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2286000"/>
                    <a:gridCol w="4572000"/>
                    <a:gridCol w="3870655"/>
                  </a:tblGrid>
                  <a:tr h="369651">
                    <a:tc>
                      <a:txBody>
                        <a:bodyPr/>
                        <a:lstStyle/>
                        <a:p>
                          <a:pPr>
                            <a:defRPr sz="1300" b="1">
                              <a:solidFill>
                                <a:srgbClr val="FFFFFF"/>
                              </a:solidFill>
                              <a:latin typeface="Calibri"/>
                            </a:defRPr>
                          </a:pPr>
                          <a:r>
                            <a:rPr sz="1400" dirty="0">
                              <a:solidFill>
                                <a:schemeClr val="tx1"/>
                              </a:solidFill>
                            </a:rPr>
                            <a:t>Term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>
                            <a:defRPr sz="1300" b="1">
                              <a:solidFill>
                                <a:srgbClr val="FFFFFF"/>
                              </a:solidFill>
                              <a:latin typeface="Calibri"/>
                            </a:defRPr>
                          </a:pPr>
                          <a:r>
                            <a:rPr sz="1400" dirty="0">
                              <a:solidFill>
                                <a:schemeClr val="tx1"/>
                              </a:solidFill>
                            </a:rPr>
                            <a:t>Expression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>
                            <a:defRPr sz="1300" b="1">
                              <a:solidFill>
                                <a:srgbClr val="FFFFFF"/>
                              </a:solidFill>
                              <a:latin typeface="Calibri"/>
                            </a:defRPr>
                          </a:pPr>
                          <a:r>
                            <a:rPr dirty="0">
                              <a:solidFill>
                                <a:schemeClr val="tx1"/>
                              </a:solidFill>
                            </a:rPr>
                            <a:t>Role</a:t>
                          </a:r>
                        </a:p>
                      </a:txBody>
                      <a:tcPr/>
                    </a:tc>
                  </a:tr>
                  <a:tr h="379379">
                    <a:tc>
                      <a:txBody>
                        <a:bodyPr/>
                        <a:lstStyle/>
                        <a:p>
                          <a:pPr>
                            <a:defRPr sz="1100" b="1">
                              <a:solidFill>
                                <a:srgbClr val="262626"/>
                              </a:solidFill>
                              <a:latin typeface="Calibri"/>
                            </a:defRPr>
                          </a:pPr>
                          <a:r>
                            <a:rPr sz="1400" dirty="0"/>
                            <a:t>manifold (</a:t>
                          </a:r>
                          <a:r>
                            <a:rPr sz="1400" dirty="0" smtClean="0"/>
                            <a:t>d</a:t>
                          </a:r>
                          <a:r>
                            <a:rPr lang="en-US" sz="1400" baseline="-25000" dirty="0" smtClean="0"/>
                            <a:t>i</a:t>
                          </a:r>
                          <a:r>
                            <a:rPr sz="1400" baseline="30000" dirty="0" smtClean="0"/>
                            <a:t>2</a:t>
                          </a:r>
                          <a:r>
                            <a:rPr sz="1400" dirty="0"/>
                            <a:t>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>
                            <a:defRPr sz="1100">
                              <a:solidFill>
                                <a:srgbClr val="262626"/>
                              </a:solidFill>
                              <a:latin typeface="Calibri"/>
                            </a:defRPr>
                          </a:pPr>
                          <a:r>
                            <a:rPr sz="1400" dirty="0"/>
                            <a:t>‖</a:t>
                          </a:r>
                          <a:r>
                            <a:rPr sz="1400" dirty="0" err="1" smtClean="0"/>
                            <a:t>p</a:t>
                          </a:r>
                          <a:r>
                            <a:rPr sz="1400" baseline="-25000" dirty="0" err="1" smtClean="0"/>
                            <a:t>expert,i</a:t>
                          </a:r>
                          <a:r>
                            <a:rPr sz="1400" dirty="0" smtClean="0"/>
                            <a:t>(t</a:t>
                          </a:r>
                          <a:r>
                            <a:rPr sz="1400" dirty="0"/>
                            <a:t>) − </a:t>
                          </a:r>
                          <a:r>
                            <a:rPr sz="1400" dirty="0" smtClean="0"/>
                            <a:t>p</a:t>
                          </a:r>
                          <a:r>
                            <a:rPr sz="1400" baseline="-25000" dirty="0" smtClean="0"/>
                            <a:t>i</a:t>
                          </a:r>
                          <a:r>
                            <a:rPr lang="en-US" sz="1400" baseline="0" dirty="0" smtClean="0"/>
                            <a:t>(t)</a:t>
                          </a:r>
                          <a:r>
                            <a:rPr sz="1400" dirty="0" smtClean="0"/>
                            <a:t>‖²</a:t>
                          </a:r>
                          <a:endParaRPr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>
                            <a:defRPr sz="1100">
                              <a:solidFill>
                                <a:srgbClr val="262626"/>
                              </a:solidFill>
                              <a:latin typeface="Calibri"/>
                            </a:defRPr>
                          </a:pPr>
                          <a:r>
                            <a:rPr sz="1400" dirty="0"/>
                            <a:t>Stay on the expert loiter </a:t>
                          </a:r>
                          <a:r>
                            <a:rPr sz="1400" dirty="0" smtClean="0"/>
                            <a:t>loop</a:t>
                          </a:r>
                          <a:r>
                            <a:rPr lang="en-US" sz="1400" dirty="0" smtClean="0"/>
                            <a:t>. The goal</a:t>
                          </a:r>
                          <a:r>
                            <a:rPr lang="en-US" sz="1400" baseline="0" dirty="0" smtClean="0"/>
                            <a:t> is not to follow it exactly, but to learn the underlying orbiting behavior in general.</a:t>
                          </a:r>
                          <a:endParaRPr sz="1400" dirty="0"/>
                        </a:p>
                      </a:txBody>
                      <a:tcPr/>
                    </a:tc>
                  </a:tr>
                  <a:tr h="544749">
                    <a:tc>
                      <a:txBody>
                        <a:bodyPr/>
                        <a:lstStyle/>
                        <a:p>
                          <a:pPr>
                            <a:defRPr sz="1100" b="1">
                              <a:solidFill>
                                <a:srgbClr val="262626"/>
                              </a:solidFill>
                              <a:latin typeface="Calibri"/>
                            </a:defRPr>
                          </a:pPr>
                          <a:r>
                            <a:rPr sz="1400" dirty="0" err="1" smtClean="0"/>
                            <a:t>stall</a:t>
                          </a:r>
                          <a:r>
                            <a:rPr lang="en-US" sz="1400" i="1" baseline="-25000" dirty="0" err="1" smtClean="0"/>
                            <a:t>i</a:t>
                          </a:r>
                          <a:endParaRPr sz="1400" i="1" baseline="-250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>
                            <a:defRPr sz="1100">
                              <a:solidFill>
                                <a:srgbClr val="262626"/>
                              </a:solidFill>
                              <a:latin typeface="Calibri"/>
                            </a:defRPr>
                          </a:pPr>
                          <a:r>
                            <a:rPr sz="1400" dirty="0"/>
                            <a:t>Graced hinge below cruise floor:</a:t>
                          </a:r>
                        </a:p>
                        <a:p>
                          <a:pPr>
                            <a:defRPr sz="1100">
                              <a:solidFill>
                                <a:srgbClr val="262626"/>
                              </a:solidFill>
                              <a:latin typeface="Calibri"/>
                            </a:defRPr>
                          </a:pPr>
                          <a:r>
                            <a:rPr sz="1400" dirty="0"/>
                            <a:t>d² + 1.0 · d, where d = max(0, (ε + margin) − ‖</a:t>
                          </a:r>
                          <a:r>
                            <a:rPr sz="1400" dirty="0" smtClean="0"/>
                            <a:t>v</a:t>
                          </a:r>
                          <a:r>
                            <a:rPr sz="1400" baseline="-25000" dirty="0" smtClean="0"/>
                            <a:t>i</a:t>
                          </a:r>
                          <a:r>
                            <a:rPr sz="1400" dirty="0" smtClean="0"/>
                            <a:t>‖)</a:t>
                          </a:r>
                          <a:endParaRPr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>
                            <a:defRPr sz="1100">
                              <a:solidFill>
                                <a:srgbClr val="262626"/>
                              </a:solidFill>
                              <a:latin typeface="Calibri"/>
                            </a:defRPr>
                          </a:pPr>
                          <a:r>
                            <a:rPr sz="1400" dirty="0"/>
                            <a:t>Fixed-wing stall floor (prevents airspeed drop)</a:t>
                          </a:r>
                        </a:p>
                      </a:txBody>
                      <a:tcPr/>
                    </a:tc>
                  </a:tr>
                  <a:tr h="379379">
                    <a:tc>
                      <a:txBody>
                        <a:bodyPr/>
                        <a:lstStyle/>
                        <a:p>
                          <a:pPr>
                            <a:defRPr sz="1100" b="1">
                              <a:solidFill>
                                <a:srgbClr val="262626"/>
                              </a:solidFill>
                              <a:latin typeface="Calibri"/>
                            </a:defRPr>
                          </a:pPr>
                          <a:r>
                            <a:rPr sz="1400" dirty="0"/>
                            <a:t>load </a:t>
                          </a:r>
                          <a:r>
                            <a:rPr sz="1400" dirty="0" smtClean="0"/>
                            <a:t>track</a:t>
                          </a:r>
                          <a:r>
                            <a:rPr lang="en-US" sz="1400" dirty="0" smtClean="0"/>
                            <a:t>ing</a:t>
                          </a:r>
                          <a:r>
                            <a:rPr lang="en-US" sz="1400" baseline="0" dirty="0" smtClean="0"/>
                            <a:t> </a:t>
                          </a:r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en-US" sz="140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sz="14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d>
                                        <m:dPr>
                                          <m:begChr m:val="|"/>
                                          <m:endChr m:val="|"/>
                                          <m:ctrlPr>
                                            <a:rPr lang="en-US" sz="1400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sz="1400" i="1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400" i="1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𝑒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400" i="1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𝐿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e>
                                  </m:d>
                                </m:e>
                                <m:sup>
                                  <m:r>
                                    <a:rPr lang="en-US" sz="1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oMath>
                          </a14:m>
                          <a:endParaRPr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>
                            <a:defRPr sz="1100">
                              <a:solidFill>
                                <a:srgbClr val="262626"/>
                              </a:solidFill>
                              <a:latin typeface="Calibri"/>
                            </a:defRPr>
                          </a:pPr>
                          <a:r>
                            <a:rPr sz="1400" dirty="0"/>
                            <a:t>‖</a:t>
                          </a:r>
                          <a:r>
                            <a:rPr sz="1400" dirty="0" smtClean="0"/>
                            <a:t>e</a:t>
                          </a:r>
                          <a:r>
                            <a:rPr lang="en-US" sz="1400" baseline="-25000" dirty="0" smtClean="0"/>
                            <a:t>L</a:t>
                          </a:r>
                          <a:r>
                            <a:rPr sz="1400" dirty="0" smtClean="0"/>
                            <a:t>‖²</a:t>
                          </a:r>
                          <a:endParaRPr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>
                            <a:defRPr sz="1100">
                              <a:solidFill>
                                <a:srgbClr val="262626"/>
                              </a:solidFill>
                              <a:latin typeface="Calibri"/>
                            </a:defRPr>
                          </a:pPr>
                          <a:r>
                            <a:rPr sz="1400" dirty="0"/>
                            <a:t>Keep the load on </a:t>
                          </a:r>
                          <a:r>
                            <a:rPr sz="1400" dirty="0" smtClean="0"/>
                            <a:t>reference</a:t>
                          </a:r>
                          <a:endParaRPr sz="1400" dirty="0"/>
                        </a:p>
                      </a:txBody>
                      <a:tcPr/>
                    </a:tc>
                  </a:tr>
                  <a:tr h="573931">
                    <a:tc>
                      <a:txBody>
                        <a:bodyPr/>
                        <a:lstStyle/>
                        <a:p>
                          <a:pPr>
                            <a:defRPr sz="1100" b="1">
                              <a:solidFill>
                                <a:srgbClr val="262626"/>
                              </a:solidFill>
                              <a:latin typeface="Calibri"/>
                            </a:defRPr>
                          </a:pPr>
                          <a:r>
                            <a:rPr sz="1400" dirty="0" smtClean="0"/>
                            <a:t>overspeed</a:t>
                          </a:r>
                          <a:r>
                            <a:rPr lang="en-US" sz="1400" baseline="-25000" dirty="0" smtClean="0"/>
                            <a:t>i</a:t>
                          </a:r>
                          <a:r>
                            <a:rPr lang="en-US" sz="1400" baseline="30000" dirty="0" smtClean="0"/>
                            <a:t>2</a:t>
                          </a:r>
                          <a:endParaRPr sz="1400" baseline="300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>
                            <a:defRPr sz="1100">
                              <a:solidFill>
                                <a:srgbClr val="262626"/>
                              </a:solidFill>
                              <a:latin typeface="Calibri"/>
                            </a:defRPr>
                          </a:pPr>
                          <a:r>
                            <a:rPr sz="1400" dirty="0" smtClean="0"/>
                            <a:t>min(over² </a:t>
                          </a:r>
                          <a:r>
                            <a:rPr sz="1400" dirty="0"/>
                            <a:t>+ 2 · over, 75</a:t>
                          </a:r>
                          <a:r>
                            <a:rPr sz="1400" dirty="0" smtClean="0"/>
                            <a:t>)</a:t>
                          </a:r>
                          <a:endParaRPr lang="en-US" sz="1400" dirty="0" smtClean="0"/>
                        </a:p>
                        <a:p>
                          <a:pPr marL="0" marR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 sz="1100">
                              <a:solidFill>
                                <a:srgbClr val="262626"/>
                              </a:solidFill>
                              <a:latin typeface="Calibri"/>
                            </a:defRPr>
                          </a:pPr>
                          <a:r>
                            <a:rPr lang="en-US" sz="1400" dirty="0" smtClean="0"/>
                            <a:t>where over = max(0.0, v</a:t>
                          </a:r>
                          <a:r>
                            <a:rPr lang="en-US" sz="1400" baseline="-25000" dirty="0" smtClean="0"/>
                            <a:t>i </a:t>
                          </a:r>
                          <a:r>
                            <a:rPr lang="en-US" sz="1400" dirty="0" smtClean="0"/>
                            <a:t>− </a:t>
                          </a:r>
                          <a:r>
                            <a:rPr lang="en-US" sz="1400" dirty="0" err="1" smtClean="0"/>
                            <a:t>overspeed_v</a:t>
                          </a:r>
                          <a:r>
                            <a:rPr lang="en-US" sz="1400" dirty="0" smtClean="0"/>
                            <a:t>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>
                            <a:defRPr sz="1100">
                              <a:solidFill>
                                <a:srgbClr val="262626"/>
                              </a:solidFill>
                              <a:latin typeface="Calibri"/>
                            </a:defRPr>
                          </a:pPr>
                          <a:r>
                            <a:rPr lang="en-US" sz="1400" dirty="0" smtClean="0"/>
                            <a:t>Prevent carrier from speeding up unnecessarily.</a:t>
                          </a:r>
                          <a:r>
                            <a:rPr lang="en-US" sz="1400" baseline="0" dirty="0" smtClean="0"/>
                            <a:t> </a:t>
                          </a:r>
                          <a:r>
                            <a:rPr lang="en-US" sz="1400" dirty="0" smtClean="0"/>
                            <a:t>B</a:t>
                          </a:r>
                          <a:r>
                            <a:rPr sz="1400" dirty="0" smtClean="0"/>
                            <a:t>lowup guardrail</a:t>
                          </a:r>
                          <a:r>
                            <a:rPr lang="en-US" sz="1400" dirty="0" smtClean="0"/>
                            <a:t>.</a:t>
                          </a:r>
                          <a:r>
                            <a:rPr lang="en-US" sz="1400" baseline="0" dirty="0" smtClean="0"/>
                            <a:t> </a:t>
                          </a:r>
                          <a:endParaRPr sz="1400" dirty="0"/>
                        </a:p>
                      </a:txBody>
                      <a:tcPr/>
                    </a:tc>
                  </a:tr>
                  <a:tr h="562258">
                    <a:tc>
                      <a:txBody>
                        <a:bodyPr/>
                        <a:lstStyle/>
                        <a:p>
                          <a:pPr rtl="0">
                            <a:defRPr sz="1100" b="1">
                              <a:solidFill>
                                <a:srgbClr val="262626"/>
                              </a:solidFill>
                              <a:latin typeface="Calibri"/>
                            </a:defRPr>
                          </a:pPr>
                          <a:r>
                            <a:rPr sz="1400" dirty="0" err="1" smtClean="0"/>
                            <a:t>overshoot</a:t>
                          </a:r>
                          <a:r>
                            <a:rPr lang="en-US" sz="1400" baseline="-25000" dirty="0" err="1" smtClean="0"/>
                            <a:t>i</a:t>
                          </a:r>
                          <a:endParaRPr sz="1400" baseline="-250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>
                            <a:defRPr sz="1100">
                              <a:solidFill>
                                <a:srgbClr val="262626"/>
                              </a:solidFill>
                              <a:latin typeface="Calibri"/>
                            </a:defRPr>
                          </a:pPr>
                          <a:r>
                            <a:rPr lang="en-US" sz="1400" dirty="0" smtClean="0"/>
                            <a:t>min(over</a:t>
                          </a:r>
                          <a:r>
                            <a:rPr lang="el-GR" sz="1400" baseline="-25000" dirty="0" smtClean="0"/>
                            <a:t>λ,</a:t>
                          </a:r>
                          <a:r>
                            <a:rPr lang="en-US" sz="1400" baseline="-25000" dirty="0" smtClean="0"/>
                            <a:t>i</a:t>
                          </a:r>
                          <a:r>
                            <a:rPr lang="en-US" sz="1400" dirty="0" smtClean="0"/>
                            <a:t>² + over</a:t>
                          </a:r>
                          <a:r>
                            <a:rPr lang="el-GR" sz="1400" baseline="-25000" dirty="0" smtClean="0"/>
                            <a:t>λ,</a:t>
                          </a:r>
                          <a:r>
                            <a:rPr lang="en-US" sz="1400" baseline="-25000" dirty="0" err="1" smtClean="0"/>
                            <a:t>i</a:t>
                          </a:r>
                          <a:r>
                            <a:rPr lang="en-US" sz="1400" baseline="-25000" dirty="0" smtClean="0"/>
                            <a:t> </a:t>
                          </a:r>
                          <a:r>
                            <a:rPr lang="en-US" sz="1400" dirty="0" smtClean="0"/>
                            <a:t>,9)</a:t>
                          </a:r>
                        </a:p>
                        <a:p>
                          <a:pPr>
                            <a:defRPr sz="1100">
                              <a:solidFill>
                                <a:srgbClr val="262626"/>
                              </a:solidFill>
                              <a:latin typeface="Calibri"/>
                            </a:defRPr>
                          </a:pPr>
                          <a:r>
                            <a:rPr lang="en-US" sz="1400" dirty="0" smtClean="0"/>
                            <a:t>where over</a:t>
                          </a:r>
                          <a:r>
                            <a:rPr lang="el-GR" sz="1400" baseline="-25000" dirty="0" smtClean="0"/>
                            <a:t>λ,</a:t>
                          </a:r>
                          <a:r>
                            <a:rPr lang="en-US" sz="1400" baseline="-25000" dirty="0" err="1" smtClean="0"/>
                            <a:t>i</a:t>
                          </a:r>
                          <a:r>
                            <a:rPr lang="en-US" sz="1400" baseline="-25000" dirty="0" smtClean="0"/>
                            <a:t> </a:t>
                          </a:r>
                          <a:r>
                            <a:rPr lang="en-US" sz="1400" dirty="0" smtClean="0"/>
                            <a:t>= max(0, sat</a:t>
                          </a:r>
                          <a:r>
                            <a:rPr lang="el-GR" sz="1400" baseline="-25000" dirty="0" smtClean="0"/>
                            <a:t>λ,</a:t>
                          </a:r>
                          <a:r>
                            <a:rPr lang="en-US" sz="1400" baseline="-25000" dirty="0" err="1" smtClean="0"/>
                            <a:t>i</a:t>
                          </a:r>
                          <a:r>
                            <a:rPr lang="en-US" sz="1400" baseline="-25000" dirty="0" smtClean="0"/>
                            <a:t> </a:t>
                          </a:r>
                          <a:r>
                            <a:rPr lang="en-US" sz="1400" dirty="0" smtClean="0"/>
                            <a:t>− 1)</a:t>
                          </a:r>
                        </a:p>
                        <a:p>
                          <a:pPr>
                            <a:defRPr sz="1100">
                              <a:solidFill>
                                <a:srgbClr val="262626"/>
                              </a:solidFill>
                              <a:latin typeface="Calibri"/>
                            </a:defRPr>
                          </a:pPr>
                          <a:r>
                            <a:rPr lang="en-US" sz="1400" dirty="0" smtClean="0"/>
                            <a:t>and sat</a:t>
                          </a:r>
                          <a:r>
                            <a:rPr lang="el-GR" sz="1400" baseline="-25000" dirty="0" smtClean="0"/>
                            <a:t>λ,</a:t>
                          </a:r>
                          <a:r>
                            <a:rPr lang="en-US" sz="1400" baseline="-25000" dirty="0" err="1" smtClean="0"/>
                            <a:t>i</a:t>
                          </a:r>
                          <a:r>
                            <a:rPr lang="en-US" sz="1400" baseline="-25000" dirty="0" smtClean="0"/>
                            <a:t> </a:t>
                          </a:r>
                          <a:r>
                            <a:rPr lang="en-US" sz="1400" dirty="0" smtClean="0"/>
                            <a:t>= ‖</a:t>
                          </a:r>
                          <a:r>
                            <a:rPr lang="el-GR" sz="1400" u="none" dirty="0" smtClean="0"/>
                            <a:t>δ</a:t>
                          </a:r>
                          <a:r>
                            <a:rPr lang="el-GR" sz="1400" dirty="0" smtClean="0"/>
                            <a:t>λ</a:t>
                          </a:r>
                          <a:r>
                            <a:rPr lang="en-US" sz="1400" baseline="-25000" dirty="0" err="1" smtClean="0"/>
                            <a:t>i</a:t>
                          </a:r>
                          <a:r>
                            <a:rPr lang="en-US" sz="1400" dirty="0" smtClean="0"/>
                            <a:t>‖₂ / (</a:t>
                          </a:r>
                          <a:r>
                            <a:rPr lang="el-GR" sz="1400" dirty="0" smtClean="0"/>
                            <a:t>κ</a:t>
                          </a:r>
                          <a:r>
                            <a:rPr lang="el-GR" sz="1400" baseline="-25000" dirty="0" smtClean="0"/>
                            <a:t>λ</a:t>
                          </a:r>
                          <a:r>
                            <a:rPr lang="el-GR" sz="1400" dirty="0" smtClean="0"/>
                            <a:t> · ‖λ</a:t>
                          </a:r>
                          <a:r>
                            <a:rPr lang="en-US" sz="1400" baseline="-25000" dirty="0" err="1" smtClean="0"/>
                            <a:t>i,base</a:t>
                          </a:r>
                          <a:r>
                            <a:rPr lang="en-US" sz="1400" dirty="0" smtClean="0"/>
                            <a:t>‖₂) </a:t>
                          </a:r>
                        </a:p>
                        <a:p>
                          <a:pPr>
                            <a:defRPr sz="1100">
                              <a:solidFill>
                                <a:srgbClr val="262626"/>
                              </a:solidFill>
                              <a:latin typeface="Calibri"/>
                            </a:defRPr>
                          </a:pPr>
                          <a:r>
                            <a:rPr lang="el-GR" sz="1400" dirty="0" smtClean="0"/>
                            <a:t>κ</a:t>
                          </a:r>
                          <a:r>
                            <a:rPr lang="el-GR" sz="1400" baseline="-25000" dirty="0" smtClean="0"/>
                            <a:t>λ</a:t>
                          </a:r>
                          <a:r>
                            <a:rPr lang="en-US" sz="1400" dirty="0" smtClean="0"/>
                            <a:t>:</a:t>
                          </a:r>
                          <a:r>
                            <a:rPr lang="en-US" sz="1400" baseline="0" dirty="0" smtClean="0"/>
                            <a:t> the allowable fraction of the base controller magnitude</a:t>
                          </a:r>
                          <a:endParaRPr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>
                            <a:defRPr sz="1100">
                              <a:solidFill>
                                <a:srgbClr val="262626"/>
                              </a:solidFill>
                              <a:latin typeface="Calibri"/>
                            </a:defRPr>
                          </a:pPr>
                          <a:r>
                            <a:rPr lang="en-US" sz="1400" dirty="0" smtClean="0"/>
                            <a:t>Prevents the policy</a:t>
                          </a:r>
                          <a:r>
                            <a:rPr lang="en-US" sz="1400" baseline="0" dirty="0" smtClean="0"/>
                            <a:t> from taking actions above the allowed fraction of the base controller magnitude (dead gradient, no learning). The cap prevents the policy from taking overly aggressive actions.</a:t>
                          </a:r>
                          <a:endParaRPr sz="1400" dirty="0"/>
                        </a:p>
                      </a:txBody>
                      <a:tcPr/>
                    </a:tc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Table 4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692202707"/>
                  </p:ext>
                </p:extLst>
              </p:nvPr>
            </p:nvGraphicFramePr>
            <p:xfrm>
              <a:off x="673154" y="2759413"/>
              <a:ext cx="10728655" cy="3544110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2286000"/>
                    <a:gridCol w="4572000"/>
                    <a:gridCol w="3870655"/>
                  </a:tblGrid>
                  <a:tr h="369651">
                    <a:tc>
                      <a:txBody>
                        <a:bodyPr/>
                        <a:lstStyle/>
                        <a:p>
                          <a:pPr>
                            <a:defRPr sz="1300" b="1">
                              <a:solidFill>
                                <a:srgbClr val="FFFFFF"/>
                              </a:solidFill>
                              <a:latin typeface="Calibri"/>
                            </a:defRPr>
                          </a:pPr>
                          <a:r>
                            <a:rPr sz="1400" dirty="0">
                              <a:solidFill>
                                <a:schemeClr val="tx1"/>
                              </a:solidFill>
                            </a:rPr>
                            <a:t>Term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>
                            <a:defRPr sz="1300" b="1">
                              <a:solidFill>
                                <a:srgbClr val="FFFFFF"/>
                              </a:solidFill>
                              <a:latin typeface="Calibri"/>
                            </a:defRPr>
                          </a:pPr>
                          <a:r>
                            <a:rPr sz="1400" dirty="0">
                              <a:solidFill>
                                <a:schemeClr val="tx1"/>
                              </a:solidFill>
                            </a:rPr>
                            <a:t>Expression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>
                            <a:defRPr sz="1300" b="1">
                              <a:solidFill>
                                <a:srgbClr val="FFFFFF"/>
                              </a:solidFill>
                              <a:latin typeface="Calibri"/>
                            </a:defRPr>
                          </a:pPr>
                          <a:r>
                            <a:rPr dirty="0">
                              <a:solidFill>
                                <a:schemeClr val="tx1"/>
                              </a:solidFill>
                            </a:rPr>
                            <a:t>Role</a:t>
                          </a:r>
                        </a:p>
                      </a:txBody>
                      <a:tcPr/>
                    </a:tc>
                  </a:tr>
                  <a:tr h="731520">
                    <a:tc>
                      <a:txBody>
                        <a:bodyPr/>
                        <a:lstStyle/>
                        <a:p>
                          <a:pPr>
                            <a:defRPr sz="1100" b="1">
                              <a:solidFill>
                                <a:srgbClr val="262626"/>
                              </a:solidFill>
                              <a:latin typeface="Calibri"/>
                            </a:defRPr>
                          </a:pPr>
                          <a:r>
                            <a:rPr sz="1400" dirty="0"/>
                            <a:t>manifold (</a:t>
                          </a:r>
                          <a:r>
                            <a:rPr sz="1400" dirty="0" smtClean="0"/>
                            <a:t>d</a:t>
                          </a:r>
                          <a:r>
                            <a:rPr lang="en-US" sz="1400" baseline="-25000" dirty="0" smtClean="0"/>
                            <a:t>i</a:t>
                          </a:r>
                          <a:r>
                            <a:rPr sz="1400" baseline="30000" dirty="0" smtClean="0"/>
                            <a:t>2</a:t>
                          </a:r>
                          <a:r>
                            <a:rPr sz="1400" dirty="0"/>
                            <a:t>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>
                            <a:defRPr sz="1100">
                              <a:solidFill>
                                <a:srgbClr val="262626"/>
                              </a:solidFill>
                              <a:latin typeface="Calibri"/>
                            </a:defRPr>
                          </a:pPr>
                          <a:r>
                            <a:rPr sz="1400" dirty="0"/>
                            <a:t>‖</a:t>
                          </a:r>
                          <a:r>
                            <a:rPr sz="1400" dirty="0" err="1" smtClean="0"/>
                            <a:t>p</a:t>
                          </a:r>
                          <a:r>
                            <a:rPr sz="1400" baseline="-25000" dirty="0" err="1" smtClean="0"/>
                            <a:t>expert,i</a:t>
                          </a:r>
                          <a:r>
                            <a:rPr sz="1400" dirty="0" smtClean="0"/>
                            <a:t>(t</a:t>
                          </a:r>
                          <a:r>
                            <a:rPr sz="1400" dirty="0"/>
                            <a:t>) − </a:t>
                          </a:r>
                          <a:r>
                            <a:rPr sz="1400" dirty="0" smtClean="0"/>
                            <a:t>p</a:t>
                          </a:r>
                          <a:r>
                            <a:rPr sz="1400" baseline="-25000" dirty="0" smtClean="0"/>
                            <a:t>i</a:t>
                          </a:r>
                          <a:r>
                            <a:rPr lang="en-US" sz="1400" baseline="0" dirty="0" smtClean="0"/>
                            <a:t>(t)</a:t>
                          </a:r>
                          <a:r>
                            <a:rPr sz="1400" dirty="0" smtClean="0"/>
                            <a:t>‖²</a:t>
                          </a:r>
                          <a:endParaRPr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>
                            <a:defRPr sz="1100">
                              <a:solidFill>
                                <a:srgbClr val="262626"/>
                              </a:solidFill>
                              <a:latin typeface="Calibri"/>
                            </a:defRPr>
                          </a:pPr>
                          <a:r>
                            <a:rPr sz="1400" dirty="0"/>
                            <a:t>Stay on the expert loiter </a:t>
                          </a:r>
                          <a:r>
                            <a:rPr sz="1400" dirty="0" smtClean="0"/>
                            <a:t>loop</a:t>
                          </a:r>
                          <a:r>
                            <a:rPr lang="en-US" sz="1400" dirty="0" smtClean="0"/>
                            <a:t>. The goal</a:t>
                          </a:r>
                          <a:r>
                            <a:rPr lang="en-US" sz="1400" baseline="0" dirty="0" smtClean="0"/>
                            <a:t> is not to follow it exactly, but to learn the underlying orbiting behavior in general.</a:t>
                          </a:r>
                          <a:endParaRPr sz="1400" dirty="0"/>
                        </a:p>
                      </a:txBody>
                      <a:tcPr/>
                    </a:tc>
                  </a:tr>
                  <a:tr h="544749">
                    <a:tc>
                      <a:txBody>
                        <a:bodyPr/>
                        <a:lstStyle/>
                        <a:p>
                          <a:pPr>
                            <a:defRPr sz="1100" b="1">
                              <a:solidFill>
                                <a:srgbClr val="262626"/>
                              </a:solidFill>
                              <a:latin typeface="Calibri"/>
                            </a:defRPr>
                          </a:pPr>
                          <a:r>
                            <a:rPr sz="1400" dirty="0" err="1" smtClean="0"/>
                            <a:t>stall</a:t>
                          </a:r>
                          <a:r>
                            <a:rPr lang="en-US" sz="1400" i="1" baseline="-25000" dirty="0" err="1" smtClean="0"/>
                            <a:t>i</a:t>
                          </a:r>
                          <a:endParaRPr sz="1400" i="1" baseline="-250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>
                            <a:defRPr sz="1100">
                              <a:solidFill>
                                <a:srgbClr val="262626"/>
                              </a:solidFill>
                              <a:latin typeface="Calibri"/>
                            </a:defRPr>
                          </a:pPr>
                          <a:r>
                            <a:rPr sz="1400" dirty="0"/>
                            <a:t>Graced hinge below cruise floor:</a:t>
                          </a:r>
                        </a:p>
                        <a:p>
                          <a:pPr>
                            <a:defRPr sz="1100">
                              <a:solidFill>
                                <a:srgbClr val="262626"/>
                              </a:solidFill>
                              <a:latin typeface="Calibri"/>
                            </a:defRPr>
                          </a:pPr>
                          <a:r>
                            <a:rPr sz="1400" dirty="0"/>
                            <a:t>d² + 1.0 · d, where d = max(0, (ε + margin) − ‖</a:t>
                          </a:r>
                          <a:r>
                            <a:rPr sz="1400" dirty="0" smtClean="0"/>
                            <a:t>v</a:t>
                          </a:r>
                          <a:r>
                            <a:rPr sz="1400" baseline="-25000" dirty="0" smtClean="0"/>
                            <a:t>i</a:t>
                          </a:r>
                          <a:r>
                            <a:rPr sz="1400" dirty="0" smtClean="0"/>
                            <a:t>‖)</a:t>
                          </a:r>
                          <a:endParaRPr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>
                            <a:defRPr sz="1100">
                              <a:solidFill>
                                <a:srgbClr val="262626"/>
                              </a:solidFill>
                              <a:latin typeface="Calibri"/>
                            </a:defRPr>
                          </a:pPr>
                          <a:r>
                            <a:rPr sz="1400" dirty="0"/>
                            <a:t>Fixed-wing stall floor (prevents airspeed drop)</a:t>
                          </a:r>
                        </a:p>
                      </a:txBody>
                      <a:tcPr/>
                    </a:tc>
                  </a:tr>
                  <a:tr h="379379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 rotWithShape="0">
                          <a:blip r:embed="rId4"/>
                          <a:stretch>
                            <a:fillRect l="-267" t="-438710" r="-370133" b="-41935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defRPr sz="1100">
                              <a:solidFill>
                                <a:srgbClr val="262626"/>
                              </a:solidFill>
                              <a:latin typeface="Calibri"/>
                            </a:defRPr>
                          </a:pPr>
                          <a:r>
                            <a:rPr sz="1400" dirty="0"/>
                            <a:t>‖</a:t>
                          </a:r>
                          <a:r>
                            <a:rPr sz="1400" dirty="0" smtClean="0"/>
                            <a:t>e</a:t>
                          </a:r>
                          <a:r>
                            <a:rPr lang="en-US" sz="1400" baseline="-25000" dirty="0" smtClean="0"/>
                            <a:t>L</a:t>
                          </a:r>
                          <a:r>
                            <a:rPr sz="1400" dirty="0" smtClean="0"/>
                            <a:t>‖²</a:t>
                          </a:r>
                          <a:endParaRPr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>
                            <a:defRPr sz="1100">
                              <a:solidFill>
                                <a:srgbClr val="262626"/>
                              </a:solidFill>
                              <a:latin typeface="Calibri"/>
                            </a:defRPr>
                          </a:pPr>
                          <a:r>
                            <a:rPr sz="1400" dirty="0"/>
                            <a:t>Keep the load on </a:t>
                          </a:r>
                          <a:r>
                            <a:rPr sz="1400" dirty="0" smtClean="0"/>
                            <a:t>reference</a:t>
                          </a:r>
                          <a:endParaRPr sz="1400" dirty="0"/>
                        </a:p>
                      </a:txBody>
                      <a:tcPr/>
                    </a:tc>
                  </a:tr>
                  <a:tr h="573931">
                    <a:tc>
                      <a:txBody>
                        <a:bodyPr/>
                        <a:lstStyle/>
                        <a:p>
                          <a:pPr>
                            <a:defRPr sz="1100" b="1">
                              <a:solidFill>
                                <a:srgbClr val="262626"/>
                              </a:solidFill>
                              <a:latin typeface="Calibri"/>
                            </a:defRPr>
                          </a:pPr>
                          <a:r>
                            <a:rPr sz="1400" dirty="0" smtClean="0"/>
                            <a:t>overspeed</a:t>
                          </a:r>
                          <a:r>
                            <a:rPr lang="en-US" sz="1400" baseline="-25000" dirty="0" smtClean="0"/>
                            <a:t>i</a:t>
                          </a:r>
                          <a:r>
                            <a:rPr lang="en-US" sz="1400" baseline="30000" dirty="0" smtClean="0"/>
                            <a:t>2</a:t>
                          </a:r>
                          <a:endParaRPr sz="1400" baseline="300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>
                            <a:defRPr sz="1100">
                              <a:solidFill>
                                <a:srgbClr val="262626"/>
                              </a:solidFill>
                              <a:latin typeface="Calibri"/>
                            </a:defRPr>
                          </a:pPr>
                          <a:r>
                            <a:rPr sz="1400" dirty="0" smtClean="0"/>
                            <a:t>min(over² </a:t>
                          </a:r>
                          <a:r>
                            <a:rPr sz="1400" dirty="0"/>
                            <a:t>+ 2 · over, 75</a:t>
                          </a:r>
                          <a:r>
                            <a:rPr sz="1400" dirty="0" smtClean="0"/>
                            <a:t>)</a:t>
                          </a:r>
                          <a:endParaRPr lang="en-US" sz="1400" dirty="0" smtClean="0"/>
                        </a:p>
                        <a:p>
                          <a:pPr marL="0" marR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 sz="1100">
                              <a:solidFill>
                                <a:srgbClr val="262626"/>
                              </a:solidFill>
                              <a:latin typeface="Calibri"/>
                            </a:defRPr>
                          </a:pPr>
                          <a:r>
                            <a:rPr lang="en-US" sz="1400" dirty="0" smtClean="0"/>
                            <a:t>where over = max(0.0, v</a:t>
                          </a:r>
                          <a:r>
                            <a:rPr lang="en-US" sz="1400" baseline="-25000" dirty="0" smtClean="0"/>
                            <a:t>i </a:t>
                          </a:r>
                          <a:r>
                            <a:rPr lang="en-US" sz="1400" dirty="0" smtClean="0"/>
                            <a:t>− </a:t>
                          </a:r>
                          <a:r>
                            <a:rPr lang="en-US" sz="1400" dirty="0" err="1" smtClean="0"/>
                            <a:t>overspeed_v</a:t>
                          </a:r>
                          <a:r>
                            <a:rPr lang="en-US" sz="1400" dirty="0" smtClean="0"/>
                            <a:t>)</a:t>
                          </a:r>
                          <a:endParaRPr lang="en-US" sz="1400" dirty="0" smtClean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>
                            <a:defRPr sz="1100">
                              <a:solidFill>
                                <a:srgbClr val="262626"/>
                              </a:solidFill>
                              <a:latin typeface="Calibri"/>
                            </a:defRPr>
                          </a:pPr>
                          <a:r>
                            <a:rPr lang="en-US" sz="1400" dirty="0" smtClean="0"/>
                            <a:t>Prevent carrier from speeding up unnecessarily.</a:t>
                          </a:r>
                          <a:r>
                            <a:rPr lang="en-US" sz="1400" baseline="0" dirty="0" smtClean="0"/>
                            <a:t> </a:t>
                          </a:r>
                          <a:r>
                            <a:rPr lang="en-US" sz="1400" dirty="0" smtClean="0"/>
                            <a:t>B</a:t>
                          </a:r>
                          <a:r>
                            <a:rPr sz="1400" dirty="0" smtClean="0"/>
                            <a:t>lowup guardrail</a:t>
                          </a:r>
                          <a:r>
                            <a:rPr lang="en-US" sz="1400" dirty="0" smtClean="0"/>
                            <a:t>.</a:t>
                          </a:r>
                          <a:r>
                            <a:rPr lang="en-US" sz="1400" baseline="0" dirty="0" smtClean="0"/>
                            <a:t> </a:t>
                          </a:r>
                          <a:endParaRPr sz="1400" dirty="0"/>
                        </a:p>
                      </a:txBody>
                      <a:tcPr/>
                    </a:tc>
                  </a:tr>
                  <a:tr h="944880">
                    <a:tc>
                      <a:txBody>
                        <a:bodyPr/>
                        <a:lstStyle/>
                        <a:p>
                          <a:pPr rtl="0">
                            <a:defRPr sz="1100" b="1">
                              <a:solidFill>
                                <a:srgbClr val="262626"/>
                              </a:solidFill>
                              <a:latin typeface="Calibri"/>
                            </a:defRPr>
                          </a:pPr>
                          <a:r>
                            <a:rPr sz="1400" dirty="0" err="1" smtClean="0"/>
                            <a:t>overshoot</a:t>
                          </a:r>
                          <a:r>
                            <a:rPr lang="en-US" sz="1400" baseline="-25000" dirty="0" err="1" smtClean="0"/>
                            <a:t>i</a:t>
                          </a:r>
                          <a:endParaRPr sz="1400" baseline="-250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>
                            <a:defRPr sz="1100">
                              <a:solidFill>
                                <a:srgbClr val="262626"/>
                              </a:solidFill>
                              <a:latin typeface="Calibri"/>
                            </a:defRPr>
                          </a:pPr>
                          <a:r>
                            <a:rPr lang="en-US" sz="1400" dirty="0" smtClean="0"/>
                            <a:t>min(over</a:t>
                          </a:r>
                          <a:r>
                            <a:rPr lang="el-GR" sz="1400" baseline="-25000" dirty="0" smtClean="0"/>
                            <a:t>λ,</a:t>
                          </a:r>
                          <a:r>
                            <a:rPr lang="en-US" sz="1400" baseline="-25000" dirty="0" smtClean="0"/>
                            <a:t>i</a:t>
                          </a:r>
                          <a:r>
                            <a:rPr lang="en-US" sz="1400" dirty="0" smtClean="0"/>
                            <a:t>² + over</a:t>
                          </a:r>
                          <a:r>
                            <a:rPr lang="el-GR" sz="1400" baseline="-25000" dirty="0" smtClean="0"/>
                            <a:t>λ,</a:t>
                          </a:r>
                          <a:r>
                            <a:rPr lang="en-US" sz="1400" baseline="-25000" dirty="0" err="1" smtClean="0"/>
                            <a:t>i</a:t>
                          </a:r>
                          <a:r>
                            <a:rPr lang="en-US" sz="1400" baseline="-25000" dirty="0" smtClean="0"/>
                            <a:t> </a:t>
                          </a:r>
                          <a:r>
                            <a:rPr lang="en-US" sz="1400" dirty="0" smtClean="0"/>
                            <a:t>,9)</a:t>
                          </a:r>
                        </a:p>
                        <a:p>
                          <a:pPr>
                            <a:defRPr sz="1100">
                              <a:solidFill>
                                <a:srgbClr val="262626"/>
                              </a:solidFill>
                              <a:latin typeface="Calibri"/>
                            </a:defRPr>
                          </a:pPr>
                          <a:r>
                            <a:rPr lang="en-US" sz="1400" dirty="0" smtClean="0"/>
                            <a:t>where over</a:t>
                          </a:r>
                          <a:r>
                            <a:rPr lang="el-GR" sz="1400" baseline="-25000" dirty="0" smtClean="0"/>
                            <a:t>λ,</a:t>
                          </a:r>
                          <a:r>
                            <a:rPr lang="en-US" sz="1400" baseline="-25000" dirty="0" err="1" smtClean="0"/>
                            <a:t>i</a:t>
                          </a:r>
                          <a:r>
                            <a:rPr lang="en-US" sz="1400" baseline="-25000" dirty="0" smtClean="0"/>
                            <a:t> </a:t>
                          </a:r>
                          <a:r>
                            <a:rPr lang="en-US" sz="1400" dirty="0" smtClean="0"/>
                            <a:t>= max(0, sat</a:t>
                          </a:r>
                          <a:r>
                            <a:rPr lang="el-GR" sz="1400" baseline="-25000" dirty="0" smtClean="0"/>
                            <a:t>λ,</a:t>
                          </a:r>
                          <a:r>
                            <a:rPr lang="en-US" sz="1400" baseline="-25000" dirty="0" err="1" smtClean="0"/>
                            <a:t>i</a:t>
                          </a:r>
                          <a:r>
                            <a:rPr lang="en-US" sz="1400" baseline="-25000" dirty="0" smtClean="0"/>
                            <a:t> </a:t>
                          </a:r>
                          <a:r>
                            <a:rPr lang="en-US" sz="1400" dirty="0" smtClean="0"/>
                            <a:t>− 1)</a:t>
                          </a:r>
                        </a:p>
                        <a:p>
                          <a:pPr>
                            <a:defRPr sz="1100">
                              <a:solidFill>
                                <a:srgbClr val="262626"/>
                              </a:solidFill>
                              <a:latin typeface="Calibri"/>
                            </a:defRPr>
                          </a:pPr>
                          <a:r>
                            <a:rPr lang="en-US" sz="1400" dirty="0" smtClean="0"/>
                            <a:t>and sat</a:t>
                          </a:r>
                          <a:r>
                            <a:rPr lang="el-GR" sz="1400" baseline="-25000" dirty="0" smtClean="0"/>
                            <a:t>λ,</a:t>
                          </a:r>
                          <a:r>
                            <a:rPr lang="en-US" sz="1400" baseline="-25000" dirty="0" err="1" smtClean="0"/>
                            <a:t>i</a:t>
                          </a:r>
                          <a:r>
                            <a:rPr lang="en-US" sz="1400" baseline="-25000" dirty="0" smtClean="0"/>
                            <a:t> </a:t>
                          </a:r>
                          <a:r>
                            <a:rPr lang="en-US" sz="1400" dirty="0" smtClean="0"/>
                            <a:t>= ‖</a:t>
                          </a:r>
                          <a:r>
                            <a:rPr lang="el-GR" sz="1400" u="none" dirty="0" smtClean="0"/>
                            <a:t>δ</a:t>
                          </a:r>
                          <a:r>
                            <a:rPr lang="el-GR" sz="1400" dirty="0" smtClean="0"/>
                            <a:t>λ</a:t>
                          </a:r>
                          <a:r>
                            <a:rPr lang="en-US" sz="1400" baseline="-25000" dirty="0" err="1" smtClean="0"/>
                            <a:t>i</a:t>
                          </a:r>
                          <a:r>
                            <a:rPr lang="en-US" sz="1400" dirty="0" smtClean="0"/>
                            <a:t>‖₂ / (</a:t>
                          </a:r>
                          <a:r>
                            <a:rPr lang="el-GR" sz="1400" dirty="0" smtClean="0"/>
                            <a:t>κ</a:t>
                          </a:r>
                          <a:r>
                            <a:rPr lang="el-GR" sz="1400" baseline="-25000" dirty="0" smtClean="0"/>
                            <a:t>λ</a:t>
                          </a:r>
                          <a:r>
                            <a:rPr lang="el-GR" sz="1400" dirty="0" smtClean="0"/>
                            <a:t> · ‖λ</a:t>
                          </a:r>
                          <a:r>
                            <a:rPr lang="en-US" sz="1400" baseline="-25000" dirty="0" err="1" smtClean="0"/>
                            <a:t>i,base</a:t>
                          </a:r>
                          <a:r>
                            <a:rPr lang="en-US" sz="1400" dirty="0" smtClean="0"/>
                            <a:t>‖₂) </a:t>
                          </a:r>
                        </a:p>
                        <a:p>
                          <a:pPr>
                            <a:defRPr sz="1100">
                              <a:solidFill>
                                <a:srgbClr val="262626"/>
                              </a:solidFill>
                              <a:latin typeface="Calibri"/>
                            </a:defRPr>
                          </a:pPr>
                          <a:r>
                            <a:rPr lang="el-GR" sz="1400" dirty="0" smtClean="0"/>
                            <a:t>κ</a:t>
                          </a:r>
                          <a:r>
                            <a:rPr lang="el-GR" sz="1400" baseline="-25000" dirty="0" smtClean="0"/>
                            <a:t>λ</a:t>
                          </a:r>
                          <a:r>
                            <a:rPr lang="en-US" sz="1400" dirty="0" smtClean="0"/>
                            <a:t>:</a:t>
                          </a:r>
                          <a:r>
                            <a:rPr lang="en-US" sz="1400" baseline="0" dirty="0" smtClean="0"/>
                            <a:t> the allowable fraction of the base controller magnitude</a:t>
                          </a:r>
                          <a:endParaRPr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>
                            <a:defRPr sz="1100">
                              <a:solidFill>
                                <a:srgbClr val="262626"/>
                              </a:solidFill>
                              <a:latin typeface="Calibri"/>
                            </a:defRPr>
                          </a:pPr>
                          <a:r>
                            <a:rPr lang="en-US" sz="1400" dirty="0" smtClean="0"/>
                            <a:t>Prevents the policy</a:t>
                          </a:r>
                          <a:r>
                            <a:rPr lang="en-US" sz="1400" baseline="0" dirty="0" smtClean="0"/>
                            <a:t> from taking actions above the allowed </a:t>
                          </a:r>
                          <a:r>
                            <a:rPr lang="en-US" sz="1400" baseline="0" dirty="0" smtClean="0"/>
                            <a:t>fraction of the base controller magnitude (dead gradient, no learning). The cap prevents the policy from taking overly aggressive actions.</a:t>
                          </a:r>
                          <a:endParaRPr sz="1400" dirty="0"/>
                        </a:p>
                      </a:txBody>
                      <a:tcPr/>
                    </a:tc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05187419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"/>
          <p:cNvSpPr txBox="1">
            <a:spLocks noGrp="1"/>
          </p:cNvSpPr>
          <p:nvPr>
            <p:ph type="title"/>
          </p:nvPr>
        </p:nvSpPr>
        <p:spPr>
          <a:xfrm>
            <a:off x="456000" y="1142356"/>
            <a:ext cx="11736000" cy="11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</a:pPr>
            <a:r>
              <a:rPr lang="en-US" dirty="0" smtClean="0"/>
              <a:t>Residual MARL: Some Results</a:t>
            </a:r>
            <a:endParaRPr dirty="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73949" y="1918142"/>
            <a:ext cx="6404895" cy="4803671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058296"/>
            <a:ext cx="5904689" cy="43716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04833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391" y="1332664"/>
            <a:ext cx="10655030" cy="52858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950587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8017" y="1238350"/>
            <a:ext cx="11327798" cy="5619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63327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6000" y="1178481"/>
            <a:ext cx="7827533" cy="6088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925469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41660" y="1705749"/>
            <a:ext cx="6104425" cy="4578319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1647860"/>
            <a:ext cx="6181611" cy="46362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06787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934" y="1332132"/>
            <a:ext cx="10518843" cy="52183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09601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937" y="1427332"/>
            <a:ext cx="10946859" cy="54306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16987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14"/>
          <p:cNvSpPr txBox="1">
            <a:spLocks noGrp="1"/>
          </p:cNvSpPr>
          <p:nvPr>
            <p:ph type="title" idx="4294967295"/>
          </p:nvPr>
        </p:nvSpPr>
        <p:spPr>
          <a:xfrm>
            <a:off x="838200" y="-1325563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/>
              <a:buNone/>
            </a:pPr>
            <a:r>
              <a:rPr lang="it-IT"/>
              <a:t>Università degli Studi di Padova</a:t>
            </a: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Tema di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i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18078</TotalTime>
  <Words>1067</Words>
  <Application>Microsoft Office PowerPoint</Application>
  <PresentationFormat>Widescreen</PresentationFormat>
  <Paragraphs>224</Paragraphs>
  <Slides>32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7" baseType="lpstr">
      <vt:lpstr>Arial</vt:lpstr>
      <vt:lpstr>Calibri</vt:lpstr>
      <vt:lpstr>Cambria Math</vt:lpstr>
      <vt:lpstr>Google Sans Text</vt:lpstr>
      <vt:lpstr>Tema di Office</vt:lpstr>
      <vt:lpstr>Learning Cooperative Transportation using fixed-wings drones</vt:lpstr>
      <vt:lpstr>Updates: Imitation Learning Generalization:</vt:lpstr>
      <vt:lpstr>PowerPoint Presentation</vt:lpstr>
      <vt:lpstr>Updates: Formulation 1 Generalization:</vt:lpstr>
      <vt:lpstr>Results of Imitation learning Generalization</vt:lpstr>
      <vt:lpstr>Results of Imitation learning Generalization</vt:lpstr>
      <vt:lpstr>Results of Imitation learning Generalization</vt:lpstr>
      <vt:lpstr>Results of Imitation learning Generalization</vt:lpstr>
      <vt:lpstr>Results of Imitation learning Generalization</vt:lpstr>
      <vt:lpstr>Results of Imitation learning Generalization</vt:lpstr>
      <vt:lpstr>Results of Imitation learning Generalization</vt:lpstr>
      <vt:lpstr>Results of Imitation learning Generalization</vt:lpstr>
      <vt:lpstr>Results of Imitation learning Generalization</vt:lpstr>
      <vt:lpstr>Results of Imitation learning Generalization</vt:lpstr>
      <vt:lpstr>Results of Imitation learning Generalization</vt:lpstr>
      <vt:lpstr>Results of Imitation learning Generalization</vt:lpstr>
      <vt:lpstr>Load Tracking Performance (Average across multiple testing runs)</vt:lpstr>
      <vt:lpstr>Drone Trajectory &amp; λ Discrepancy vs. Optimizer Reference (Average across multiple testing runs)</vt:lpstr>
      <vt:lpstr>Residual MARL</vt:lpstr>
      <vt:lpstr>Residual MARL</vt:lpstr>
      <vt:lpstr>Residual MARL</vt:lpstr>
      <vt:lpstr>Residual MARL</vt:lpstr>
      <vt:lpstr>Residual MARL</vt:lpstr>
      <vt:lpstr>Residual MARL</vt:lpstr>
      <vt:lpstr>Residual MARL: Some Results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Università degli Studi di Padova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Cooperative Transportation using fixed-wings drones</dc:title>
  <dc:creator>Bocchi Giuliano</dc:creator>
  <cp:lastModifiedBy>Microsoft account</cp:lastModifiedBy>
  <cp:revision>108</cp:revision>
  <dcterms:created xsi:type="dcterms:W3CDTF">2022-07-26T10:43:33Z</dcterms:created>
  <dcterms:modified xsi:type="dcterms:W3CDTF">2026-09-05T13:15:18Z</dcterms:modified>
</cp:coreProperties>
</file>