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99" r:id="rId4"/>
    <p:sldId id="300" r:id="rId5"/>
    <p:sldId id="301" r:id="rId6"/>
    <p:sldId id="302" r:id="rId7"/>
    <p:sldId id="303" r:id="rId8"/>
    <p:sldId id="304" r:id="rId9"/>
    <p:sldId id="280" r:id="rId10"/>
    <p:sldId id="305" r:id="rId11"/>
    <p:sldId id="306" r:id="rId12"/>
    <p:sldId id="307" r:id="rId13"/>
    <p:sldId id="308" r:id="rId14"/>
    <p:sldId id="309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e1wWgYMlsTmwPP8JtiEZSoLZ/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9EECCA-3B2E-439E-A9FE-AE0BB2C482AD}">
  <a:tblStyle styleId="{B49EECCA-3B2E-439E-A9FE-AE0BB2C482A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515" autoAdjust="0"/>
  </p:normalViewPr>
  <p:slideViewPr>
    <p:cSldViewPr snapToGrid="0">
      <p:cViewPr varScale="1">
        <p:scale>
          <a:sx n="78" d="100"/>
          <a:sy n="78" d="100"/>
        </p:scale>
        <p:origin x="8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125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482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2089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4106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187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1787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4482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665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1849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0808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9511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813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5661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6217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2116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953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olo e testo verticale">
  <p:cSld name="2_Titolo e testo vertica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91425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pic>
        <p:nvPicPr>
          <p:cNvPr id="17" name="Google Shape;1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41397" y="1159933"/>
            <a:ext cx="4709206" cy="210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547593" y="3285951"/>
            <a:ext cx="9096815" cy="129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2935526" y="4741032"/>
            <a:ext cx="6320949" cy="7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olo e testo verticale">
  <p:cSld name="3_Titolo e testo vertica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/>
          <p:nvPr/>
        </p:nvSpPr>
        <p:spPr>
          <a:xfrm>
            <a:off x="-1" y="0"/>
            <a:ext cx="12192001" cy="1138767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72000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6000" y="1153221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6179127" y="2592996"/>
            <a:ext cx="5663346" cy="3859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2"/>
          </p:nvPr>
        </p:nvSpPr>
        <p:spPr>
          <a:xfrm>
            <a:off x="1215640" y="2592996"/>
            <a:ext cx="3781233" cy="179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3"/>
          </p:nvPr>
        </p:nvSpPr>
        <p:spPr>
          <a:xfrm>
            <a:off x="1215640" y="4777396"/>
            <a:ext cx="3781234" cy="179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6000" y="147563"/>
            <a:ext cx="1885998" cy="84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>
  <p:cSld name="Titolo e testo vertica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91425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1098" y="2269067"/>
            <a:ext cx="5189805" cy="2319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">
  <p:cSld name="Layout personalizzat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>
            <a:spLocks noGrp="1"/>
          </p:cNvSpPr>
          <p:nvPr>
            <p:ph type="ctrTitle"/>
          </p:nvPr>
        </p:nvSpPr>
        <p:spPr>
          <a:xfrm>
            <a:off x="1547591" y="3665329"/>
            <a:ext cx="9096815" cy="129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/>
            <a:r>
              <a:rPr lang="en-US" b="1" dirty="0" smtClean="0"/>
              <a:t>RL Cooperative Transportation using fixed-wings drones</a:t>
            </a:r>
            <a:endParaRPr dirty="0"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1"/>
          </p:nvPr>
        </p:nvSpPr>
        <p:spPr>
          <a:xfrm>
            <a:off x="2935525" y="5295508"/>
            <a:ext cx="6320949" cy="7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 dirty="0" smtClean="0"/>
              <a:t>RL Project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 dirty="0" smtClean="0"/>
              <a:t>Part of thesis</a:t>
            </a: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9" y="2178768"/>
            <a:ext cx="11385933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SzPts val="3200"/>
            </a:pPr>
            <a:r>
              <a:rPr lang="en-US" dirty="0" smtClean="0"/>
              <a:t>Action Space: </a:t>
            </a:r>
            <a:r>
              <a:rPr lang="el-GR" dirty="0" smtClean="0"/>
              <a:t>δ</a:t>
            </a:r>
            <a:r>
              <a:rPr lang="en-US" dirty="0"/>
              <a:t>𝑓</a:t>
            </a:r>
            <a:r>
              <a:rPr lang="en-US" dirty="0" smtClean="0"/>
              <a:t> </a:t>
            </a:r>
            <a:r>
              <a:rPr lang="en-US" dirty="0"/>
              <a:t>∈ </a:t>
            </a:r>
            <a:r>
              <a:rPr lang="en-US" dirty="0" smtClean="0"/>
              <a:t>R</a:t>
            </a:r>
            <a:r>
              <a:rPr lang="en-US" baseline="30000" dirty="0" smtClean="0"/>
              <a:t>3n</a:t>
            </a:r>
            <a:r>
              <a:rPr lang="en-US" dirty="0" smtClean="0"/>
              <a:t> </a:t>
            </a:r>
          </a:p>
          <a:p>
            <a:pPr lvl="1" indent="-457200">
              <a:buSzPts val="3200"/>
            </a:pPr>
            <a:r>
              <a:rPr lang="en-US" dirty="0" smtClean="0"/>
              <a:t>Keep wrench controller and optimizer. Run decentralized</a:t>
            </a:r>
          </a:p>
          <a:p>
            <a:pPr marL="457200" lvl="1" indent="0">
              <a:buSzPts val="3200"/>
              <a:buNone/>
            </a:pPr>
            <a:r>
              <a:rPr lang="en-US" dirty="0" smtClean="0"/>
              <a:t>				</a:t>
            </a:r>
            <a:r>
              <a:rPr lang="en-US" dirty="0"/>
              <a:t>𝑓 (𝑡) = 𝑓</a:t>
            </a:r>
            <a:r>
              <a:rPr lang="en-US" baseline="-25000" dirty="0"/>
              <a:t>𝑔</a:t>
            </a:r>
            <a:r>
              <a:rPr lang="en-US" dirty="0"/>
              <a:t>(𝑡)+ 𝑓</a:t>
            </a:r>
            <a:r>
              <a:rPr lang="en-US" baseline="-25000" dirty="0"/>
              <a:t>𝜆</a:t>
            </a:r>
            <a:r>
              <a:rPr lang="en-US" dirty="0"/>
              <a:t>(𝑡</a:t>
            </a:r>
            <a:r>
              <a:rPr lang="en-US" dirty="0" smtClean="0"/>
              <a:t>) + </a:t>
            </a:r>
            <a:r>
              <a:rPr lang="el-GR" u="sng" dirty="0" smtClean="0"/>
              <a:t>δ</a:t>
            </a:r>
            <a:r>
              <a:rPr lang="en-US" u="sng" dirty="0" smtClean="0"/>
              <a:t>𝑓(t)</a:t>
            </a:r>
          </a:p>
          <a:p>
            <a:pPr marL="457200" lvl="1" indent="0">
              <a:buSzPts val="3200"/>
              <a:buNone/>
            </a:pPr>
            <a:endParaRPr lang="en-US" u="sng" dirty="0" smtClean="0"/>
          </a:p>
          <a:p>
            <a:pPr marL="457200" lvl="1" indent="0">
              <a:buSzPts val="3200"/>
              <a:buNone/>
            </a:pPr>
            <a:endParaRPr lang="en-US" u="sng" dirty="0" smtClean="0"/>
          </a:p>
          <a:p>
            <a:pPr lvl="1" indent="-457200">
              <a:buSzPts val="3200"/>
            </a:pPr>
            <a:r>
              <a:rPr lang="en-US" dirty="0" smtClean="0"/>
              <a:t>Much better learning when decomposed</a:t>
            </a:r>
            <a:endParaRPr lang="en-US" dirty="0"/>
          </a:p>
          <a:p>
            <a:pPr marL="457200" lvl="1" indent="0">
              <a:buSzPts val="3200"/>
              <a:buNone/>
            </a:pPr>
            <a:r>
              <a:rPr lang="en-US" dirty="0"/>
              <a:t>			</a:t>
            </a:r>
            <a:r>
              <a:rPr lang="en-US" dirty="0" smtClean="0"/>
              <a:t>𝑓 </a:t>
            </a:r>
            <a:r>
              <a:rPr lang="en-US" dirty="0"/>
              <a:t>(𝑡)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G(t)</a:t>
            </a:r>
            <a:r>
              <a:rPr lang="en-US" baseline="30000" dirty="0" smtClean="0"/>
              <a:t>† </a:t>
            </a:r>
            <a:r>
              <a:rPr lang="en-US" dirty="0" smtClean="0"/>
              <a:t>· (w</a:t>
            </a:r>
            <a:r>
              <a:rPr lang="en-US" baseline="-25000" dirty="0" smtClean="0"/>
              <a:t>d</a:t>
            </a:r>
            <a:r>
              <a:rPr lang="en-US" dirty="0" smtClean="0"/>
              <a:t>(t) + </a:t>
            </a:r>
            <a:r>
              <a:rPr lang="el-GR" u="sng" dirty="0" smtClean="0"/>
              <a:t>δ</a:t>
            </a:r>
            <a:r>
              <a:rPr lang="en-US" u="sng" dirty="0" smtClean="0"/>
              <a:t>w(t)</a:t>
            </a:r>
            <a:r>
              <a:rPr lang="en-US" dirty="0" smtClean="0"/>
              <a:t>)  + N(t) </a:t>
            </a:r>
            <a:r>
              <a:rPr lang="en-US" dirty="0"/>
              <a:t>· </a:t>
            </a:r>
            <a:r>
              <a:rPr lang="en-US" dirty="0" smtClean="0"/>
              <a:t>(</a:t>
            </a:r>
            <a:r>
              <a:rPr lang="el-GR" dirty="0" smtClean="0"/>
              <a:t>λ(</a:t>
            </a:r>
            <a:r>
              <a:rPr lang="en-US" dirty="0"/>
              <a:t>t</a:t>
            </a:r>
            <a:r>
              <a:rPr lang="en-US" dirty="0" smtClean="0"/>
              <a:t>) + </a:t>
            </a:r>
            <a:r>
              <a:rPr lang="el-GR" u="sng" dirty="0" smtClean="0"/>
              <a:t>δλ</a:t>
            </a:r>
            <a:r>
              <a:rPr lang="en-US" u="sng" dirty="0" smtClean="0"/>
              <a:t>(t)</a:t>
            </a:r>
            <a:r>
              <a:rPr lang="en-US" dirty="0" smtClean="0"/>
              <a:t>)</a:t>
            </a:r>
            <a:endParaRPr lang="ar-EG" dirty="0"/>
          </a:p>
          <a:p>
            <a:pPr marL="457200" lvl="1" indent="0">
              <a:buSzPts val="3200"/>
              <a:buNone/>
            </a:pPr>
            <a:r>
              <a:rPr lang="el-GR" dirty="0" smtClean="0"/>
              <a:t>δ</a:t>
            </a:r>
            <a:r>
              <a:rPr lang="en-US" dirty="0" smtClean="0"/>
              <a:t>w</a:t>
            </a:r>
            <a:r>
              <a:rPr lang="ar-EG" dirty="0" smtClean="0"/>
              <a:t> </a:t>
            </a:r>
            <a:r>
              <a:rPr lang="en-US" dirty="0" smtClean="0"/>
              <a:t>∈ R</a:t>
            </a:r>
            <a:r>
              <a:rPr lang="ar-EG" baseline="30000" dirty="0" smtClean="0"/>
              <a:t>6</a:t>
            </a:r>
            <a:r>
              <a:rPr lang="en-US" baseline="30000" dirty="0"/>
              <a:t> </a:t>
            </a:r>
            <a:r>
              <a:rPr lang="en-US" dirty="0" smtClean="0"/>
              <a:t>, </a:t>
            </a:r>
            <a:r>
              <a:rPr lang="el-GR" dirty="0" smtClean="0"/>
              <a:t>δλ</a:t>
            </a:r>
            <a:r>
              <a:rPr lang="en-US" dirty="0" smtClean="0"/>
              <a:t> </a:t>
            </a:r>
            <a:r>
              <a:rPr lang="en-US" dirty="0"/>
              <a:t>∈ </a:t>
            </a:r>
            <a:r>
              <a:rPr lang="en-US" dirty="0" err="1" smtClean="0"/>
              <a:t>R</a:t>
            </a:r>
            <a:r>
              <a:rPr lang="en-US" baseline="30000" dirty="0" err="1"/>
              <a:t>n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47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5999" y="2178768"/>
                <a:ext cx="11385933" cy="4520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buSzPts val="3200"/>
                </a:pPr>
                <a:r>
                  <a:rPr lang="en-US" dirty="0" smtClean="0"/>
                  <a:t>Observation</a:t>
                </a:r>
                <a:r>
                  <a:rPr lang="en-US" dirty="0" smtClean="0"/>
                  <a:t> Space (Original)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 smtClean="0"/>
                  <a:t>44</a:t>
                </a:r>
                <a:r>
                  <a:rPr lang="en-US" dirty="0" smtClean="0"/>
                  <a:t> </a:t>
                </a:r>
                <a:r>
                  <a:rPr lang="en-US" dirty="0" smtClean="0"/>
                  <a:t>: 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Measured load state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 smtClean="0"/>
                  <a:t>18</a:t>
                </a:r>
                <a:r>
                  <a:rPr lang="en-US" dirty="0" smtClean="0"/>
                  <a:t> 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[</a:t>
                </a:r>
                <a:r>
                  <a:rPr lang="en-US" dirty="0" err="1" smtClean="0"/>
                  <a:t>p</a:t>
                </a:r>
                <a:r>
                  <a:rPr lang="en-US" baseline="-25000" dirty="0" err="1" smtClean="0"/>
                  <a:t>L</a:t>
                </a:r>
                <a:r>
                  <a:rPr lang="en-US" dirty="0" smtClean="0"/>
                  <a:t>(t</a:t>
                </a:r>
                <a:r>
                  <a:rPr lang="en-US" dirty="0"/>
                  <a:t>), </a:t>
                </a:r>
                <a:r>
                  <a:rPr lang="en-US" dirty="0" smtClean="0"/>
                  <a:t>R</a:t>
                </a:r>
                <a:r>
                  <a:rPr lang="en-US" baseline="-25000" dirty="0" smtClean="0"/>
                  <a:t>L</a:t>
                </a:r>
                <a:r>
                  <a:rPr lang="en-US" dirty="0" smtClean="0"/>
                  <a:t>(t</a:t>
                </a:r>
                <a:r>
                  <a:rPr lang="en-US" dirty="0"/>
                  <a:t>),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</m:oMath>
                </a14:m>
                <a:r>
                  <a:rPr lang="en-US" baseline="-25000" dirty="0" smtClean="0"/>
                  <a:t>L</a:t>
                </a:r>
                <a:r>
                  <a:rPr lang="en-US" dirty="0" smtClean="0"/>
                  <a:t>(t</a:t>
                </a:r>
                <a:r>
                  <a:rPr lang="en-US" dirty="0"/>
                  <a:t>),  </a:t>
                </a:r>
                <a:r>
                  <a:rPr lang="en-US" dirty="0" err="1" smtClean="0"/>
                  <a:t>ω</a:t>
                </a:r>
                <a:r>
                  <a:rPr lang="en-US" baseline="-25000" dirty="0" err="1" smtClean="0"/>
                  <a:t>L</a:t>
                </a:r>
                <a:r>
                  <a:rPr lang="en-US" dirty="0" smtClean="0"/>
                  <a:t>(t)]</a:t>
                </a:r>
                <a:endParaRPr lang="en-US" baseline="-25000" dirty="0" smtClean="0"/>
              </a:p>
              <a:p>
                <a:pPr lvl="1" indent="-457200">
                  <a:buSzPts val="3200"/>
                </a:pPr>
                <a:r>
                  <a:rPr lang="en-US" dirty="0" smtClean="0"/>
                  <a:t>Own carrier position and velocity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/>
                  <a:t>6</a:t>
                </a:r>
                <a:r>
                  <a:rPr lang="en-US" dirty="0" smtClean="0"/>
                  <a:t> 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:r>
                  <a:rPr lang="en-US" dirty="0"/>
                  <a:t>	</a:t>
                </a:r>
                <a:r>
                  <a:rPr lang="en-US" dirty="0" smtClean="0"/>
                  <a:t>[</a:t>
                </a:r>
                <a:r>
                  <a:rPr lang="en-US" dirty="0" err="1" smtClean="0"/>
                  <a:t>p</a:t>
                </a:r>
                <a:r>
                  <a:rPr lang="en-US" baseline="-25000" dirty="0" err="1" smtClean="0"/>
                  <a:t>R</a:t>
                </a:r>
                <a:r>
                  <a:rPr lang="en-US" dirty="0" smtClean="0"/>
                  <a:t>(t</a:t>
                </a:r>
                <a:r>
                  <a:rPr lang="en-US" dirty="0"/>
                  <a:t>)</a:t>
                </a:r>
                <a:r>
                  <a:rPr lang="en-US" dirty="0" smtClean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="0" i="0" baseline="-25000" smtClean="0"/>
                      <m:t>R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 smtClean="0"/>
                  <a:t>)]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Base force components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[</a:t>
                </a:r>
                <a:r>
                  <a:rPr lang="en-US" dirty="0"/>
                  <a:t>𝑓</a:t>
                </a:r>
                <a:r>
                  <a:rPr lang="en-US" baseline="-25000" dirty="0"/>
                  <a:t>𝑔</a:t>
                </a:r>
                <a:r>
                  <a:rPr lang="en-US" dirty="0"/>
                  <a:t>(𝑡</a:t>
                </a:r>
                <a:r>
                  <a:rPr lang="en-US" dirty="0" smtClean="0"/>
                  <a:t>), </a:t>
                </a:r>
                <a:r>
                  <a:rPr lang="en-US" dirty="0"/>
                  <a:t>𝑓</a:t>
                </a:r>
                <a:r>
                  <a:rPr lang="en-US" baseline="-25000" dirty="0"/>
                  <a:t>𝜆</a:t>
                </a:r>
                <a:r>
                  <a:rPr lang="en-US" dirty="0"/>
                  <a:t>(𝑡</a:t>
                </a:r>
                <a:r>
                  <a:rPr lang="en-US" dirty="0" smtClean="0"/>
                  <a:t>)]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Fourier </a:t>
                </a:r>
                <a:r>
                  <a:rPr lang="en-US" dirty="0"/>
                  <a:t>time embedding/features</a:t>
                </a:r>
              </a:p>
              <a:p>
                <a:pPr marL="914400" lvl="2" indent="0">
                  <a:buSzPts val="3200"/>
                  <a:buNone/>
                </a:pPr>
                <a:r>
                  <a:rPr lang="en-US" sz="2400" dirty="0"/>
                  <a:t>	ϕ(t)  = [sin(ω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​t),</a:t>
                </a:r>
                <a:r>
                  <a:rPr lang="en-US" sz="2400" dirty="0" err="1"/>
                  <a:t>cos</a:t>
                </a:r>
                <a:r>
                  <a:rPr lang="en-US" sz="2400" dirty="0"/>
                  <a:t>(ω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​t),sin(ω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​t),</a:t>
                </a:r>
                <a:r>
                  <a:rPr lang="en-US" sz="2400" dirty="0" err="1"/>
                  <a:t>cos</a:t>
                </a:r>
                <a:r>
                  <a:rPr lang="en-US" sz="2400" dirty="0"/>
                  <a:t>(ω</a:t>
                </a:r>
                <a:r>
                  <a:rPr lang="en-US" sz="2400" baseline="-25000" dirty="0"/>
                  <a:t>2​</a:t>
                </a:r>
                <a:r>
                  <a:rPr lang="en-US" sz="2400" dirty="0"/>
                  <a:t>t),… sin(</a:t>
                </a:r>
                <a:r>
                  <a:rPr lang="en-US" sz="2400" dirty="0" err="1"/>
                  <a:t>ω</a:t>
                </a:r>
                <a:r>
                  <a:rPr lang="en-US" sz="2400" baseline="-25000" dirty="0" err="1"/>
                  <a:t>k</a:t>
                </a:r>
                <a:r>
                  <a:rPr lang="en-US" sz="2400" dirty="0" err="1"/>
                  <a:t>t</a:t>
                </a:r>
                <a:r>
                  <a:rPr lang="en-US" sz="2400" dirty="0"/>
                  <a:t>), </a:t>
                </a:r>
                <a:r>
                  <a:rPr lang="en-US" sz="2400" dirty="0" err="1"/>
                  <a:t>cos</a:t>
                </a:r>
                <a:r>
                  <a:rPr lang="en-US" sz="2400" dirty="0"/>
                  <a:t>(</a:t>
                </a:r>
                <a:r>
                  <a:rPr lang="en-US" sz="2400" dirty="0" err="1"/>
                  <a:t>ω</a:t>
                </a:r>
                <a:r>
                  <a:rPr lang="en-US" sz="2400" baseline="-25000" dirty="0" err="1"/>
                  <a:t>k</a:t>
                </a:r>
                <a:r>
                  <a:rPr lang="en-US" sz="2400" dirty="0" err="1"/>
                  <a:t>t</a:t>
                </a:r>
                <a:r>
                  <a:rPr lang="en-US" sz="2400" dirty="0" smtClean="0"/>
                  <a:t>)]</a:t>
                </a:r>
                <a:endParaRPr lang="en-US" u="sng" dirty="0" smtClean="0"/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5999" y="2178768"/>
                <a:ext cx="11385933" cy="4520796"/>
              </a:xfrm>
              <a:prstGeom prst="rect">
                <a:avLst/>
              </a:prstGeom>
              <a:blipFill rotWithShape="0">
                <a:blip r:embed="rId3"/>
                <a:stretch>
                  <a:fillRect l="-1231" t="-1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2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6000" y="2013398"/>
                <a:ext cx="11385933" cy="4844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indent="-457200">
                  <a:buSzPts val="3200"/>
                </a:pPr>
                <a:r>
                  <a:rPr lang="en-US" dirty="0" smtClean="0"/>
                  <a:t>Observation</a:t>
                </a:r>
                <a:r>
                  <a:rPr lang="en-US" dirty="0" smtClean="0"/>
                  <a:t> Space (Augmented)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 smtClean="0"/>
                  <a:t>98</a:t>
                </a:r>
                <a:r>
                  <a:rPr lang="en-US" dirty="0" smtClean="0"/>
                  <a:t> </a:t>
                </a:r>
                <a:r>
                  <a:rPr lang="en-US" dirty="0" smtClean="0"/>
                  <a:t>:</a:t>
                </a:r>
              </a:p>
              <a:p>
                <a:pPr indent="-457200">
                  <a:buSzPts val="3200"/>
                </a:pPr>
                <a:r>
                  <a:rPr lang="en-US" sz="2400" dirty="0"/>
                  <a:t>Original Observation Space in addition to: </a:t>
                </a:r>
              </a:p>
              <a:p>
                <a:pPr lvl="1" indent="-457200">
                  <a:buSzPts val="3200"/>
                </a:pPr>
                <a:r>
                  <a:rPr lang="en-US" dirty="0"/>
                  <a:t>The last two measured load states </a:t>
                </a:r>
                <a:r>
                  <a:rPr lang="en-US" dirty="0"/>
                  <a:t>∈ </a:t>
                </a:r>
                <a:r>
                  <a:rPr lang="en-US" dirty="0"/>
                  <a:t>R</a:t>
                </a:r>
                <a:r>
                  <a:rPr lang="en-US" baseline="30000" dirty="0"/>
                  <a:t>24</a:t>
                </a:r>
                <a:endParaRPr lang="en-US" baseline="-25000" dirty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L</a:t>
                </a:r>
                <a:r>
                  <a:rPr lang="en-US" dirty="0"/>
                  <a:t>(t-1), R</a:t>
                </a:r>
                <a:r>
                  <a:rPr lang="en-US" baseline="-25000" dirty="0"/>
                  <a:t>L</a:t>
                </a:r>
                <a:r>
                  <a:rPr lang="en-US" dirty="0"/>
                  <a:t>(t-1),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</m:oMath>
                </a14:m>
                <a:r>
                  <a:rPr lang="en-US" baseline="-25000" dirty="0"/>
                  <a:t>L</a:t>
                </a:r>
                <a:r>
                  <a:rPr lang="en-US" dirty="0"/>
                  <a:t>(t-1),  </a:t>
                </a:r>
                <a:r>
                  <a:rPr lang="en-US" dirty="0" err="1"/>
                  <a:t>ω</a:t>
                </a:r>
                <a:r>
                  <a:rPr lang="en-US" baseline="-25000" dirty="0" err="1"/>
                  <a:t>L</a:t>
                </a:r>
                <a:r>
                  <a:rPr lang="en-US" dirty="0"/>
                  <a:t>(t-1)]</a:t>
                </a:r>
                <a:endParaRPr lang="en-US" baseline="-25000" dirty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L</a:t>
                </a:r>
                <a:r>
                  <a:rPr lang="en-US" dirty="0"/>
                  <a:t>(t-2), R</a:t>
                </a:r>
                <a:r>
                  <a:rPr lang="en-US" baseline="-25000" dirty="0"/>
                  <a:t>L</a:t>
                </a:r>
                <a:r>
                  <a:rPr lang="en-US" dirty="0"/>
                  <a:t>(t-2),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</m:oMath>
                </a14:m>
                <a:r>
                  <a:rPr lang="en-US" baseline="-25000" dirty="0"/>
                  <a:t>L</a:t>
                </a:r>
                <a:r>
                  <a:rPr lang="en-US" dirty="0"/>
                  <a:t>(t-2),  </a:t>
                </a:r>
                <a:r>
                  <a:rPr lang="en-US" dirty="0" err="1"/>
                  <a:t>ω</a:t>
                </a:r>
                <a:r>
                  <a:rPr lang="en-US" baseline="-25000" dirty="0" err="1"/>
                  <a:t>L</a:t>
                </a:r>
                <a:r>
                  <a:rPr lang="en-US" dirty="0"/>
                  <a:t>(t-2)]</a:t>
                </a:r>
              </a:p>
              <a:p>
                <a:pPr lvl="1" indent="-457200">
                  <a:buSzPts val="3200"/>
                </a:pPr>
                <a:r>
                  <a:rPr lang="en-US" dirty="0"/>
                  <a:t>The last two own carrier position and velocity ∈ R</a:t>
                </a:r>
                <a:r>
                  <a:rPr lang="en-US" baseline="30000" dirty="0"/>
                  <a:t>12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	  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R</a:t>
                </a:r>
                <a:r>
                  <a:rPr lang="en-US" dirty="0"/>
                  <a:t>(t-1),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/>
                  <a:t>-1)]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	  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R</a:t>
                </a:r>
                <a:r>
                  <a:rPr lang="en-US" dirty="0"/>
                  <a:t>(t-2),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/>
                  <a:t>-2</a:t>
                </a:r>
                <a:r>
                  <a:rPr lang="en-US" dirty="0"/>
                  <a:t>)]</a:t>
                </a:r>
                <a:endParaRPr lang="en-US" dirty="0"/>
              </a:p>
              <a:p>
                <a:pPr lvl="1" indent="-457200">
                  <a:buSzPts val="3200"/>
                </a:pPr>
                <a:r>
                  <a:rPr lang="en-US" dirty="0"/>
                  <a:t>Reference load state at current time </a:t>
                </a:r>
                <a:r>
                  <a:rPr lang="en-US" dirty="0"/>
                  <a:t>∈ R</a:t>
                </a:r>
                <a:r>
                  <a:rPr lang="en-US" baseline="30000" dirty="0"/>
                  <a:t>18</a:t>
                </a:r>
                <a:r>
                  <a:rPr lang="en-US" dirty="0"/>
                  <a:t> </a:t>
                </a:r>
                <a:endParaRPr lang="en-US" dirty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</a:t>
                </a:r>
                <a:r>
                  <a:rPr lang="en-US" dirty="0"/>
                  <a:t>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Ld</a:t>
                </a:r>
                <a:r>
                  <a:rPr lang="en-US" dirty="0"/>
                  <a:t>(t),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Ld</a:t>
                </a:r>
                <a:r>
                  <a:rPr lang="en-US" dirty="0"/>
                  <a:t>(t),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</m:oMath>
                </a14:m>
                <a:r>
                  <a:rPr lang="en-US" baseline="-25000" dirty="0" err="1"/>
                  <a:t>Ld</a:t>
                </a:r>
                <a:r>
                  <a:rPr lang="en-US" dirty="0"/>
                  <a:t>(t),  </a:t>
                </a:r>
                <a:r>
                  <a:rPr lang="en-US" dirty="0" err="1"/>
                  <a:t>ω</a:t>
                </a:r>
                <a:r>
                  <a:rPr lang="en-US" baseline="-25000" dirty="0" err="1"/>
                  <a:t>Ld</a:t>
                </a:r>
                <a:r>
                  <a:rPr lang="en-US" dirty="0"/>
                  <a:t>(t)]</a:t>
                </a:r>
                <a:endParaRPr lang="en-US" dirty="0"/>
              </a:p>
              <a:p>
                <a:pPr indent="-457200">
                  <a:buSzPts val="3200"/>
                </a:pPr>
                <a:endParaRPr lang="en-US" sz="2400" dirty="0"/>
              </a:p>
              <a:p>
                <a:pPr indent="-457200">
                  <a:buSzPts val="3200"/>
                </a:pPr>
                <a:r>
                  <a:rPr lang="en-US" sz="2400" dirty="0" smtClean="0"/>
                  <a:t>Did not lead to an improvement</a:t>
                </a:r>
                <a:endParaRPr lang="en-US" dirty="0" smtClean="0"/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6000" y="2013398"/>
                <a:ext cx="11385933" cy="4844602"/>
              </a:xfrm>
              <a:prstGeom prst="rect">
                <a:avLst/>
              </a:prstGeom>
              <a:blipFill rotWithShape="0">
                <a:blip r:embed="rId3"/>
                <a:stretch>
                  <a:fillRect l="-1231" t="-1006" b="-5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70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6000" y="2013398"/>
                <a:ext cx="11385933" cy="4844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buSzPts val="3200"/>
                </a:pPr>
                <a:r>
                  <a:rPr lang="en-US" dirty="0" smtClean="0"/>
                  <a:t>Critic state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 smtClean="0"/>
                  <a:t>58</a:t>
                </a:r>
                <a:endParaRPr lang="en-US" dirty="0" smtClean="0"/>
              </a:p>
              <a:p>
                <a:pPr lvl="1" indent="-457200">
                  <a:buSzPts val="3200"/>
                </a:pPr>
                <a:r>
                  <a:rPr lang="en-US" dirty="0" smtClean="0"/>
                  <a:t>True </a:t>
                </a:r>
                <a:r>
                  <a:rPr lang="en-US" dirty="0"/>
                  <a:t>load state </a:t>
                </a:r>
                <a:r>
                  <a:rPr lang="en-US" dirty="0"/>
                  <a:t>∈ </a:t>
                </a:r>
                <a:r>
                  <a:rPr lang="en-US" dirty="0"/>
                  <a:t>R</a:t>
                </a:r>
                <a:r>
                  <a:rPr lang="en-US" baseline="30000" dirty="0"/>
                  <a:t>18</a:t>
                </a:r>
                <a:r>
                  <a:rPr lang="en-US" dirty="0"/>
                  <a:t> 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</a:t>
                </a:r>
                <a:r>
                  <a:rPr lang="en-US" dirty="0"/>
                  <a:t>			[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L</a:t>
                </a:r>
                <a:r>
                  <a:rPr lang="en-US" dirty="0"/>
                  <a:t>(t</a:t>
                </a:r>
                <a:r>
                  <a:rPr lang="en-US" dirty="0"/>
                  <a:t>), </a:t>
                </a:r>
                <a:r>
                  <a:rPr lang="en-US" dirty="0"/>
                  <a:t>R</a:t>
                </a:r>
                <a:r>
                  <a:rPr lang="en-US" baseline="-25000" dirty="0"/>
                  <a:t>L</a:t>
                </a:r>
                <a:r>
                  <a:rPr lang="en-US" dirty="0"/>
                  <a:t>(t</a:t>
                </a:r>
                <a:r>
                  <a:rPr lang="en-US" dirty="0"/>
                  <a:t>),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</m:oMath>
                </a14:m>
                <a:r>
                  <a:rPr lang="en-US" baseline="-25000" dirty="0"/>
                  <a:t>L</a:t>
                </a:r>
                <a:r>
                  <a:rPr lang="en-US" dirty="0"/>
                  <a:t>(t</a:t>
                </a:r>
                <a:r>
                  <a:rPr lang="en-US" dirty="0"/>
                  <a:t>),  </a:t>
                </a:r>
                <a:r>
                  <a:rPr lang="en-US" dirty="0" err="1"/>
                  <a:t>ω</a:t>
                </a:r>
                <a:r>
                  <a:rPr lang="en-US" baseline="-25000" dirty="0" err="1"/>
                  <a:t>L</a:t>
                </a:r>
                <a:r>
                  <a:rPr lang="en-US" dirty="0"/>
                  <a:t>(t)]</a:t>
                </a:r>
                <a:endParaRPr lang="en-US" baseline="-25000" dirty="0"/>
              </a:p>
              <a:p>
                <a:pPr lvl="1" indent="-457200">
                  <a:buSzPts val="3200"/>
                </a:pPr>
                <a:r>
                  <a:rPr lang="en-US" dirty="0"/>
                  <a:t>All carriers’ positions ∈ R</a:t>
                </a:r>
                <a:r>
                  <a:rPr lang="en-US" baseline="30000" dirty="0"/>
                  <a:t>12</a:t>
                </a:r>
                <a:r>
                  <a:rPr lang="en-US" dirty="0"/>
                  <a:t> </a:t>
                </a:r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 [p</a:t>
                </a:r>
                <a:r>
                  <a:rPr lang="en-US" baseline="-25000" dirty="0"/>
                  <a:t>R1</a:t>
                </a:r>
                <a:r>
                  <a:rPr lang="en-US" dirty="0"/>
                  <a:t>(t), p</a:t>
                </a:r>
                <a:r>
                  <a:rPr lang="en-US" baseline="-25000" dirty="0"/>
                  <a:t>R2</a:t>
                </a:r>
                <a:r>
                  <a:rPr lang="en-US" dirty="0"/>
                  <a:t>(t), p</a:t>
                </a:r>
                <a:r>
                  <a:rPr lang="en-US" baseline="-25000" dirty="0"/>
                  <a:t>R3</a:t>
                </a:r>
                <a:r>
                  <a:rPr lang="en-US" dirty="0"/>
                  <a:t>(t), p</a:t>
                </a:r>
                <a:r>
                  <a:rPr lang="en-US" baseline="-25000" dirty="0"/>
                  <a:t>R4</a:t>
                </a:r>
                <a:r>
                  <a:rPr lang="en-US" dirty="0"/>
                  <a:t>(t</a:t>
                </a:r>
                <a:r>
                  <a:rPr lang="en-US" dirty="0" smtClean="0"/>
                  <a:t>)]</a:t>
                </a:r>
              </a:p>
              <a:p>
                <a:pPr lvl="1" indent="-457200">
                  <a:buSzPts val="3200"/>
                </a:pPr>
                <a:r>
                  <a:rPr lang="en-US" dirty="0"/>
                  <a:t>All carriers’ velocities </a:t>
                </a:r>
                <a:r>
                  <a:rPr lang="en-US" dirty="0"/>
                  <a:t>∈ </a:t>
                </a:r>
                <a:r>
                  <a:rPr lang="en-US" dirty="0"/>
                  <a:t>R</a:t>
                </a:r>
                <a:r>
                  <a:rPr lang="en-US" baseline="30000" dirty="0"/>
                  <a:t>12</a:t>
                </a:r>
                <a:r>
                  <a:rPr lang="en-US" dirty="0"/>
                  <a:t> </a:t>
                </a:r>
                <a:endParaRPr lang="en-US" dirty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</a:t>
                </a:r>
                <a:r>
                  <a:rPr lang="en-US" dirty="0"/>
                  <a:t> 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  <m:r>
                      <m:rPr>
                        <m:nor/>
                      </m:rPr>
                      <a:rPr lang="en-US" baseline="-25000"/>
                      <m:t>1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/>
                  <a:t>),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  <m:r>
                      <m:rPr>
                        <m:nor/>
                      </m:rPr>
                      <a:rPr lang="en-US" baseline="-25000"/>
                      <m:t>2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/>
                  <a:t>),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  <m:r>
                      <m:rPr>
                        <m:nor/>
                      </m:rPr>
                      <a:rPr lang="en-US" baseline="-25000"/>
                      <m:t>3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/>
                  <a:t>),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̇</m:t>
                    </m:r>
                    <m:r>
                      <m:rPr>
                        <m:nor/>
                      </m:rPr>
                      <a:rPr lang="en-US" baseline="-25000"/>
                      <m:t>R</m:t>
                    </m:r>
                    <m:r>
                      <m:rPr>
                        <m:nor/>
                      </m:rPr>
                      <a:rPr lang="en-US" baseline="-25000"/>
                      <m:t>4</m:t>
                    </m:r>
                  </m:oMath>
                </a14:m>
                <a:r>
                  <a:rPr lang="en-US" dirty="0"/>
                  <a:t>(t</a:t>
                </a:r>
                <a:r>
                  <a:rPr lang="en-US" dirty="0" smtClean="0"/>
                  <a:t>)]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Expert-generated carrier position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 smtClean="0"/>
                  <a:t>12</a:t>
                </a:r>
                <a:r>
                  <a:rPr lang="en-US" dirty="0" smtClean="0"/>
                  <a:t> </a:t>
                </a:r>
                <a:endParaRPr lang="en-US" dirty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			</a:t>
                </a:r>
                <a:r>
                  <a:rPr lang="en-US" dirty="0"/>
                  <a:t>[</a:t>
                </a:r>
                <a:r>
                  <a:rPr lang="en-US" dirty="0" smtClean="0"/>
                  <a:t>p</a:t>
                </a:r>
                <a:r>
                  <a:rPr lang="en-US" baseline="-25000" dirty="0" smtClean="0"/>
                  <a:t>Re1</a:t>
                </a:r>
                <a:r>
                  <a:rPr lang="en-US" dirty="0" smtClean="0"/>
                  <a:t>(t</a:t>
                </a:r>
                <a:r>
                  <a:rPr lang="en-US" dirty="0"/>
                  <a:t>), </a:t>
                </a:r>
                <a:r>
                  <a:rPr lang="en-US" dirty="0" smtClean="0"/>
                  <a:t>p</a:t>
                </a:r>
                <a:r>
                  <a:rPr lang="en-US" baseline="-25000" dirty="0" smtClean="0"/>
                  <a:t>Re2</a:t>
                </a:r>
                <a:r>
                  <a:rPr lang="en-US" dirty="0" smtClean="0"/>
                  <a:t>(t</a:t>
                </a:r>
                <a:r>
                  <a:rPr lang="en-US" dirty="0"/>
                  <a:t>), </a:t>
                </a:r>
                <a:r>
                  <a:rPr lang="en-US" dirty="0" smtClean="0"/>
                  <a:t>p</a:t>
                </a:r>
                <a:r>
                  <a:rPr lang="en-US" baseline="-25000" dirty="0" smtClean="0"/>
                  <a:t>Re3</a:t>
                </a:r>
                <a:r>
                  <a:rPr lang="en-US" dirty="0" smtClean="0"/>
                  <a:t>(t</a:t>
                </a:r>
                <a:r>
                  <a:rPr lang="en-US" dirty="0"/>
                  <a:t>), </a:t>
                </a:r>
                <a:r>
                  <a:rPr lang="en-US" dirty="0" smtClean="0"/>
                  <a:t>p</a:t>
                </a:r>
                <a:r>
                  <a:rPr lang="en-US" baseline="-25000" dirty="0" smtClean="0"/>
                  <a:t>Re4</a:t>
                </a:r>
                <a:r>
                  <a:rPr lang="en-US" dirty="0" smtClean="0"/>
                  <a:t>(t</a:t>
                </a:r>
                <a:r>
                  <a:rPr lang="en-US" dirty="0"/>
                  <a:t>)]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Delay of each carrier load measurement </a:t>
                </a:r>
                <a:r>
                  <a:rPr lang="en-US" dirty="0"/>
                  <a:t>∈ </a:t>
                </a:r>
                <a:r>
                  <a:rPr lang="en-US" dirty="0" smtClean="0"/>
                  <a:t>R</a:t>
                </a:r>
                <a:r>
                  <a:rPr lang="en-US" baseline="30000" dirty="0"/>
                  <a:t>4</a:t>
                </a:r>
                <a:endParaRPr lang="en-US" dirty="0" smtClean="0"/>
              </a:p>
              <a:p>
                <a:pPr marL="457200" lvl="1" indent="0">
                  <a:buSzPts val="3200"/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[d</a:t>
                </a:r>
                <a:r>
                  <a:rPr lang="en-US" baseline="-25000" dirty="0" smtClean="0"/>
                  <a:t>1</a:t>
                </a:r>
                <a:r>
                  <a:rPr lang="en-US" dirty="0" smtClean="0"/>
                  <a:t>,d</a:t>
                </a:r>
                <a:r>
                  <a:rPr lang="en-US" baseline="-25000" dirty="0" smtClean="0"/>
                  <a:t>2</a:t>
                </a:r>
                <a:r>
                  <a:rPr lang="en-US" dirty="0" smtClean="0"/>
                  <a:t>,d</a:t>
                </a:r>
                <a:r>
                  <a:rPr lang="en-US" baseline="-25000" dirty="0" smtClean="0"/>
                  <a:t>3</a:t>
                </a:r>
                <a:r>
                  <a:rPr lang="en-US" dirty="0" smtClean="0"/>
                  <a:t>,d</a:t>
                </a:r>
                <a:r>
                  <a:rPr lang="en-US" baseline="-25000" dirty="0" smtClean="0"/>
                  <a:t>4</a:t>
                </a:r>
                <a:r>
                  <a:rPr lang="en-US" dirty="0" smtClean="0"/>
                  <a:t>]</a:t>
                </a:r>
                <a:endParaRPr lang="en-US" dirty="0"/>
              </a:p>
              <a:p>
                <a:pPr marL="457200" lvl="1" indent="0">
                  <a:buSzPts val="3200"/>
                  <a:buNone/>
                </a:pPr>
                <a:endParaRPr lang="en-US" dirty="0">
                  <a:effectLst/>
                </a:endParaRPr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6000" y="2013398"/>
                <a:ext cx="11385933" cy="4844602"/>
              </a:xfrm>
              <a:prstGeom prst="rect">
                <a:avLst/>
              </a:prstGeom>
              <a:blipFill rotWithShape="0">
                <a:blip r:embed="rId3"/>
                <a:stretch>
                  <a:fillRect l="-1231" t="-1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34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6000" y="2013398"/>
                <a:ext cx="11385933" cy="48446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buSzPts val="3200"/>
                </a:pPr>
                <a:r>
                  <a:rPr lang="en-US" dirty="0" smtClean="0"/>
                  <a:t>Reward function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Design Methodology: Start simple and add terms by observing failure modes</a:t>
                </a:r>
              </a:p>
              <a:p>
                <a:pPr lvl="1" indent="-457200">
                  <a:buSzPts val="3200"/>
                </a:pPr>
                <a:r>
                  <a:rPr lang="en-US" dirty="0"/>
                  <a:t>Per drone reward is:</a:t>
                </a:r>
              </a:p>
              <a:p>
                <a:pPr lvl="1" indent="-457200">
                  <a:buSzPts val="3200"/>
                </a:pPr>
                <a:endParaRPr lang="en-US" dirty="0"/>
              </a:p>
              <a:p>
                <a:pPr marL="457200" lvl="1" indent="0">
                  <a:buSzPts val="3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𝑚𝑎𝑛𝑖𝑓𝑜𝑙𝑑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𝑠𝑡𝑎𝑙𝑙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𝑠𝑡𝑎𝑙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𝑜𝑣𝑒𝑟𝑠𝑝𝑒𝑒𝑑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𝑜𝑣𝑒𝑟𝑠𝑝𝑒𝑒</m:t>
                          </m:r>
                          <m:sSubSup>
                            <m:sSub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𝑜𝑣𝑒𝑟𝑠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𝑜𝑜𝑡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𝑜𝑣𝑒𝑟𝑠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𝑜𝑜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1" indent="-457200">
                  <a:buSzPts val="3200"/>
                </a:pPr>
                <a:endParaRPr lang="en-US" dirty="0" smtClean="0"/>
              </a:p>
              <a:p>
                <a:pPr lvl="1" indent="-457200">
                  <a:buSzPts val="3200"/>
                </a:pPr>
                <a:r>
                  <a:rPr lang="en-US" dirty="0" smtClean="0"/>
                  <a:t>Team reward:</a:t>
                </a:r>
              </a:p>
              <a:p>
                <a:pPr lvl="1" indent="-457200">
                  <a:buSzPts val="3200"/>
                </a:pPr>
                <a:endParaRPr lang="en-US" dirty="0" smtClean="0"/>
              </a:p>
              <a:p>
                <a:pPr marL="508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/>
                          </m:ctrlPr>
                        </m:sSubPr>
                        <m:e>
                          <m:r>
                            <a:rPr lang="en-US" sz="2000" i="1"/>
                            <m:t>𝑅</m:t>
                          </m:r>
                        </m:e>
                        <m:sub>
                          <m:r>
                            <a:rPr lang="en-US" sz="2000" i="1"/>
                            <m:t>𝑡𝑒𝑎𝑚</m:t>
                          </m:r>
                        </m:sub>
                      </m:sSub>
                      <m:r>
                        <a:rPr lang="en-US" sz="2000" i="1"/>
                        <m:t>= </m:t>
                      </m:r>
                      <m:nary>
                        <m:naryPr>
                          <m:chr m:val="∑"/>
                          <m:ctrlPr>
                            <a:rPr lang="en-US" sz="2000" i="1"/>
                          </m:ctrlPr>
                        </m:naryPr>
                        <m:sub>
                          <m:r>
                            <a:rPr lang="en-US" sz="2000" i="1"/>
                            <m:t>𝑖</m:t>
                          </m:r>
                          <m:r>
                            <a:rPr lang="en-US" sz="2000" i="1"/>
                            <m:t>=</m:t>
                          </m:r>
                          <m:r>
                            <a:rPr lang="en-US" sz="2000" i="1"/>
                            <m:t>1</m:t>
                          </m:r>
                        </m:sub>
                        <m:sup>
                          <m:r>
                            <a:rPr lang="en-US" sz="2000" i="1"/>
                            <m:t>𝑁</m:t>
                          </m:r>
                        </m:sup>
                        <m:e>
                          <m:r>
                            <a:rPr lang="en-US" sz="2000" i="1"/>
                            <m:t>𝑟𝑖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6000" y="2013398"/>
                <a:ext cx="11385933" cy="4844602"/>
              </a:xfrm>
              <a:prstGeom prst="rect">
                <a:avLst/>
              </a:prstGeom>
              <a:blipFill rotWithShape="0">
                <a:blip r:embed="rId3"/>
                <a:stretch>
                  <a:fillRect l="-1231" t="-1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21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6000" y="1886938"/>
                <a:ext cx="11385933" cy="4971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buSzPts val="3200"/>
                </a:pPr>
                <a:r>
                  <a:rPr lang="en-US" sz="1800" dirty="0" smtClean="0"/>
                  <a:t>Reward function terms breakdown:</a:t>
                </a:r>
                <a:endParaRPr lang="en-US" sz="800" dirty="0"/>
              </a:p>
              <a:p>
                <a:pPr marL="457200" lvl="1" indent="0">
                  <a:buSzPts val="3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𝑚𝑎𝑛𝑖𝑓𝑜𝑙𝑑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𝑠𝑡𝑎𝑙𝑙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𝑠𝑡𝑎𝑙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𝑜𝑣𝑒𝑟𝑠𝑝𝑒𝑒𝑑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𝑜𝑣𝑒𝑟𝑠𝑝𝑒𝑒</m:t>
                          </m:r>
                          <m:sSubSup>
                            <m:sSubSup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𝑜𝑣𝑒𝑟𝑠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𝑜𝑜𝑡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𝑜𝑣𝑒𝑟𝑠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𝑜𝑜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r>
                  <a:rPr lang="en-US" sz="1400" b="1" dirty="0" smtClean="0">
                    <a:solidFill>
                      <a:srgbClr val="C00000"/>
                    </a:solidFill>
                    <a:latin typeface="Calibri"/>
                  </a:rPr>
                  <a:t>Truncation </a:t>
                </a:r>
                <a:r>
                  <a:rPr lang="en-US" sz="1400" b="1" dirty="0">
                    <a:solidFill>
                      <a:srgbClr val="C00000"/>
                    </a:solidFill>
                    <a:latin typeface="Calibri"/>
                  </a:rPr>
                  <a:t>Condition: </a:t>
                </a:r>
                <a:r>
                  <a:rPr lang="en-US" sz="1400" dirty="0">
                    <a:solidFill>
                      <a:srgbClr val="262626"/>
                    </a:solidFill>
                    <a:latin typeface="Calibri"/>
                  </a:rPr>
                  <a:t>A one-shot penalty of −100 is triggered on a guard-truncated step if speed exceeds </a:t>
                </a:r>
                <a:r>
                  <a:rPr lang="en-US" sz="1400" dirty="0" err="1" smtClean="0">
                    <a:solidFill>
                      <a:srgbClr val="262626"/>
                    </a:solidFill>
                    <a:latin typeface="Calibri"/>
                  </a:rPr>
                  <a:t>v</a:t>
                </a:r>
                <a:r>
                  <a:rPr lang="en-US" sz="1400" baseline="-25000" dirty="0" err="1" smtClean="0">
                    <a:solidFill>
                      <a:srgbClr val="262626"/>
                    </a:solidFill>
                    <a:latin typeface="Calibri"/>
                  </a:rPr>
                  <a:t>blowup</a:t>
                </a:r>
                <a:r>
                  <a:rPr lang="en-US" sz="1400" dirty="0" smtClean="0">
                    <a:solidFill>
                      <a:srgbClr val="262626"/>
                    </a:solidFill>
                    <a:latin typeface="Calibri"/>
                  </a:rPr>
                  <a:t> </a:t>
                </a:r>
                <a:r>
                  <a:rPr lang="en-US" sz="1400" dirty="0">
                    <a:solidFill>
                      <a:srgbClr val="262626"/>
                    </a:solidFill>
                    <a:latin typeface="Calibri"/>
                  </a:rPr>
                  <a:t>= 100</a:t>
                </a:r>
                <a:r>
                  <a:rPr lang="en-US" sz="1400" dirty="0" smtClean="0">
                    <a:solidFill>
                      <a:srgbClr val="262626"/>
                    </a:solidFill>
                    <a:latin typeface="Calibri"/>
                  </a:rPr>
                  <a:t>.</a:t>
                </a:r>
                <a:endParaRPr lang="en-US" sz="1800" dirty="0" smtClean="0">
                  <a:solidFill>
                    <a:srgbClr val="000000"/>
                  </a:solidFill>
                </a:endParaRPr>
              </a:p>
              <a:p>
                <a:pPr marL="457200" lvl="1" indent="0">
                  <a:buSzPts val="3200"/>
                  <a:buNone/>
                </a:pPr>
                <a:endParaRPr lang="en-US" sz="1800" dirty="0" smtClean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6000" y="1886938"/>
                <a:ext cx="11385933" cy="4971062"/>
              </a:xfrm>
              <a:prstGeom prst="rect">
                <a:avLst/>
              </a:prstGeom>
              <a:blipFill rotWithShape="0">
                <a:blip r:embed="rId3"/>
                <a:stretch>
                  <a:fillRect l="-1231" t="-24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2202707"/>
                  </p:ext>
                </p:extLst>
              </p:nvPr>
            </p:nvGraphicFramePr>
            <p:xfrm>
              <a:off x="673154" y="2759413"/>
              <a:ext cx="10728655" cy="35441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86000"/>
                    <a:gridCol w="4572000"/>
                    <a:gridCol w="3870655"/>
                  </a:tblGrid>
                  <a:tr h="369651"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sz="1400" dirty="0">
                              <a:solidFill>
                                <a:schemeClr val="tx1"/>
                              </a:solidFill>
                            </a:rPr>
                            <a:t>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sz="1400" dirty="0">
                              <a:solidFill>
                                <a:schemeClr val="tx1"/>
                              </a:solidFill>
                            </a:rPr>
                            <a:t>Expression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>
                              <a:solidFill>
                                <a:schemeClr val="tx1"/>
                              </a:solidFill>
                            </a:rPr>
                            <a:t>Role</a:t>
                          </a:r>
                        </a:p>
                      </a:txBody>
                      <a:tcPr/>
                    </a:tc>
                  </a:tr>
                  <a:tr h="379379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manifold (</a:t>
                          </a:r>
                          <a:r>
                            <a:rPr sz="1400" dirty="0" smtClean="0"/>
                            <a:t>d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sz="1400" baseline="30000" dirty="0" smtClean="0"/>
                            <a:t>2</a:t>
                          </a:r>
                          <a:r>
                            <a:rPr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‖</a:t>
                          </a:r>
                          <a:r>
                            <a:rPr sz="1400" dirty="0" err="1" smtClean="0"/>
                            <a:t>p</a:t>
                          </a:r>
                          <a:r>
                            <a:rPr sz="1400" baseline="-25000" dirty="0" err="1" smtClean="0"/>
                            <a:t>expert,i</a:t>
                          </a:r>
                          <a:r>
                            <a:rPr sz="1400" dirty="0" smtClean="0"/>
                            <a:t>(t</a:t>
                          </a:r>
                          <a:r>
                            <a:rPr sz="1400" dirty="0"/>
                            <a:t>) − </a:t>
                          </a:r>
                          <a:r>
                            <a:rPr sz="1400" dirty="0" smtClean="0"/>
                            <a:t>p</a:t>
                          </a:r>
                          <a:r>
                            <a:rPr sz="1400" baseline="-25000" dirty="0" smtClean="0"/>
                            <a:t>i</a:t>
                          </a:r>
                          <a:r>
                            <a:rPr lang="en-US" sz="1400" baseline="0" dirty="0" smtClean="0"/>
                            <a:t>(t)</a:t>
                          </a:r>
                          <a:r>
                            <a:rPr sz="1400" dirty="0" smtClean="0"/>
                            <a:t>‖²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Stay on the expert loiter </a:t>
                          </a:r>
                          <a:r>
                            <a:rPr sz="1400" dirty="0" smtClean="0"/>
                            <a:t>loop</a:t>
                          </a:r>
                          <a:r>
                            <a:rPr lang="en-US" sz="1400" dirty="0" smtClean="0"/>
                            <a:t>. The goal</a:t>
                          </a:r>
                          <a:r>
                            <a:rPr lang="en-US" sz="1400" baseline="0" dirty="0" smtClean="0"/>
                            <a:t> is not to follow it exactly, but to learn the underlying orbiting behavior in general.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544749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err="1" smtClean="0"/>
                            <a:t>stall</a:t>
                          </a:r>
                          <a:r>
                            <a:rPr lang="en-US" sz="1400" i="1" baseline="-25000" dirty="0" err="1" smtClean="0"/>
                            <a:t>i</a:t>
                          </a:r>
                          <a:endParaRPr sz="1400" i="1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Graced hinge below cruise floor: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d² + 1.0 · d, where d = max(0, (ε + margin) − ‖</a:t>
                          </a:r>
                          <a:r>
                            <a:rPr sz="1400" dirty="0" smtClean="0"/>
                            <a:t>v</a:t>
                          </a:r>
                          <a:r>
                            <a:rPr sz="1400" baseline="-25000" dirty="0" smtClean="0"/>
                            <a:t>i</a:t>
                          </a:r>
                          <a:r>
                            <a:rPr sz="1400" dirty="0" smtClean="0"/>
                            <a:t>‖)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Fixed-wing stall floor (prevents airspeed drop)</a:t>
                          </a:r>
                        </a:p>
                      </a:txBody>
                      <a:tcPr/>
                    </a:tc>
                  </a:tr>
                  <a:tr h="379379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load </a:t>
                          </a:r>
                          <a:r>
                            <a:rPr sz="1400" dirty="0" smtClean="0"/>
                            <a:t>track</a:t>
                          </a:r>
                          <a:r>
                            <a:rPr lang="en-US" sz="1400" dirty="0" smtClean="0"/>
                            <a:t>ing</a:t>
                          </a:r>
                          <a:r>
                            <a:rPr lang="en-US" sz="140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‖</a:t>
                          </a:r>
                          <a:r>
                            <a:rPr sz="1400" dirty="0" smtClean="0"/>
                            <a:t>e</a:t>
                          </a:r>
                          <a:r>
                            <a:rPr lang="en-US" sz="1400" baseline="-25000" dirty="0" smtClean="0"/>
                            <a:t>L</a:t>
                          </a:r>
                          <a:r>
                            <a:rPr sz="1400" dirty="0" smtClean="0"/>
                            <a:t>‖²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Keep the load on </a:t>
                          </a:r>
                          <a:r>
                            <a:rPr sz="1400" dirty="0" smtClean="0"/>
                            <a:t>reference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573931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smtClean="0"/>
                            <a:t>overspeed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lang="en-US" sz="1400" baseline="30000" dirty="0" smtClean="0"/>
                            <a:t>2</a:t>
                          </a:r>
                          <a:endParaRPr sz="14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smtClean="0"/>
                            <a:t>min(over² </a:t>
                          </a:r>
                          <a:r>
                            <a:rPr sz="1400" dirty="0"/>
                            <a:t>+ 2 · over, 75</a:t>
                          </a:r>
                          <a:r>
                            <a:rPr sz="1400" dirty="0" smtClean="0"/>
                            <a:t>)</a:t>
                          </a:r>
                          <a:endParaRPr lang="en-US" sz="1400" dirty="0" smtClean="0"/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where over = max(0.0, v</a:t>
                          </a:r>
                          <a:r>
                            <a:rPr lang="en-US" sz="1400" baseline="-25000" dirty="0" smtClean="0"/>
                            <a:t>i </a:t>
                          </a:r>
                          <a:r>
                            <a:rPr lang="en-US" sz="1400" dirty="0" smtClean="0"/>
                            <a:t>− </a:t>
                          </a:r>
                          <a:r>
                            <a:rPr lang="en-US" sz="1400" dirty="0" err="1" smtClean="0"/>
                            <a:t>overspeed_v</a:t>
                          </a:r>
                          <a:r>
                            <a:rPr lang="en-US" sz="1400" dirty="0" smtClean="0"/>
                            <a:t>)</a:t>
                          </a:r>
                          <a:endParaRPr 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Prevent carrier from speeding up unnecessarily.</a:t>
                          </a:r>
                          <a:r>
                            <a:rPr lang="en-US" sz="1400" baseline="0" dirty="0" smtClean="0"/>
                            <a:t> </a:t>
                          </a:r>
                          <a:r>
                            <a:rPr lang="en-US" sz="1400" dirty="0" smtClean="0"/>
                            <a:t>B</a:t>
                          </a:r>
                          <a:r>
                            <a:rPr sz="1400" dirty="0" smtClean="0"/>
                            <a:t>lowup guardrail</a:t>
                          </a:r>
                          <a:r>
                            <a:rPr lang="en-US" sz="1400" dirty="0" smtClean="0"/>
                            <a:t>.</a:t>
                          </a:r>
                          <a:r>
                            <a:rPr lang="en-US" sz="1400" baseline="0" dirty="0" smtClean="0"/>
                            <a:t> 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562258">
                    <a:tc>
                      <a:txBody>
                        <a:bodyPr/>
                        <a:lstStyle/>
                        <a:p>
                          <a:pPr rtl="0"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err="1" smtClean="0"/>
                            <a:t>overshoot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endParaRPr sz="1400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min(over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lang="en-US" sz="1400" dirty="0" smtClean="0"/>
                            <a:t>² + 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,9)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where 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= max(0, sat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− 1)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and sat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= ‖</a:t>
                          </a:r>
                          <a:r>
                            <a:rPr lang="el-GR" sz="1400" u="none" dirty="0" smtClean="0"/>
                            <a:t>δ</a:t>
                          </a:r>
                          <a:r>
                            <a:rPr lang="el-GR" sz="1400" dirty="0" smtClean="0"/>
                            <a:t>λ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dirty="0" smtClean="0"/>
                            <a:t>‖₂ / (</a:t>
                          </a:r>
                          <a:r>
                            <a:rPr lang="el-GR" sz="1400" dirty="0" smtClean="0"/>
                            <a:t>κ</a:t>
                          </a:r>
                          <a:r>
                            <a:rPr lang="el-GR" sz="1400" baseline="-25000" dirty="0" smtClean="0"/>
                            <a:t>λ</a:t>
                          </a:r>
                          <a:r>
                            <a:rPr lang="el-GR" sz="1400" dirty="0" smtClean="0"/>
                            <a:t> · ‖λ</a:t>
                          </a:r>
                          <a:r>
                            <a:rPr lang="en-US" sz="1400" baseline="-25000" dirty="0" err="1" smtClean="0"/>
                            <a:t>i,base</a:t>
                          </a:r>
                          <a:r>
                            <a:rPr lang="en-US" sz="1400" dirty="0" smtClean="0"/>
                            <a:t>‖₂) 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l-GR" sz="1400" dirty="0" smtClean="0"/>
                            <a:t>κ</a:t>
                          </a:r>
                          <a:r>
                            <a:rPr lang="el-GR" sz="1400" baseline="-25000" dirty="0" smtClean="0"/>
                            <a:t>λ</a:t>
                          </a:r>
                          <a:r>
                            <a:rPr lang="en-US" sz="1400" dirty="0" smtClean="0"/>
                            <a:t>:</a:t>
                          </a:r>
                          <a:r>
                            <a:rPr lang="en-US" sz="1400" baseline="0" dirty="0" smtClean="0"/>
                            <a:t> the allowable fraction of the base controller magnitude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Prevents the policy</a:t>
                          </a:r>
                          <a:r>
                            <a:rPr lang="en-US" sz="1400" baseline="0" dirty="0" smtClean="0"/>
                            <a:t> from taking actions above the allowed </a:t>
                          </a:r>
                          <a:r>
                            <a:rPr lang="en-US" sz="1400" baseline="0" dirty="0" smtClean="0"/>
                            <a:t>fraction of the base controller magnitude (dead gradient, no learning). The cap prevents the policy from taking overly aggressive actions.</a:t>
                          </a:r>
                          <a:endParaRPr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2202707"/>
                  </p:ext>
                </p:extLst>
              </p:nvPr>
            </p:nvGraphicFramePr>
            <p:xfrm>
              <a:off x="673154" y="2759413"/>
              <a:ext cx="10728655" cy="35441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86000"/>
                    <a:gridCol w="4572000"/>
                    <a:gridCol w="3870655"/>
                  </a:tblGrid>
                  <a:tr h="369651"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sz="1400" dirty="0">
                              <a:solidFill>
                                <a:schemeClr val="tx1"/>
                              </a:solidFill>
                            </a:rPr>
                            <a:t>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sz="1400" dirty="0">
                              <a:solidFill>
                                <a:schemeClr val="tx1"/>
                              </a:solidFill>
                            </a:rPr>
                            <a:t>Expression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300" b="1">
                              <a:solidFill>
                                <a:srgbClr val="FFFFFF"/>
                              </a:solidFill>
                              <a:latin typeface="Calibri"/>
                            </a:defRPr>
                          </a:pPr>
                          <a:r>
                            <a:rPr dirty="0">
                              <a:solidFill>
                                <a:schemeClr val="tx1"/>
                              </a:solidFill>
                            </a:rPr>
                            <a:t>Role</a:t>
                          </a:r>
                        </a:p>
                      </a:txBody>
                      <a:tcPr/>
                    </a:tc>
                  </a:tr>
                  <a:tr h="731520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manifold (</a:t>
                          </a:r>
                          <a:r>
                            <a:rPr sz="1400" dirty="0" smtClean="0"/>
                            <a:t>d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sz="1400" baseline="30000" dirty="0" smtClean="0"/>
                            <a:t>2</a:t>
                          </a:r>
                          <a:r>
                            <a:rPr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‖</a:t>
                          </a:r>
                          <a:r>
                            <a:rPr sz="1400" dirty="0" err="1" smtClean="0"/>
                            <a:t>p</a:t>
                          </a:r>
                          <a:r>
                            <a:rPr sz="1400" baseline="-25000" dirty="0" err="1" smtClean="0"/>
                            <a:t>expert,i</a:t>
                          </a:r>
                          <a:r>
                            <a:rPr sz="1400" dirty="0" smtClean="0"/>
                            <a:t>(t</a:t>
                          </a:r>
                          <a:r>
                            <a:rPr sz="1400" dirty="0"/>
                            <a:t>) − </a:t>
                          </a:r>
                          <a:r>
                            <a:rPr sz="1400" dirty="0" smtClean="0"/>
                            <a:t>p</a:t>
                          </a:r>
                          <a:r>
                            <a:rPr sz="1400" baseline="-25000" dirty="0" smtClean="0"/>
                            <a:t>i</a:t>
                          </a:r>
                          <a:r>
                            <a:rPr lang="en-US" sz="1400" baseline="0" dirty="0" smtClean="0"/>
                            <a:t>(t)</a:t>
                          </a:r>
                          <a:r>
                            <a:rPr sz="1400" dirty="0" smtClean="0"/>
                            <a:t>‖²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Stay on the expert loiter </a:t>
                          </a:r>
                          <a:r>
                            <a:rPr sz="1400" dirty="0" smtClean="0"/>
                            <a:t>loop</a:t>
                          </a:r>
                          <a:r>
                            <a:rPr lang="en-US" sz="1400" dirty="0" smtClean="0"/>
                            <a:t>. The goal</a:t>
                          </a:r>
                          <a:r>
                            <a:rPr lang="en-US" sz="1400" baseline="0" dirty="0" smtClean="0"/>
                            <a:t> is not to follow it exactly, but to learn the underlying orbiting behavior in general.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544749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err="1" smtClean="0"/>
                            <a:t>stall</a:t>
                          </a:r>
                          <a:r>
                            <a:rPr lang="en-US" sz="1400" i="1" baseline="-25000" dirty="0" err="1" smtClean="0"/>
                            <a:t>i</a:t>
                          </a:r>
                          <a:endParaRPr sz="1400" i="1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Graced hinge below cruise floor: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d² + 1.0 · d, where d = max(0, (ε + margin) − ‖</a:t>
                          </a:r>
                          <a:r>
                            <a:rPr sz="1400" dirty="0" smtClean="0"/>
                            <a:t>v</a:t>
                          </a:r>
                          <a:r>
                            <a:rPr sz="1400" baseline="-25000" dirty="0" smtClean="0"/>
                            <a:t>i</a:t>
                          </a:r>
                          <a:r>
                            <a:rPr sz="1400" dirty="0" smtClean="0"/>
                            <a:t>‖)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Fixed-wing stall floor (prevents airspeed drop)</a:t>
                          </a:r>
                        </a:p>
                      </a:txBody>
                      <a:tcPr/>
                    </a:tc>
                  </a:tr>
                  <a:tr h="3793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67" t="-438710" r="-370133" b="-4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‖</a:t>
                          </a:r>
                          <a:r>
                            <a:rPr sz="1400" dirty="0" smtClean="0"/>
                            <a:t>e</a:t>
                          </a:r>
                          <a:r>
                            <a:rPr lang="en-US" sz="1400" baseline="-25000" dirty="0" smtClean="0"/>
                            <a:t>L</a:t>
                          </a:r>
                          <a:r>
                            <a:rPr sz="1400" dirty="0" smtClean="0"/>
                            <a:t>‖²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/>
                            <a:t>Keep the load on </a:t>
                          </a:r>
                          <a:r>
                            <a:rPr sz="1400" dirty="0" smtClean="0"/>
                            <a:t>reference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573931">
                    <a:tc>
                      <a:txBody>
                        <a:bodyPr/>
                        <a:lstStyle/>
                        <a:p>
                          <a:pPr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smtClean="0"/>
                            <a:t>overspeed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lang="en-US" sz="1400" baseline="30000" dirty="0" smtClean="0"/>
                            <a:t>2</a:t>
                          </a:r>
                          <a:endParaRPr sz="14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smtClean="0"/>
                            <a:t>min(over² </a:t>
                          </a:r>
                          <a:r>
                            <a:rPr sz="1400" dirty="0"/>
                            <a:t>+ 2 · over, 75</a:t>
                          </a:r>
                          <a:r>
                            <a:rPr sz="1400" dirty="0" smtClean="0"/>
                            <a:t>)</a:t>
                          </a:r>
                          <a:endParaRPr lang="en-US" sz="1400" dirty="0" smtClean="0"/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where over = max(0.0, v</a:t>
                          </a:r>
                          <a:r>
                            <a:rPr lang="en-US" sz="1400" baseline="-25000" dirty="0" smtClean="0"/>
                            <a:t>i </a:t>
                          </a:r>
                          <a:r>
                            <a:rPr lang="en-US" sz="1400" dirty="0" smtClean="0"/>
                            <a:t>− </a:t>
                          </a:r>
                          <a:r>
                            <a:rPr lang="en-US" sz="1400" dirty="0" err="1" smtClean="0"/>
                            <a:t>overspeed_v</a:t>
                          </a:r>
                          <a:r>
                            <a:rPr lang="en-US" sz="1400" dirty="0" smtClean="0"/>
                            <a:t>)</a:t>
                          </a:r>
                          <a:endParaRPr lang="en-US" sz="14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Prevent carrier from speeding up unnecessarily.</a:t>
                          </a:r>
                          <a:r>
                            <a:rPr lang="en-US" sz="1400" baseline="0" dirty="0" smtClean="0"/>
                            <a:t> </a:t>
                          </a:r>
                          <a:r>
                            <a:rPr lang="en-US" sz="1400" dirty="0" smtClean="0"/>
                            <a:t>B</a:t>
                          </a:r>
                          <a:r>
                            <a:rPr sz="1400" dirty="0" smtClean="0"/>
                            <a:t>lowup guardrail</a:t>
                          </a:r>
                          <a:r>
                            <a:rPr lang="en-US" sz="1400" dirty="0" smtClean="0"/>
                            <a:t>.</a:t>
                          </a:r>
                          <a:r>
                            <a:rPr lang="en-US" sz="1400" baseline="0" dirty="0" smtClean="0"/>
                            <a:t> </a:t>
                          </a:r>
                          <a:endParaRPr sz="1400" dirty="0"/>
                        </a:p>
                      </a:txBody>
                      <a:tcPr/>
                    </a:tc>
                  </a:tr>
                  <a:tr h="944880">
                    <a:tc>
                      <a:txBody>
                        <a:bodyPr/>
                        <a:lstStyle/>
                        <a:p>
                          <a:pPr rtl="0">
                            <a:defRPr sz="1100" b="1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sz="1400" dirty="0" err="1" smtClean="0"/>
                            <a:t>overshoot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endParaRPr sz="1400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min(over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smtClean="0"/>
                            <a:t>i</a:t>
                          </a:r>
                          <a:r>
                            <a:rPr lang="en-US" sz="1400" dirty="0" smtClean="0"/>
                            <a:t>² + 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,9)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where over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= max(0, sat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− 1)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and sat</a:t>
                          </a:r>
                          <a:r>
                            <a:rPr lang="el-GR" sz="1400" baseline="-25000" dirty="0" smtClean="0"/>
                            <a:t>λ,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baseline="-25000" dirty="0" smtClean="0"/>
                            <a:t> </a:t>
                          </a:r>
                          <a:r>
                            <a:rPr lang="en-US" sz="1400" dirty="0" smtClean="0"/>
                            <a:t>= ‖</a:t>
                          </a:r>
                          <a:r>
                            <a:rPr lang="el-GR" sz="1400" u="none" dirty="0" smtClean="0"/>
                            <a:t>δ</a:t>
                          </a:r>
                          <a:r>
                            <a:rPr lang="el-GR" sz="1400" dirty="0" smtClean="0"/>
                            <a:t>λ</a:t>
                          </a:r>
                          <a:r>
                            <a:rPr lang="en-US" sz="1400" baseline="-25000" dirty="0" err="1" smtClean="0"/>
                            <a:t>i</a:t>
                          </a:r>
                          <a:r>
                            <a:rPr lang="en-US" sz="1400" dirty="0" smtClean="0"/>
                            <a:t>‖₂ / (</a:t>
                          </a:r>
                          <a:r>
                            <a:rPr lang="el-GR" sz="1400" dirty="0" smtClean="0"/>
                            <a:t>κ</a:t>
                          </a:r>
                          <a:r>
                            <a:rPr lang="el-GR" sz="1400" baseline="-25000" dirty="0" smtClean="0"/>
                            <a:t>λ</a:t>
                          </a:r>
                          <a:r>
                            <a:rPr lang="el-GR" sz="1400" dirty="0" smtClean="0"/>
                            <a:t> · ‖λ</a:t>
                          </a:r>
                          <a:r>
                            <a:rPr lang="en-US" sz="1400" baseline="-25000" dirty="0" err="1" smtClean="0"/>
                            <a:t>i,base</a:t>
                          </a:r>
                          <a:r>
                            <a:rPr lang="en-US" sz="1400" dirty="0" smtClean="0"/>
                            <a:t>‖₂) </a:t>
                          </a:r>
                        </a:p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l-GR" sz="1400" dirty="0" smtClean="0"/>
                            <a:t>κ</a:t>
                          </a:r>
                          <a:r>
                            <a:rPr lang="el-GR" sz="1400" baseline="-25000" dirty="0" smtClean="0"/>
                            <a:t>λ</a:t>
                          </a:r>
                          <a:r>
                            <a:rPr lang="en-US" sz="1400" dirty="0" smtClean="0"/>
                            <a:t>:</a:t>
                          </a:r>
                          <a:r>
                            <a:rPr lang="en-US" sz="1400" baseline="0" dirty="0" smtClean="0"/>
                            <a:t> the allowable fraction of the base controller magnitude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sz="1100">
                              <a:solidFill>
                                <a:srgbClr val="262626"/>
                              </a:solidFill>
                              <a:latin typeface="Calibri"/>
                            </a:defRPr>
                          </a:pPr>
                          <a:r>
                            <a:rPr lang="en-US" sz="1400" dirty="0" smtClean="0"/>
                            <a:t>Prevents the policy</a:t>
                          </a:r>
                          <a:r>
                            <a:rPr lang="en-US" sz="1400" baseline="0" dirty="0" smtClean="0"/>
                            <a:t> from taking actions above the allowed </a:t>
                          </a:r>
                          <a:r>
                            <a:rPr lang="en-US" sz="1400" baseline="0" dirty="0" smtClean="0"/>
                            <a:t>fraction of the base controller magnitude (dead gradient, no learning). The cap prevents the policy from taking overly aggressive actions.</a:t>
                          </a:r>
                          <a:endParaRPr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5187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Residual MARL</a:t>
            </a:r>
            <a:r>
              <a:rPr lang="en-US" dirty="0" smtClean="0"/>
              <a:t>: Some Results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949" y="1918142"/>
            <a:ext cx="6404895" cy="48036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8296"/>
            <a:ext cx="5904689" cy="437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8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91" y="1332664"/>
            <a:ext cx="10655030" cy="528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0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17" y="1238350"/>
            <a:ext cx="11327798" cy="56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3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178481"/>
            <a:ext cx="7827533" cy="608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25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660" y="1705749"/>
            <a:ext cx="6104425" cy="45783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47860"/>
            <a:ext cx="6181611" cy="463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7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34" y="1332132"/>
            <a:ext cx="10518843" cy="521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6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37" y="1427332"/>
            <a:ext cx="10946859" cy="543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9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it-IT"/>
              <a:t>Università degli Studi di Padova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18105</TotalTime>
  <Words>718</Words>
  <Application>Microsoft Office PowerPoint</Application>
  <PresentationFormat>Widescreen</PresentationFormat>
  <Paragraphs>141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Tema di Office</vt:lpstr>
      <vt:lpstr>RL Cooperative Transportation using fixed-wings drones</vt:lpstr>
      <vt:lpstr>Residual MARL</vt:lpstr>
      <vt:lpstr>Residual MARL</vt:lpstr>
      <vt:lpstr>Residual MARL</vt:lpstr>
      <vt:lpstr>Residual MARL</vt:lpstr>
      <vt:lpstr>Residual MARL</vt:lpstr>
      <vt:lpstr>Residual MARL</vt:lpstr>
      <vt:lpstr>Residual MARL: Some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Università degli Studi di Padova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Cooperative Transportation using fixed-wings drones</dc:title>
  <dc:creator>Bocchi Giuliano</dc:creator>
  <cp:lastModifiedBy>Microsoft account</cp:lastModifiedBy>
  <cp:revision>107</cp:revision>
  <dcterms:created xsi:type="dcterms:W3CDTF">2022-07-26T10:43:33Z</dcterms:created>
  <dcterms:modified xsi:type="dcterms:W3CDTF">2026-09-02T20:50:54Z</dcterms:modified>
</cp:coreProperties>
</file>