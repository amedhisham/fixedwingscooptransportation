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Calibri"/>
              </a:defRPr>
            </a:pPr>
            <a:r>
              <a:t>Reward Terms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3870655"/>
              </a:tblGrid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Expression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731520">
                <a:tc>
                  <a:txBody>
                    <a:bodyPr wrap="square" tIns="91440" bIns="91440"/>
                    <a:lstStyle/>
                    <a:p>
                      <a:pPr>
                        <a:defRPr sz="1100" b="1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manifold (d2)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‖p_expert,i(t) − p_i‖²</a:t>
                      </a:r>
                    </a:p>
                    <a:p>
                      <a:pPr>
                        <a:defRPr sz="1100" i="1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(time-indexed, phase-correct)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Stay on the expert loiter loop — served by dλ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tIns="91440" bIns="91440"/>
                    <a:lstStyle/>
                    <a:p>
                      <a:pPr>
                        <a:defRPr sz="1100" b="1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stall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Graced hinge below cruise floor:</a:t>
                      </a:r>
                    </a:p>
                    <a:p>
                      <a:pPr>
                        <a:defRPr sz="110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d² + 1.0 · d, where d = max(0, (ε + margin) − ‖v_i‖)</a:t>
                      </a:r>
                    </a:p>
                    <a:p>
                      <a:pPr>
                        <a:defRPr sz="1100" i="1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(first 20 steps skipped)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Fixed-wing stall floor (prevents airspeed drop)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731520">
                <a:tc>
                  <a:txBody>
                    <a:bodyPr wrap="square" tIns="91440" bIns="91440"/>
                    <a:lstStyle/>
                    <a:p>
                      <a:pPr>
                        <a:defRPr sz="1100" b="1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load track (load_err2)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‖e_p‖²</a:t>
                      </a:r>
                    </a:p>
                    <a:p>
                      <a:pPr>
                        <a:defRPr sz="1100" i="1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(load position error, global)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Keep the load on reference — served by dwrench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tIns="91440" bIns="91440"/>
                    <a:lstStyle/>
                    <a:p>
                      <a:pPr>
                        <a:defRPr sz="1100" b="1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overspeed (over2)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Clipped hinge above v_overspeed = 3.0:</a:t>
                      </a:r>
                    </a:p>
                    <a:p>
                      <a:pPr>
                        <a:defRPr sz="110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min(over² + 2 · over, 75)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Shear/blowup guardrail — penalty for load-invisible modes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731520">
                <a:tc>
                  <a:txBody>
                    <a:bodyPr wrap="square" tIns="91440" bIns="91440"/>
                    <a:lstStyle/>
                    <a:p>
                      <a:pPr>
                        <a:defRPr sz="1100" b="1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λ-overshoot (oshoot)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Clipped hinge on sat_λ − 1:</a:t>
                      </a:r>
                    </a:p>
                    <a:p>
                      <a:pPr>
                        <a:defRPr sz="110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min(os² + 1.0 · os, 9), where os = max(0, sat_λ − 1)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  <a:latin typeface="Calibri"/>
                        </a:defRPr>
                      </a:pPr>
                      <a:r>
                        <a:t>Un-freezes the dλ dead-zone (bites only above cap, zero below → full authority is free)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C00000"/>
                </a:solidFill>
                <a:latin typeface="Calibri"/>
              </a:rPr>
              <a:t>Terminal Condition: </a:t>
            </a:r>
            <a:r>
              <a:rPr sz="1100">
                <a:solidFill>
                  <a:srgbClr val="262626"/>
                </a:solidFill>
                <a:latin typeface="Calibri"/>
              </a:rPr>
              <a:t>A one-shot penalty of −100 is triggered on a guard-truncated step if speed exceeds v_blowup = 100.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